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74" r:id="rId4"/>
    <p:sldId id="259" r:id="rId5"/>
    <p:sldId id="260" r:id="rId6"/>
    <p:sldId id="276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71" r:id="rId15"/>
    <p:sldId id="272" r:id="rId16"/>
    <p:sldId id="273" r:id="rId17"/>
    <p:sldId id="267" r:id="rId18"/>
    <p:sldId id="268" r:id="rId19"/>
    <p:sldId id="269" r:id="rId20"/>
    <p:sldId id="270" r:id="rId21"/>
    <p:sldId id="277" r:id="rId22"/>
    <p:sldId id="289" r:id="rId23"/>
    <p:sldId id="278" r:id="rId24"/>
    <p:sldId id="282" r:id="rId25"/>
    <p:sldId id="284" r:id="rId26"/>
    <p:sldId id="288" r:id="rId27"/>
    <p:sldId id="281" r:id="rId28"/>
    <p:sldId id="283" r:id="rId29"/>
    <p:sldId id="285" r:id="rId30"/>
    <p:sldId id="286" r:id="rId31"/>
    <p:sldId id="279" r:id="rId32"/>
    <p:sldId id="280" r:id="rId33"/>
    <p:sldId id="287" r:id="rId3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9D06CB5F-BBF8-C742-853A-EFE3C02E05F7}">
          <p14:sldIdLst>
            <p14:sldId id="256"/>
            <p14:sldId id="257"/>
            <p14:sldId id="274"/>
            <p14:sldId id="259"/>
            <p14:sldId id="260"/>
            <p14:sldId id="276"/>
            <p14:sldId id="258"/>
            <p14:sldId id="261"/>
            <p14:sldId id="262"/>
            <p14:sldId id="263"/>
            <p14:sldId id="264"/>
            <p14:sldId id="265"/>
            <p14:sldId id="266"/>
            <p14:sldId id="271"/>
            <p14:sldId id="272"/>
            <p14:sldId id="273"/>
            <p14:sldId id="267"/>
            <p14:sldId id="268"/>
            <p14:sldId id="269"/>
            <p14:sldId id="270"/>
            <p14:sldId id="277"/>
            <p14:sldId id="289"/>
          </p14:sldIdLst>
        </p14:section>
        <p14:section name="投資與系統策略" id="{73572965-8CD5-A745-8AA0-F49FC2FC0DBE}">
          <p14:sldIdLst>
            <p14:sldId id="278"/>
            <p14:sldId id="282"/>
            <p14:sldId id="284"/>
            <p14:sldId id="288"/>
          </p14:sldIdLst>
        </p14:section>
        <p14:section name="組織與家族治理" id="{BFAC5EDF-08DB-E542-A83B-0A3DBEBC08B1}">
          <p14:sldIdLst>
            <p14:sldId id="281"/>
            <p14:sldId id="283"/>
            <p14:sldId id="285"/>
            <p14:sldId id="286"/>
          </p14:sldIdLst>
        </p14:section>
        <p14:section name="研究驗證與長期成效" id="{A8F8D9FE-3B96-7A4E-8606-AADA7EDFDDB6}">
          <p14:sldIdLst>
            <p14:sldId id="279"/>
            <p14:sldId id="280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53" autoAdjust="0"/>
    <p:restoredTop sz="94609" autoAdjust="0"/>
  </p:normalViewPr>
  <p:slideViewPr>
    <p:cSldViewPr>
      <p:cViewPr varScale="1">
        <p:scale>
          <a:sx n="48" d="100"/>
          <a:sy n="48" d="100"/>
        </p:scale>
        <p:origin x="240" y="1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3B8DD-FA37-B64D-84F9-0CD3E3C48A0E}" type="datetimeFigureOut">
              <a:rPr kumimoji="1" lang="zh-TW" altLang="en-US" smtClean="0"/>
              <a:t>2026/10/30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5EE2A-C225-F54A-B8E1-49E96FCE989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2336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76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83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48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20800" y="1032933"/>
            <a:ext cx="1159272" cy="447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933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933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320800" y="1886347"/>
            <a:ext cx="13851467" cy="617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2133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2133" dirty="0"/>
          </a:p>
        </p:txBody>
      </p:sp>
    </p:spTree>
    <p:extLst>
      <p:ext uri="{BB962C8B-B14F-4D97-AF65-F5344CB8AC3E}">
        <p14:creationId xmlns:p14="http://schemas.microsoft.com/office/powerpoint/2010/main" val="85941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3" y="3491707"/>
            <a:ext cx="1016000" cy="84667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3847307"/>
            <a:ext cx="14511189" cy="10464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rmAutofit/>
          </a:bodyPr>
          <a:lstStyle/>
          <a:p>
            <a:pPr>
              <a:lnSpc>
                <a:spcPts val="7973"/>
              </a:lnSpc>
            </a:pPr>
            <a:r>
              <a:rPr lang="en-US" sz="6933" b="1" dirty="0">
                <a:solidFill>
                  <a:srgbClr val="F5F3EE"/>
                </a:solidFill>
              </a:rPr>
              <a:t>泰能機器轉型</a:t>
            </a:r>
            <a:endParaRPr lang="en-US" sz="6933" dirty="0"/>
          </a:p>
        </p:txBody>
      </p:sp>
      <p:sp>
        <p:nvSpPr>
          <p:cNvPr id="4" name="Text 2"/>
          <p:cNvSpPr/>
          <p:nvPr/>
        </p:nvSpPr>
        <p:spPr>
          <a:xfrm>
            <a:off x="1083734" y="5130800"/>
            <a:ext cx="14511189" cy="55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107"/>
              </a:lnSpc>
            </a:pPr>
            <a:r>
              <a:rPr lang="en-US" sz="2933" dirty="0">
                <a:latin typeface="Arial" pitchFamily="34" charset="0"/>
                <a:ea typeface="Arial" pitchFamily="34" charset="-122"/>
                <a:cs typeface="Arial" pitchFamily="34" charset="-120"/>
              </a:rPr>
              <a:t>各組提問與回答</a:t>
            </a:r>
            <a:endParaRPr lang="en-US" sz="293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4" y="948267"/>
            <a:ext cx="1633405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948267"/>
            <a:ext cx="1633405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第 1 組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0339" y="1090480"/>
            <a:ext cx="1422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69413"/>
            <a:ext cx="14088533" cy="2291027"/>
          </a:xfrm>
          <a:prstGeom prst="roundRect">
            <a:avLst>
              <a:gd name="adj" fmla="val 5913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1742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560240"/>
            <a:ext cx="13674005" cy="1329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若拿掉產能效益，僅保留人工成本 86.4 萬元，扣除 MES 系統費與每年一成維護費後，投資回收期會變多久？此外，個案在沒有後測數據（訂單數或準交率）的情況下稱「精準掌握交期與報價」，此結論屬於實證發現還是推論？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44652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227" y="4885135"/>
            <a:ext cx="14249739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回收期評估：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個案未載明系統總價；若假設為 300 萬元且維護費 10%（30 萬），每年淨效益約 56.4 萬，回收期需 5 年以上。單靠節省抄寫時間的回收期會拉得很長。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性質判定：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屬於推論（預期效益）。因尚未提供上線後的準交率或實際業績統計，是基於新系統具備資料收集能力所做的合理推論。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580288" y="8317707"/>
            <a:ext cx="59197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11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4" y="948267"/>
            <a:ext cx="1633405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948267"/>
            <a:ext cx="1633405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第 6 組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0339" y="1090480"/>
            <a:ext cx="1422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69413"/>
            <a:ext cx="14088533" cy="1427427"/>
          </a:xfrm>
          <a:prstGeom prst="roundRect">
            <a:avLst>
              <a:gd name="adj" fmla="val 9490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1742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560240"/>
            <a:ext cx="13674005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面對成本與交期問題，MES 相較於強化人工管理、擴充既有 ERP 或整合廠房，有何優勢與限制？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36016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227" y="4021535"/>
            <a:ext cx="14249739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優勢：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提高現場資訊的即時性與細緻度。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需承擔 ERP 與 MES 之間的系統整合成本（料號、工單、庫存串接與客製）、員工操作負擔及維護成本。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相較於人工管理（跨廠彙整慢）與整合廠房（無法解決工時不準），應先盤點 ERP 功能缺口，整體評估後再決定擴充 ERP 或導入 MES。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580288" y="8317707"/>
            <a:ext cx="59197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62302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4" y="948267"/>
            <a:ext cx="1633405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948267"/>
            <a:ext cx="1633405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第 8 組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0339" y="1090480"/>
            <a:ext cx="1422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69413"/>
            <a:ext cx="14088533" cy="1427427"/>
          </a:xfrm>
          <a:prstGeom prst="roundRect">
            <a:avLst>
              <a:gd name="adj" fmla="val 9490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1742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560240"/>
            <a:ext cx="13682133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資源有限下，企業應繼續投入 AI 與智慧製造，還是先把既有系統使用率、資料品質與員工接受度做好？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36016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227" y="4021535"/>
            <a:ext cx="14249739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應優先把既有系統的使用與資料品質做好。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與預測分析極度依賴可靠的底層數據，若報工與庫存不準，AI 只會產生誤導。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不依賴內部生產數據的 AI（如文案、翻譯）可先用；生產決策 AI 則應等資料扎實後，針對明確問題小規模試辦，不需全面盲目投入。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580288" y="8317707"/>
            <a:ext cx="59197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75084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4" y="948267"/>
            <a:ext cx="1840573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948267"/>
            <a:ext cx="1840573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第 12 組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27507" y="1090480"/>
            <a:ext cx="1422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69413"/>
            <a:ext cx="14088533" cy="1427427"/>
          </a:xfrm>
          <a:prstGeom prst="roundRect">
            <a:avLst>
              <a:gd name="adj" fmla="val 9490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1742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560240"/>
            <a:ext cx="13674005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假設在無政府補助且無紀董支持下，紀總應如何評估 MES 導入可行性？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36016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227" y="4021535"/>
            <a:ext cx="14249739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評估結果為「有條件可行」，而非立即全面導入。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步驟一：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先量化報價錯誤與工時損失，盤點現有 ERP 能否透過流程調整或客製補足。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步驟二：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評估整體成本（含軟體、串接、設備與人力）。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步驟三：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選定單一製程進行「小規模試辦」，以數據驗證效益並化解反對顧慮，確認有效後再分階段推進。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462734" y="8317707"/>
            <a:ext cx="709533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44747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4" y="948267"/>
            <a:ext cx="1633405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948267"/>
            <a:ext cx="1633405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第 4 組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0339" y="1090480"/>
            <a:ext cx="1422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69413"/>
            <a:ext cx="14088533" cy="1427427"/>
          </a:xfrm>
          <a:prstGeom prst="roundRect">
            <a:avLst>
              <a:gd name="adj" fmla="val 9490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1742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560240"/>
            <a:ext cx="13682133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轉型是董事長支持後家族才一起推動，這是形成共識還是先配合看到成果才認同？對後續變革有何影響？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36016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227" y="4021535"/>
            <a:ext cx="14249739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較接近</a:t>
            </a: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「董事長先支持，成員與員工配合執行，再從成果中逐漸建立認同」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高層推動常增加基層負擔，需要有人排除困難（如紀總改善台車與掃描）。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先配合再認同的模式，更需要持續解決第一線問題並讓大家看見效益，配合才有機會轉化為長期認同，避免表面應付或亂報。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580288" y="8317707"/>
            <a:ext cx="59197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4" y="948267"/>
            <a:ext cx="1633405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948267"/>
            <a:ext cx="1633405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第 7 組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0339" y="1090480"/>
            <a:ext cx="1422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69413"/>
            <a:ext cx="14088533" cy="1427427"/>
          </a:xfrm>
          <a:prstGeom prst="roundRect">
            <a:avLst>
              <a:gd name="adj" fmla="val 9490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1742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560240"/>
            <a:ext cx="13674005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當家族企業決策機制限制轉型速度時，應優先維持家族和諧，還是建立專業經理人的決策授權制度？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36016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227" y="4021535"/>
            <a:ext cx="14249739" cy="121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應建立明確的專業授權制度，但和諧與制度不衝突，和諧應建立在清楚的規則上。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重大投資與方向由家族共同決定，日常生產與預算內支出則應授權負責人。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外聘經理人若家族仍任意介入也難以發揮，可先從現有團隊建立分層授權，明確劃分家族與管理的權責邊界。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580288" y="8317707"/>
            <a:ext cx="59197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3" y="948267"/>
            <a:ext cx="1964267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3" y="948267"/>
            <a:ext cx="1964267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補充問題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51201" y="1090480"/>
            <a:ext cx="3682841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Kotter 變革步驟｜提問與回答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35547"/>
            <a:ext cx="14088533" cy="1291960"/>
          </a:xfrm>
          <a:prstGeom prst="roundRect">
            <a:avLst>
              <a:gd name="adj" fmla="val 10485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0726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458640"/>
            <a:ext cx="13674005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 MES 過程中，如何運用 Kotter 變革八步驟推動組織變革？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33984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55700" y="3822568"/>
            <a:ext cx="3378200" cy="1393560"/>
          </a:xfrm>
          <a:prstGeom prst="roundRect">
            <a:avLst>
              <a:gd name="adj" fmla="val 8202"/>
            </a:avLst>
          </a:prstGeom>
          <a:solidFill>
            <a:srgbClr val="FBFAF7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0" name="Text 8"/>
          <p:cNvSpPr/>
          <p:nvPr/>
        </p:nvSpPr>
        <p:spPr>
          <a:xfrm>
            <a:off x="1363134" y="4013068"/>
            <a:ext cx="3052233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867" b="1" dirty="0">
                <a:solidFill>
                  <a:srgbClr val="1F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建立危機感：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1363134" y="4365228"/>
            <a:ext cx="305223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00"/>
              </a:lnSpc>
            </a:pPr>
            <a:r>
              <a:rPr lang="en-US" sz="1733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提出報價損失 20 萬及交期不明風險。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4677833" y="3822568"/>
            <a:ext cx="3378200" cy="1393560"/>
          </a:xfrm>
          <a:prstGeom prst="roundRect">
            <a:avLst>
              <a:gd name="adj" fmla="val 8202"/>
            </a:avLst>
          </a:prstGeom>
          <a:solidFill>
            <a:srgbClr val="FBFAF7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3" name="Text 11"/>
          <p:cNvSpPr/>
          <p:nvPr/>
        </p:nvSpPr>
        <p:spPr>
          <a:xfrm>
            <a:off x="4885268" y="4013068"/>
            <a:ext cx="3052233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867" b="1" dirty="0">
                <a:solidFill>
                  <a:srgbClr val="1F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建立指導團隊：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4885268" y="4365228"/>
            <a:ext cx="305223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00"/>
              </a:lnSpc>
            </a:pPr>
            <a:r>
              <a:rPr lang="en-US" sz="1733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紀董任精神領袖，納入兩位弟弟與幹部。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8199967" y="3822568"/>
            <a:ext cx="3378200" cy="1393560"/>
          </a:xfrm>
          <a:prstGeom prst="roundRect">
            <a:avLst>
              <a:gd name="adj" fmla="val 8202"/>
            </a:avLst>
          </a:prstGeom>
          <a:solidFill>
            <a:srgbClr val="FBFAF7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6" name="Text 14"/>
          <p:cNvSpPr/>
          <p:nvPr/>
        </p:nvSpPr>
        <p:spPr>
          <a:xfrm>
            <a:off x="8407401" y="4013068"/>
            <a:ext cx="3052233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867" b="1" dirty="0">
                <a:solidFill>
                  <a:srgbClr val="1F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制定願景：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8407401" y="4365228"/>
            <a:ext cx="305223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00"/>
              </a:lnSpc>
            </a:pPr>
            <a:r>
              <a:rPr lang="en-US" sz="1733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轉型為交期準、價格有競爭力的標竿中小企業。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11722100" y="3822568"/>
            <a:ext cx="3378200" cy="1393560"/>
          </a:xfrm>
          <a:prstGeom prst="roundRect">
            <a:avLst>
              <a:gd name="adj" fmla="val 8202"/>
            </a:avLst>
          </a:prstGeom>
          <a:solidFill>
            <a:srgbClr val="FBFAF7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9" name="Text 17"/>
          <p:cNvSpPr/>
          <p:nvPr/>
        </p:nvSpPr>
        <p:spPr>
          <a:xfrm>
            <a:off x="11929534" y="4013068"/>
            <a:ext cx="3052233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867" b="1" dirty="0">
                <a:solidFill>
                  <a:srgbClr val="1F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溝通願景：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11929534" y="4365228"/>
            <a:ext cx="3052233" cy="364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00"/>
              </a:lnSpc>
            </a:pPr>
            <a:r>
              <a:rPr lang="en-US" sz="1733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透過股東會與朝會反覆布達。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1155700" y="5360061"/>
            <a:ext cx="3378200" cy="1393560"/>
          </a:xfrm>
          <a:prstGeom prst="roundRect">
            <a:avLst>
              <a:gd name="adj" fmla="val 8202"/>
            </a:avLst>
          </a:prstGeom>
          <a:solidFill>
            <a:srgbClr val="FBFAF7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2" name="Text 20"/>
          <p:cNvSpPr/>
          <p:nvPr/>
        </p:nvSpPr>
        <p:spPr>
          <a:xfrm>
            <a:off x="1363134" y="5550562"/>
            <a:ext cx="3052233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867" b="1" dirty="0">
                <a:solidFill>
                  <a:srgbClr val="1F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消除阻礙：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1363134" y="5902721"/>
            <a:ext cx="305223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00"/>
              </a:lnSpc>
            </a:pPr>
            <a:r>
              <a:rPr lang="en-US" sz="1733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 QR Code 與台車；爭取補助與廠商維護費半價。</a:t>
            </a:r>
            <a:endParaRPr lang="en-US" sz="1733" dirty="0"/>
          </a:p>
        </p:txBody>
      </p:sp>
      <p:sp>
        <p:nvSpPr>
          <p:cNvPr id="24" name="Shape 22"/>
          <p:cNvSpPr/>
          <p:nvPr/>
        </p:nvSpPr>
        <p:spPr>
          <a:xfrm>
            <a:off x="4677833" y="5360061"/>
            <a:ext cx="3378200" cy="1393560"/>
          </a:xfrm>
          <a:prstGeom prst="roundRect">
            <a:avLst>
              <a:gd name="adj" fmla="val 8202"/>
            </a:avLst>
          </a:prstGeom>
          <a:solidFill>
            <a:srgbClr val="FBFAF7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5" name="Text 23"/>
          <p:cNvSpPr/>
          <p:nvPr/>
        </p:nvSpPr>
        <p:spPr>
          <a:xfrm>
            <a:off x="4885268" y="5550562"/>
            <a:ext cx="3052233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867" b="1" dirty="0">
                <a:solidFill>
                  <a:srgbClr val="1F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創造短期勝利：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4885268" y="5902721"/>
            <a:ext cx="305223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00"/>
              </a:lnSpc>
            </a:pPr>
            <a:r>
              <a:rPr lang="en-US" sz="1733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系統上線獲補助尾款、頒發學習獎金。</a:t>
            </a:r>
            <a:endParaRPr lang="en-US" sz="1733" dirty="0"/>
          </a:p>
        </p:txBody>
      </p:sp>
      <p:sp>
        <p:nvSpPr>
          <p:cNvPr id="27" name="Shape 25"/>
          <p:cNvSpPr/>
          <p:nvPr/>
        </p:nvSpPr>
        <p:spPr>
          <a:xfrm>
            <a:off x="8199967" y="5360061"/>
            <a:ext cx="3378200" cy="1393560"/>
          </a:xfrm>
          <a:prstGeom prst="roundRect">
            <a:avLst>
              <a:gd name="adj" fmla="val 8202"/>
            </a:avLst>
          </a:prstGeom>
          <a:solidFill>
            <a:srgbClr val="FBFAF7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8" name="Text 26"/>
          <p:cNvSpPr/>
          <p:nvPr/>
        </p:nvSpPr>
        <p:spPr>
          <a:xfrm>
            <a:off x="8407401" y="5550562"/>
            <a:ext cx="3052233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867" b="1" dirty="0">
                <a:solidFill>
                  <a:srgbClr val="1F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鞏固成果：</a:t>
            </a:r>
            <a:endParaRPr lang="en-US" sz="1867" dirty="0"/>
          </a:p>
        </p:txBody>
      </p:sp>
      <p:sp>
        <p:nvSpPr>
          <p:cNvPr id="29" name="Text 27"/>
          <p:cNvSpPr/>
          <p:nvPr/>
        </p:nvSpPr>
        <p:spPr>
          <a:xfrm>
            <a:off x="8407401" y="5902721"/>
            <a:ext cx="305223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00"/>
              </a:lnSpc>
            </a:pPr>
            <a:r>
              <a:rPr lang="en-US" sz="1733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應用工時數據進行客觀績效與產能檢討。</a:t>
            </a:r>
            <a:endParaRPr lang="en-US" sz="1733" dirty="0"/>
          </a:p>
        </p:txBody>
      </p:sp>
      <p:sp>
        <p:nvSpPr>
          <p:cNvPr id="30" name="Shape 28"/>
          <p:cNvSpPr/>
          <p:nvPr/>
        </p:nvSpPr>
        <p:spPr>
          <a:xfrm>
            <a:off x="11722100" y="5360061"/>
            <a:ext cx="3378200" cy="1393560"/>
          </a:xfrm>
          <a:prstGeom prst="roundRect">
            <a:avLst>
              <a:gd name="adj" fmla="val 8202"/>
            </a:avLst>
          </a:prstGeom>
          <a:solidFill>
            <a:srgbClr val="FBFAF7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1" name="Text 29"/>
          <p:cNvSpPr/>
          <p:nvPr/>
        </p:nvSpPr>
        <p:spPr>
          <a:xfrm>
            <a:off x="11929534" y="5550562"/>
            <a:ext cx="3052233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867" b="1" dirty="0">
                <a:solidFill>
                  <a:srgbClr val="1F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深植文化：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11929534" y="5902721"/>
            <a:ext cx="305223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00"/>
              </a:lnSpc>
            </a:pPr>
            <a:r>
              <a:rPr lang="en-US" sz="1733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基層習慣數位化作業（如全聯般方便）。</a:t>
            </a:r>
            <a:endParaRPr lang="en-US" sz="1733" dirty="0"/>
          </a:p>
        </p:txBody>
      </p:sp>
      <p:sp>
        <p:nvSpPr>
          <p:cNvPr id="33" name="Text 31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580288" y="8317707"/>
            <a:ext cx="59197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4" y="948267"/>
            <a:ext cx="1840573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948267"/>
            <a:ext cx="1840573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第 10 組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27507" y="1090480"/>
            <a:ext cx="1422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69413"/>
            <a:ext cx="14088533" cy="1427427"/>
          </a:xfrm>
          <a:prstGeom prst="roundRect">
            <a:avLst>
              <a:gd name="adj" fmla="val 9490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1742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560240"/>
            <a:ext cx="13674005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本案成功因素為何？是因為老闆娘聲音小？若無創辦人出面或無政府補助，是否就難以推動？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36016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227" y="4021535"/>
            <a:ext cx="14249739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不能單看聲音大小：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余特助在申請補助、溝通與教育訓練扮演實質推動關鍵。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創辦人提供權威支持：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能減少觀望，但若無紀總改善現場操作困難，權威也無法確保長期落實。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補助是催化劑：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降低成本並說服家族，若無補助可能延後或縮小範圍，未必完全不推。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b="1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成功是三者配合：</a:t>
            </a: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補助降門檻 + 創辦人支持 + 團隊持續解決現場問題。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580288" y="8317707"/>
            <a:ext cx="59197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4" y="948267"/>
            <a:ext cx="1633405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948267"/>
            <a:ext cx="1633405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第 2 組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0339" y="1090480"/>
            <a:ext cx="1422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69413"/>
            <a:ext cx="14088533" cy="1859227"/>
          </a:xfrm>
          <a:prstGeom prst="roundRect">
            <a:avLst>
              <a:gd name="adj" fmla="val 7286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1742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560240"/>
            <a:ext cx="13674005" cy="89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政府補助結束後很多專案就停擺，本案在補助結案後的長期使用交代有限，此時下「轉型成功」的結論是否合適？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40334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227" y="4453335"/>
            <a:ext cx="14249739" cy="121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現階段判定轉型成功確實過早，但對後續發展持樂觀看法。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泰能並非只買系統結案，紀總還親自設計 QR-Code 卡匣與工作台車讓現場容易執行。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轉型已展現初步成果且方向正確，但能否真正可持續，仍取決於補助結束後能否持續收集可靠資料並用於日常管理。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580288" y="8317707"/>
            <a:ext cx="59197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4" y="948267"/>
            <a:ext cx="1633405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948267"/>
            <a:ext cx="1633405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第 3 組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0339" y="1090480"/>
            <a:ext cx="1422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69413"/>
            <a:ext cx="14088533" cy="1859227"/>
          </a:xfrm>
          <a:prstGeom prst="roundRect">
            <a:avLst>
              <a:gd name="adj" fmla="val 7286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1742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560240"/>
            <a:ext cx="13674005" cy="89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論文作者之一為主角紀總經理，容易偏向管理層正面敘述而缺乏客觀第三方批判視角，如何確保資料未受主觀偏誤的選擇性呈現？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40334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227" y="4453335"/>
            <a:ext cx="14249739" cy="121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為避免「球員兼裁判」，確實需要第三方視角進行資料三角驗證（Triangulation）。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實務上依賴彰師大研究團隊把關，並可交叉比對系統後台客觀數據（報工率、異常次數）、政府審查意見及 SI 廠商紀錄來驗證真實性。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580288" y="8317707"/>
            <a:ext cx="59197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734" y="948267"/>
            <a:ext cx="1820069" cy="616347"/>
          </a:xfrm>
          <a:prstGeom prst="roundRect">
            <a:avLst>
              <a:gd name="adj" fmla="val 16484"/>
            </a:avLst>
          </a:prstGeom>
          <a:solidFill>
            <a:srgbClr val="B5541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83734" y="948267"/>
            <a:ext cx="1820069" cy="6163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>
            <a:normAutofit/>
          </a:bodyPr>
          <a:lstStyle/>
          <a:p>
            <a:pPr algn="ctr">
              <a:lnSpc>
                <a:spcPts val="3520"/>
              </a:lnSpc>
            </a:pPr>
            <a:r>
              <a:rPr lang="en-US" b="1" dirty="0">
                <a:solidFill>
                  <a:srgbClr val="FBFAF7"/>
                </a:solidFill>
              </a:rPr>
              <a:t>第 11 組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07003" y="1090480"/>
            <a:ext cx="142240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613"/>
              </a:lnSpc>
            </a:pPr>
            <a:r>
              <a:rPr lang="en-US" sz="1867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提問與回答</a:t>
            </a:r>
            <a:endParaRPr lang="en-US" sz="1867" dirty="0"/>
          </a:p>
        </p:txBody>
      </p:sp>
      <p:sp>
        <p:nvSpPr>
          <p:cNvPr id="5" name="Shape 3"/>
          <p:cNvSpPr/>
          <p:nvPr/>
        </p:nvSpPr>
        <p:spPr>
          <a:xfrm>
            <a:off x="1083734" y="1869413"/>
            <a:ext cx="14088533" cy="1859227"/>
          </a:xfrm>
          <a:prstGeom prst="roundRect">
            <a:avLst>
              <a:gd name="adj" fmla="val 7286"/>
            </a:avLst>
          </a:prstGeom>
          <a:solidFill>
            <a:srgbClr val="1F2D4A"/>
          </a:solidFill>
          <a:ln/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1490134" y="2174214"/>
            <a:ext cx="13674005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0134" y="2560240"/>
            <a:ext cx="13674005" cy="89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400"/>
              </a:lnSpc>
            </a:pPr>
            <a:r>
              <a:rPr lang="en-US" sz="2267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資深員工轉向接受數位工具的過程若採事後訪談，如何避免回溯性偏差或事後合理化？個案採用了哪些交叉驗證？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1151467" y="4033440"/>
            <a:ext cx="14371659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B5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3227" y="4453335"/>
            <a:ext cx="14249739" cy="121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個案描述符合業界常見實務抗拒經驗，但「符合經驗」不等於「研究排除偏差」。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應訪談不同立場人員（含仍有抱怨者），並比對會議紀錄、培訓紀錄、報工系統 Log 才能確認轉變時序。</a:t>
            </a:r>
            <a:endParaRPr lang="en-US" sz="2000" dirty="0"/>
          </a:p>
          <a:p>
            <a:pPr marL="226901" indent="-226901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D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本案雖有現場圖與訪談引述，但對三角檢證與反例分析的交代仍有限，研究可信度上仍需更完整的程序交代。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3733" y="8317707"/>
            <a:ext cx="3413760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泰能機器轉型｜各組提問與回答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444637" y="8317707"/>
            <a:ext cx="727631" cy="318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2240"/>
              </a:lnSpc>
            </a:pPr>
            <a:r>
              <a:rPr lang="en-US" sz="1600" dirty="0">
                <a:solidFill>
                  <a:srgbClr val="5F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557</Words>
  <Application>Microsoft Macintosh PowerPoint</Application>
  <PresentationFormat>自訂</PresentationFormat>
  <Paragraphs>137</Paragraphs>
  <Slides>33</Slides>
  <Notes>12</Notes>
  <HiddenSlides>1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7" baseType="lpstr"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泰能機器轉型</vt:lpstr>
      <vt:lpstr>PowerPoint 簡報</vt:lpstr>
      <vt:lpstr>第 1 組</vt:lpstr>
      <vt:lpstr>第 6 組</vt:lpstr>
      <vt:lpstr>第 8 組</vt:lpstr>
      <vt:lpstr>第 12 組</vt:lpstr>
      <vt:lpstr>第 4 組</vt:lpstr>
      <vt:lpstr>第 7 組</vt:lpstr>
      <vt:lpstr>補充問題</vt:lpstr>
      <vt:lpstr>第 10 組</vt:lpstr>
      <vt:lpstr>第 2 組</vt:lpstr>
      <vt:lpstr>第 3 組</vt:lpstr>
      <vt:lpstr>第 11 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M11509917</cp:lastModifiedBy>
  <cp:revision>3</cp:revision>
  <dcterms:created xsi:type="dcterms:W3CDTF">2006-08-16T00:00:00Z</dcterms:created>
  <dcterms:modified xsi:type="dcterms:W3CDTF">2026-10-30T03:13:29Z</dcterms:modified>
</cp:coreProperties>
</file>