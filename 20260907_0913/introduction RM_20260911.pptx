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7" r:id="rId2"/>
    <p:sldId id="1475" r:id="rId3"/>
    <p:sldId id="367" r:id="rId4"/>
    <p:sldId id="1479" r:id="rId5"/>
    <p:sldId id="364" r:id="rId6"/>
    <p:sldId id="1476" r:id="rId7"/>
    <p:sldId id="474" r:id="rId8"/>
    <p:sldId id="487" r:id="rId9"/>
    <p:sldId id="410" r:id="rId10"/>
    <p:sldId id="485" r:id="rId11"/>
    <p:sldId id="505" r:id="rId12"/>
    <p:sldId id="506" r:id="rId13"/>
    <p:sldId id="1206" r:id="rId14"/>
    <p:sldId id="515" r:id="rId15"/>
    <p:sldId id="1210" r:id="rId16"/>
    <p:sldId id="1209" r:id="rId17"/>
    <p:sldId id="394" r:id="rId18"/>
    <p:sldId id="1211" r:id="rId19"/>
    <p:sldId id="489" r:id="rId20"/>
    <p:sldId id="402" r:id="rId21"/>
    <p:sldId id="424" r:id="rId22"/>
    <p:sldId id="358" r:id="rId23"/>
    <p:sldId id="1477" r:id="rId24"/>
    <p:sldId id="366" r:id="rId25"/>
    <p:sldId id="365" r:id="rId26"/>
    <p:sldId id="362" r:id="rId27"/>
    <p:sldId id="1478" r:id="rId28"/>
    <p:sldId id="363" r:id="rId29"/>
    <p:sldId id="368" r:id="rId30"/>
    <p:sldId id="1480"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7" autoAdjust="0"/>
    <p:restoredTop sz="94694"/>
  </p:normalViewPr>
  <p:slideViewPr>
    <p:cSldViewPr snapToGrid="0">
      <p:cViewPr varScale="1">
        <p:scale>
          <a:sx n="61" d="100"/>
          <a:sy n="61" d="100"/>
        </p:scale>
        <p:origin x="9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5_4#1">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6BC5D6-E513-48D7-A5C2-297CEF345A59}" type="doc">
      <dgm:prSet loTypeId="urn:microsoft.com/office/officeart/2005/8/layout/process5" loCatId="process" qsTypeId="urn:microsoft.com/office/officeart/2005/8/quickstyle/simple1#1" qsCatId="simple" csTypeId="urn:microsoft.com/office/officeart/2005/8/colors/accent5_4#1" csCatId="accent5" phldr="1"/>
      <dgm:spPr/>
      <dgm:t>
        <a:bodyPr/>
        <a:lstStyle/>
        <a:p>
          <a:endParaRPr lang="zh-TW" altLang="en-US"/>
        </a:p>
      </dgm:t>
    </dgm:pt>
    <dgm:pt modelId="{06B1BAFC-D666-4120-AC7D-F61DA977DE78}">
      <dgm:prSet phldrT="[文字]" custT="1"/>
      <dgm:spPr>
        <a:solidFill>
          <a:srgbClr val="DEE7B3"/>
        </a:solidFill>
        <a:ln>
          <a:solidFill>
            <a:schemeClr val="tx1"/>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研究題目界定</a:t>
          </a:r>
        </a:p>
      </dgm:t>
    </dgm:pt>
    <dgm:pt modelId="{06164C81-947B-43AC-B162-D9560BA83F16}" type="parTrans" cxnId="{95D40858-EA95-42FC-96DC-C6405F7FA858}">
      <dgm:prSet/>
      <dgm:spPr/>
      <dgm:t>
        <a:bodyPr/>
        <a:lstStyle/>
        <a:p>
          <a:endParaRPr lang="zh-TW" altLang="en-US" b="1" u="sng"/>
        </a:p>
      </dgm:t>
    </dgm:pt>
    <dgm:pt modelId="{DA3B0B8D-2C1B-4468-8207-204848B2914B}" type="sibTrans" cxnId="{95D40858-EA95-42FC-96DC-C6405F7FA858}">
      <dgm:prSet custT="1"/>
      <dgm:spPr>
        <a:solidFill>
          <a:srgbClr val="00B050"/>
        </a:solidFill>
      </dgm:spPr>
      <dgm:t>
        <a:bodyPr/>
        <a:lstStyle/>
        <a:p>
          <a:endParaRPr lang="zh-TW" altLang="en-US" sz="1200" b="1" u="sng">
            <a:solidFill>
              <a:schemeClr val="tx1"/>
            </a:solidFill>
            <a:latin typeface="標楷體" panose="03000509000000000000" pitchFamily="65" charset="-120"/>
            <a:ea typeface="標楷體" panose="03000509000000000000" pitchFamily="65" charset="-120"/>
          </a:endParaRPr>
        </a:p>
      </dgm:t>
    </dgm:pt>
    <dgm:pt modelId="{B1B9D289-A2BE-4262-95C7-44C15ED0F618}">
      <dgm:prSet phldrT="[文字]" custT="1"/>
      <dgm:spPr>
        <a:solidFill>
          <a:srgbClr val="DEE7B3"/>
        </a:solidFill>
        <a:ln>
          <a:solidFill>
            <a:schemeClr val="tx1"/>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研究背景</a:t>
          </a:r>
          <a:r>
            <a:rPr lang="en-US" altLang="zh-TW" sz="2000" b="1" u="none" dirty="0">
              <a:solidFill>
                <a:schemeClr val="tx1"/>
              </a:solidFill>
              <a:latin typeface="標楷體" panose="03000509000000000000" pitchFamily="65" charset="-120"/>
              <a:ea typeface="標楷體" panose="03000509000000000000" pitchFamily="65" charset="-120"/>
            </a:rPr>
            <a:t/>
          </a:r>
          <a:br>
            <a:rPr lang="en-US" altLang="zh-TW" sz="2000" b="1" u="none" dirty="0">
              <a:solidFill>
                <a:schemeClr val="tx1"/>
              </a:solidFill>
              <a:latin typeface="標楷體" panose="03000509000000000000" pitchFamily="65" charset="-120"/>
              <a:ea typeface="標楷體" panose="03000509000000000000" pitchFamily="65" charset="-120"/>
            </a:rPr>
          </a:br>
          <a:r>
            <a:rPr lang="zh-TW" altLang="en-US" sz="2000" b="1" u="none" dirty="0">
              <a:solidFill>
                <a:schemeClr val="tx1"/>
              </a:solidFill>
              <a:latin typeface="標楷體" panose="03000509000000000000" pitchFamily="65" charset="-120"/>
              <a:ea typeface="標楷體" panose="03000509000000000000" pitchFamily="65" charset="-120"/>
            </a:rPr>
            <a:t>動機與目的</a:t>
          </a:r>
        </a:p>
      </dgm:t>
    </dgm:pt>
    <dgm:pt modelId="{C6F75F5F-F38D-47E9-9451-F76679558083}" type="parTrans" cxnId="{29E7485B-2382-4200-ADDC-190E76EABAFC}">
      <dgm:prSet/>
      <dgm:spPr/>
      <dgm:t>
        <a:bodyPr/>
        <a:lstStyle/>
        <a:p>
          <a:endParaRPr lang="zh-TW" altLang="en-US" b="1" u="sng"/>
        </a:p>
      </dgm:t>
    </dgm:pt>
    <dgm:pt modelId="{3158451B-2C58-4278-9B0E-1A0A0C51EC84}" type="sibTrans" cxnId="{29E7485B-2382-4200-ADDC-190E76EABAFC}">
      <dgm:prSet custT="1"/>
      <dgm:spPr>
        <a:solidFill>
          <a:srgbClr val="00B050"/>
        </a:solidFill>
      </dgm:spPr>
      <dgm:t>
        <a:bodyPr/>
        <a:lstStyle/>
        <a:p>
          <a:endParaRPr lang="zh-TW" altLang="en-US" sz="1200" b="1" u="sng">
            <a:solidFill>
              <a:schemeClr val="tx1"/>
            </a:solidFill>
            <a:latin typeface="標楷體" panose="03000509000000000000" pitchFamily="65" charset="-120"/>
            <a:ea typeface="標楷體" panose="03000509000000000000" pitchFamily="65" charset="-120"/>
          </a:endParaRPr>
        </a:p>
      </dgm:t>
    </dgm:pt>
    <dgm:pt modelId="{3ADD0AD6-B106-4495-AAC1-48DC933520EA}">
      <dgm:prSet phldrT="[文字]" custT="1"/>
      <dgm:spPr>
        <a:solidFill>
          <a:srgbClr val="DEE7B3"/>
        </a:solidFill>
        <a:ln>
          <a:solidFill>
            <a:schemeClr val="tx1"/>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文獻探討</a:t>
          </a:r>
        </a:p>
      </dgm:t>
    </dgm:pt>
    <dgm:pt modelId="{93525E52-CA47-444E-9718-09E87BC525AA}" type="parTrans" cxnId="{C31B54C5-97DF-4FB9-B957-474E4FD7580C}">
      <dgm:prSet/>
      <dgm:spPr/>
      <dgm:t>
        <a:bodyPr/>
        <a:lstStyle/>
        <a:p>
          <a:endParaRPr lang="zh-TW" altLang="en-US" b="1" u="sng"/>
        </a:p>
      </dgm:t>
    </dgm:pt>
    <dgm:pt modelId="{45D3B9BE-D6A9-423F-8831-6A61CF2F75E3}" type="sibTrans" cxnId="{C31B54C5-97DF-4FB9-B957-474E4FD7580C}">
      <dgm:prSet custT="1"/>
      <dgm:spPr>
        <a:solidFill>
          <a:srgbClr val="00B050"/>
        </a:solidFill>
      </dgm:spPr>
      <dgm:t>
        <a:bodyPr/>
        <a:lstStyle/>
        <a:p>
          <a:endParaRPr lang="zh-TW" altLang="en-US" sz="1200" b="1" u="sng">
            <a:solidFill>
              <a:schemeClr val="tx1"/>
            </a:solidFill>
            <a:latin typeface="標楷體" panose="03000509000000000000" pitchFamily="65" charset="-120"/>
            <a:ea typeface="標楷體" panose="03000509000000000000" pitchFamily="65" charset="-120"/>
          </a:endParaRPr>
        </a:p>
      </dgm:t>
    </dgm:pt>
    <dgm:pt modelId="{1D4832C7-E25B-4AA9-8307-A4301AFB8ED4}">
      <dgm:prSet phldrT="[文字]" custT="1"/>
      <dgm:spPr>
        <a:solidFill>
          <a:srgbClr val="DEE7B3"/>
        </a:solidFill>
        <a:ln>
          <a:solidFill>
            <a:schemeClr val="tx1"/>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研究假說及觀念架構</a:t>
          </a:r>
        </a:p>
      </dgm:t>
    </dgm:pt>
    <dgm:pt modelId="{C63BE10D-1A8E-4810-A1EB-01A582DD2ED2}" type="parTrans" cxnId="{C2A2D6A9-AF24-40EE-979D-8FA0628EDA7E}">
      <dgm:prSet/>
      <dgm:spPr/>
      <dgm:t>
        <a:bodyPr/>
        <a:lstStyle/>
        <a:p>
          <a:endParaRPr lang="zh-TW" altLang="en-US" b="1" u="sng"/>
        </a:p>
      </dgm:t>
    </dgm:pt>
    <dgm:pt modelId="{025A66E1-99F1-4EB0-8F26-C68A0BB28809}" type="sibTrans" cxnId="{C2A2D6A9-AF24-40EE-979D-8FA0628EDA7E}">
      <dgm:prSet custT="1"/>
      <dgm:spPr>
        <a:solidFill>
          <a:srgbClr val="00B050"/>
        </a:solidFill>
      </dgm:spPr>
      <dgm:t>
        <a:bodyPr/>
        <a:lstStyle/>
        <a:p>
          <a:endParaRPr lang="zh-TW" altLang="en-US" sz="1200" b="1" u="sng">
            <a:solidFill>
              <a:schemeClr val="tx1"/>
            </a:solidFill>
            <a:latin typeface="標楷體" panose="03000509000000000000" pitchFamily="65" charset="-120"/>
            <a:ea typeface="標楷體" panose="03000509000000000000" pitchFamily="65" charset="-120"/>
          </a:endParaRPr>
        </a:p>
      </dgm:t>
    </dgm:pt>
    <dgm:pt modelId="{CB6858CE-BAB6-408A-B5A7-3304F0BB33E4}">
      <dgm:prSet phldrT="[文字]" custT="1"/>
      <dgm:spPr>
        <a:solidFill>
          <a:schemeClr val="accent1">
            <a:lumMod val="20000"/>
            <a:lumOff val="80000"/>
          </a:schemeClr>
        </a:solidFill>
        <a:ln>
          <a:solidFill>
            <a:schemeClr val="accent1">
              <a:lumMod val="75000"/>
            </a:schemeClr>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研究設計</a:t>
          </a:r>
        </a:p>
      </dgm:t>
    </dgm:pt>
    <dgm:pt modelId="{6FBDD100-34B8-41D8-A76C-6DDCAE2EEEF9}" type="parTrans" cxnId="{215C005C-CA39-4ACF-A69A-FDDFF225270F}">
      <dgm:prSet/>
      <dgm:spPr/>
      <dgm:t>
        <a:bodyPr/>
        <a:lstStyle/>
        <a:p>
          <a:endParaRPr lang="zh-TW" altLang="en-US" b="1" u="sng"/>
        </a:p>
      </dgm:t>
    </dgm:pt>
    <dgm:pt modelId="{E4E03B4A-CF80-4BFD-8D83-0A6AB97308D8}" type="sibTrans" cxnId="{215C005C-CA39-4ACF-A69A-FDDFF225270F}">
      <dgm:prSet custT="1"/>
      <dgm:spPr>
        <a:solidFill>
          <a:srgbClr val="00B050"/>
        </a:solidFill>
      </dgm:spPr>
      <dgm:t>
        <a:bodyPr/>
        <a:lstStyle/>
        <a:p>
          <a:endParaRPr lang="zh-TW" altLang="en-US" sz="1200" b="1" u="sng">
            <a:solidFill>
              <a:schemeClr val="tx1"/>
            </a:solidFill>
            <a:latin typeface="標楷體" panose="03000509000000000000" pitchFamily="65" charset="-120"/>
            <a:ea typeface="標楷體" panose="03000509000000000000" pitchFamily="65" charset="-120"/>
          </a:endParaRPr>
        </a:p>
      </dgm:t>
    </dgm:pt>
    <dgm:pt modelId="{D533E5BB-653E-4A73-B5DC-D92CAB129B3B}">
      <dgm:prSet phldrT="[文字]" custT="1"/>
      <dgm:spPr>
        <a:solidFill>
          <a:schemeClr val="accent1">
            <a:lumMod val="20000"/>
            <a:lumOff val="80000"/>
          </a:schemeClr>
        </a:solidFill>
        <a:ln>
          <a:solidFill>
            <a:schemeClr val="accent1">
              <a:lumMod val="75000"/>
            </a:schemeClr>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資料蒐集</a:t>
          </a:r>
          <a:r>
            <a:rPr lang="en-US" altLang="zh-TW" sz="2000" b="1" u="none" dirty="0">
              <a:solidFill>
                <a:schemeClr val="tx1"/>
              </a:solidFill>
              <a:latin typeface="標楷體" panose="03000509000000000000" pitchFamily="65" charset="-120"/>
              <a:ea typeface="標楷體" panose="03000509000000000000" pitchFamily="65" charset="-120"/>
            </a:rPr>
            <a:t/>
          </a:r>
          <a:br>
            <a:rPr lang="en-US" altLang="zh-TW" sz="2000" b="1" u="none" dirty="0">
              <a:solidFill>
                <a:schemeClr val="tx1"/>
              </a:solidFill>
              <a:latin typeface="標楷體" panose="03000509000000000000" pitchFamily="65" charset="-120"/>
              <a:ea typeface="標楷體" panose="03000509000000000000" pitchFamily="65" charset="-120"/>
            </a:rPr>
          </a:br>
          <a:r>
            <a:rPr lang="zh-TW" altLang="en-US" sz="2000" b="1" u="none" dirty="0">
              <a:solidFill>
                <a:schemeClr val="tx1"/>
              </a:solidFill>
              <a:latin typeface="標楷體" panose="03000509000000000000" pitchFamily="65" charset="-120"/>
              <a:ea typeface="標楷體" panose="03000509000000000000" pitchFamily="65" charset="-120"/>
            </a:rPr>
            <a:t>分析與結果</a:t>
          </a:r>
        </a:p>
      </dgm:t>
    </dgm:pt>
    <dgm:pt modelId="{A34CF163-9C7D-4650-8EA7-72AD83CD5A07}" type="parTrans" cxnId="{BF897A3E-A610-470F-963B-86B1F6CC624A}">
      <dgm:prSet/>
      <dgm:spPr/>
      <dgm:t>
        <a:bodyPr/>
        <a:lstStyle/>
        <a:p>
          <a:endParaRPr lang="zh-TW" altLang="en-US" b="1" u="sng"/>
        </a:p>
      </dgm:t>
    </dgm:pt>
    <dgm:pt modelId="{A4811ADA-A8E8-441E-B758-15BACD24427E}" type="sibTrans" cxnId="{BF897A3E-A610-470F-963B-86B1F6CC624A}">
      <dgm:prSet custT="1"/>
      <dgm:spPr>
        <a:solidFill>
          <a:srgbClr val="00B050"/>
        </a:solidFill>
      </dgm:spPr>
      <dgm:t>
        <a:bodyPr/>
        <a:lstStyle/>
        <a:p>
          <a:endParaRPr lang="zh-TW" altLang="en-US" sz="1200" b="1" u="sng">
            <a:solidFill>
              <a:schemeClr val="tx1"/>
            </a:solidFill>
            <a:latin typeface="標楷體" panose="03000509000000000000" pitchFamily="65" charset="-120"/>
            <a:ea typeface="標楷體" panose="03000509000000000000" pitchFamily="65" charset="-120"/>
          </a:endParaRPr>
        </a:p>
      </dgm:t>
    </dgm:pt>
    <dgm:pt modelId="{B04FBAF2-B4CC-451A-AFE2-1755C62AADDD}">
      <dgm:prSet phldrT="[文字]" custT="1"/>
      <dgm:spPr>
        <a:solidFill>
          <a:srgbClr val="DEE7B3"/>
        </a:solidFill>
        <a:ln>
          <a:solidFill>
            <a:schemeClr val="tx1"/>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研究結果</a:t>
          </a:r>
          <a:r>
            <a:rPr lang="en-US" altLang="zh-TW" sz="2000" b="1" u="none" dirty="0">
              <a:solidFill>
                <a:schemeClr val="tx1"/>
              </a:solidFill>
              <a:latin typeface="標楷體" panose="03000509000000000000" pitchFamily="65" charset="-120"/>
              <a:ea typeface="標楷體" panose="03000509000000000000" pitchFamily="65" charset="-120"/>
            </a:rPr>
            <a:t/>
          </a:r>
          <a:br>
            <a:rPr lang="en-US" altLang="zh-TW" sz="2000" b="1" u="none" dirty="0">
              <a:solidFill>
                <a:schemeClr val="tx1"/>
              </a:solidFill>
              <a:latin typeface="標楷體" panose="03000509000000000000" pitchFamily="65" charset="-120"/>
              <a:ea typeface="標楷體" panose="03000509000000000000" pitchFamily="65" charset="-120"/>
            </a:rPr>
          </a:br>
          <a:r>
            <a:rPr lang="zh-TW" altLang="en-US" sz="2000" b="1" u="none" dirty="0">
              <a:solidFill>
                <a:schemeClr val="tx1"/>
              </a:solidFill>
              <a:latin typeface="標楷體" panose="03000509000000000000" pitchFamily="65" charset="-120"/>
              <a:ea typeface="標楷體" panose="03000509000000000000" pitchFamily="65" charset="-120"/>
            </a:rPr>
            <a:t>之討論</a:t>
          </a:r>
        </a:p>
      </dgm:t>
    </dgm:pt>
    <dgm:pt modelId="{1C6743DD-01F5-4DDA-92CC-5483AFA3798C}" type="parTrans" cxnId="{7E187908-672E-4E5C-A6AF-033F055332F2}">
      <dgm:prSet/>
      <dgm:spPr/>
      <dgm:t>
        <a:bodyPr/>
        <a:lstStyle/>
        <a:p>
          <a:endParaRPr lang="zh-TW" altLang="en-US" b="1" u="sng"/>
        </a:p>
      </dgm:t>
    </dgm:pt>
    <dgm:pt modelId="{D4D3C437-3857-40ED-B5F7-1EA0D9003ADC}" type="sibTrans" cxnId="{7E187908-672E-4E5C-A6AF-033F055332F2}">
      <dgm:prSet/>
      <dgm:spPr>
        <a:solidFill>
          <a:srgbClr val="00B050"/>
        </a:solidFill>
      </dgm:spPr>
      <dgm:t>
        <a:bodyPr/>
        <a:lstStyle/>
        <a:p>
          <a:endParaRPr lang="zh-TW" altLang="en-US" b="1" u="sng"/>
        </a:p>
      </dgm:t>
    </dgm:pt>
    <dgm:pt modelId="{95D99D86-7040-4C9E-9245-129B84039C8C}">
      <dgm:prSet phldrT="[文字]" custT="1"/>
      <dgm:spPr>
        <a:solidFill>
          <a:srgbClr val="DEE7B3"/>
        </a:solidFill>
        <a:ln>
          <a:solidFill>
            <a:schemeClr val="tx1"/>
          </a:solidFill>
        </a:ln>
      </dgm:spPr>
      <dgm:t>
        <a:bodyPr/>
        <a:lstStyle/>
        <a:p>
          <a:r>
            <a:rPr lang="zh-TW" altLang="en-US" sz="2000" b="1" u="none" dirty="0">
              <a:solidFill>
                <a:schemeClr val="tx1"/>
              </a:solidFill>
              <a:latin typeface="標楷體" panose="03000509000000000000" pitchFamily="65" charset="-120"/>
              <a:ea typeface="標楷體" panose="03000509000000000000" pitchFamily="65" charset="-120"/>
            </a:rPr>
            <a:t>研究限制</a:t>
          </a:r>
          <a:r>
            <a:rPr lang="en-US" altLang="zh-TW" sz="2000" b="1" u="none" dirty="0">
              <a:solidFill>
                <a:schemeClr val="tx1"/>
              </a:solidFill>
              <a:latin typeface="標楷體" panose="03000509000000000000" pitchFamily="65" charset="-120"/>
              <a:ea typeface="標楷體" panose="03000509000000000000" pitchFamily="65" charset="-120"/>
            </a:rPr>
            <a:t/>
          </a:r>
          <a:br>
            <a:rPr lang="en-US" altLang="zh-TW" sz="2000" b="1" u="none" dirty="0">
              <a:solidFill>
                <a:schemeClr val="tx1"/>
              </a:solidFill>
              <a:latin typeface="標楷體" panose="03000509000000000000" pitchFamily="65" charset="-120"/>
              <a:ea typeface="標楷體" panose="03000509000000000000" pitchFamily="65" charset="-120"/>
            </a:rPr>
          </a:br>
          <a:r>
            <a:rPr lang="zh-TW" altLang="en-US" sz="2000" b="1" u="none" dirty="0">
              <a:solidFill>
                <a:schemeClr val="tx1"/>
              </a:solidFill>
              <a:latin typeface="標楷體" panose="03000509000000000000" pitchFamily="65" charset="-120"/>
              <a:ea typeface="標楷體" panose="03000509000000000000" pitchFamily="65" charset="-120"/>
            </a:rPr>
            <a:t>結論及建議</a:t>
          </a:r>
        </a:p>
      </dgm:t>
    </dgm:pt>
    <dgm:pt modelId="{B6C3B502-E131-4343-8FC6-C24033C635A0}" type="parTrans" cxnId="{E1E4DAEC-41C2-4437-BDE5-6855D327AAF4}">
      <dgm:prSet/>
      <dgm:spPr/>
      <dgm:t>
        <a:bodyPr/>
        <a:lstStyle/>
        <a:p>
          <a:endParaRPr lang="zh-TW" altLang="en-US" b="1" u="sng"/>
        </a:p>
      </dgm:t>
    </dgm:pt>
    <dgm:pt modelId="{5F1210C5-1CAF-438A-B681-2B65ACB26A29}" type="sibTrans" cxnId="{E1E4DAEC-41C2-4437-BDE5-6855D327AAF4}">
      <dgm:prSet/>
      <dgm:spPr>
        <a:solidFill>
          <a:srgbClr val="FF0000"/>
        </a:solidFill>
      </dgm:spPr>
      <dgm:t>
        <a:bodyPr/>
        <a:lstStyle/>
        <a:p>
          <a:endParaRPr lang="zh-TW" altLang="en-US" b="1" u="sng"/>
        </a:p>
      </dgm:t>
    </dgm:pt>
    <dgm:pt modelId="{7DB4137F-75E0-4042-A86B-31BEEA5764E4}">
      <dgm:prSet phldrT="[文字]" custT="1"/>
      <dgm:spPr>
        <a:solidFill>
          <a:srgbClr val="DEE7B3"/>
        </a:solidFill>
        <a:ln>
          <a:solidFill>
            <a:schemeClr val="tx1"/>
          </a:solidFill>
        </a:ln>
      </dgm:spPr>
      <dgm:t>
        <a:bodyPr/>
        <a:lstStyle/>
        <a:p>
          <a:r>
            <a:rPr lang="en-US" sz="2000" b="1" u="none" dirty="0">
              <a:solidFill>
                <a:srgbClr val="FF0000"/>
              </a:solidFill>
              <a:sym typeface="Wingdings" panose="05000000000000000000" pitchFamily="2" charset="2"/>
            </a:rPr>
            <a:t></a:t>
          </a:r>
          <a:r>
            <a:rPr lang="en-US" sz="2000" b="1" u="none" dirty="0"/>
            <a:t> </a:t>
          </a:r>
          <a:r>
            <a:rPr lang="zh-TW" altLang="en-US" sz="2000" b="1" u="none" dirty="0">
              <a:solidFill>
                <a:schemeClr val="tx1">
                  <a:lumMod val="65000"/>
                  <a:lumOff val="35000"/>
                </a:schemeClr>
              </a:solidFill>
              <a:latin typeface="標楷體" panose="03000509000000000000" pitchFamily="65" charset="-120"/>
              <a:ea typeface="標楷體" panose="03000509000000000000" pitchFamily="65" charset="-120"/>
            </a:rPr>
            <a:t>研究題目界定</a:t>
          </a:r>
        </a:p>
      </dgm:t>
    </dgm:pt>
    <dgm:pt modelId="{E7AB4DE3-F5A8-4333-912A-62C2A9CE5CB8}" type="sibTrans" cxnId="{9016FE20-D4C2-4FE8-A823-0D2CA74A2505}">
      <dgm:prSet/>
      <dgm:spPr/>
      <dgm:t>
        <a:bodyPr/>
        <a:lstStyle/>
        <a:p>
          <a:endParaRPr lang="zh-TW" altLang="en-US" b="1" u="sng"/>
        </a:p>
      </dgm:t>
    </dgm:pt>
    <dgm:pt modelId="{1F502A5A-629A-4723-9EBA-C8F61727CD48}" type="parTrans" cxnId="{9016FE20-D4C2-4FE8-A823-0D2CA74A2505}">
      <dgm:prSet/>
      <dgm:spPr/>
      <dgm:t>
        <a:bodyPr/>
        <a:lstStyle/>
        <a:p>
          <a:endParaRPr lang="zh-TW" altLang="en-US" b="1" u="sng"/>
        </a:p>
      </dgm:t>
    </dgm:pt>
    <dgm:pt modelId="{0F39A121-B992-4F86-A3E4-DFA3F8880722}" type="pres">
      <dgm:prSet presAssocID="{5F6BC5D6-E513-48D7-A5C2-297CEF345A59}" presName="diagram" presStyleCnt="0">
        <dgm:presLayoutVars>
          <dgm:dir/>
          <dgm:resizeHandles val="exact"/>
        </dgm:presLayoutVars>
      </dgm:prSet>
      <dgm:spPr/>
      <dgm:t>
        <a:bodyPr/>
        <a:lstStyle/>
        <a:p>
          <a:endParaRPr lang="zh-TW" altLang="en-US"/>
        </a:p>
      </dgm:t>
    </dgm:pt>
    <dgm:pt modelId="{724DEEE3-A0DC-4964-903C-B2FA3B58C73B}" type="pres">
      <dgm:prSet presAssocID="{06B1BAFC-D666-4120-AC7D-F61DA977DE78}" presName="node" presStyleLbl="node1" presStyleIdx="0" presStyleCnt="9" custScaleX="125409">
        <dgm:presLayoutVars>
          <dgm:bulletEnabled val="1"/>
        </dgm:presLayoutVars>
      </dgm:prSet>
      <dgm:spPr/>
      <dgm:t>
        <a:bodyPr/>
        <a:lstStyle/>
        <a:p>
          <a:endParaRPr lang="zh-TW" altLang="en-US"/>
        </a:p>
      </dgm:t>
    </dgm:pt>
    <dgm:pt modelId="{40ED9738-6C10-409D-BB02-60033C9D385F}" type="pres">
      <dgm:prSet presAssocID="{DA3B0B8D-2C1B-4468-8207-204848B2914B}" presName="sibTrans" presStyleLbl="sibTrans2D1" presStyleIdx="0" presStyleCnt="8"/>
      <dgm:spPr/>
      <dgm:t>
        <a:bodyPr/>
        <a:lstStyle/>
        <a:p>
          <a:endParaRPr lang="zh-TW" altLang="en-US"/>
        </a:p>
      </dgm:t>
    </dgm:pt>
    <dgm:pt modelId="{10EFD2D2-29C5-40D5-BFFF-55E447AD27B7}" type="pres">
      <dgm:prSet presAssocID="{DA3B0B8D-2C1B-4468-8207-204848B2914B}" presName="connectorText" presStyleLbl="sibTrans2D1" presStyleIdx="0" presStyleCnt="8"/>
      <dgm:spPr/>
      <dgm:t>
        <a:bodyPr/>
        <a:lstStyle/>
        <a:p>
          <a:endParaRPr lang="zh-TW" altLang="en-US"/>
        </a:p>
      </dgm:t>
    </dgm:pt>
    <dgm:pt modelId="{D84BBD76-A7B1-43D2-B4FE-6B1F390DD576}" type="pres">
      <dgm:prSet presAssocID="{B1B9D289-A2BE-4262-95C7-44C15ED0F618}" presName="node" presStyleLbl="node1" presStyleIdx="1" presStyleCnt="9">
        <dgm:presLayoutVars>
          <dgm:bulletEnabled val="1"/>
        </dgm:presLayoutVars>
      </dgm:prSet>
      <dgm:spPr/>
      <dgm:t>
        <a:bodyPr/>
        <a:lstStyle/>
        <a:p>
          <a:endParaRPr lang="zh-TW" altLang="en-US"/>
        </a:p>
      </dgm:t>
    </dgm:pt>
    <dgm:pt modelId="{8D481DDF-EB0D-4FE6-BC11-15AD1D66F03B}" type="pres">
      <dgm:prSet presAssocID="{3158451B-2C58-4278-9B0E-1A0A0C51EC84}" presName="sibTrans" presStyleLbl="sibTrans2D1" presStyleIdx="1" presStyleCnt="8"/>
      <dgm:spPr/>
      <dgm:t>
        <a:bodyPr/>
        <a:lstStyle/>
        <a:p>
          <a:endParaRPr lang="zh-TW" altLang="en-US"/>
        </a:p>
      </dgm:t>
    </dgm:pt>
    <dgm:pt modelId="{6CA9B746-E933-4E99-8093-286661B343D8}" type="pres">
      <dgm:prSet presAssocID="{3158451B-2C58-4278-9B0E-1A0A0C51EC84}" presName="connectorText" presStyleLbl="sibTrans2D1" presStyleIdx="1" presStyleCnt="8"/>
      <dgm:spPr/>
      <dgm:t>
        <a:bodyPr/>
        <a:lstStyle/>
        <a:p>
          <a:endParaRPr lang="zh-TW" altLang="en-US"/>
        </a:p>
      </dgm:t>
    </dgm:pt>
    <dgm:pt modelId="{BB791311-8206-4696-B6E7-9F86E38B30C8}" type="pres">
      <dgm:prSet presAssocID="{3ADD0AD6-B106-4495-AAC1-48DC933520EA}" presName="node" presStyleLbl="node1" presStyleIdx="2" presStyleCnt="9">
        <dgm:presLayoutVars>
          <dgm:bulletEnabled val="1"/>
        </dgm:presLayoutVars>
      </dgm:prSet>
      <dgm:spPr/>
      <dgm:t>
        <a:bodyPr/>
        <a:lstStyle/>
        <a:p>
          <a:endParaRPr lang="zh-TW" altLang="en-US"/>
        </a:p>
      </dgm:t>
    </dgm:pt>
    <dgm:pt modelId="{90CE16B9-EB62-4ADF-A83C-1E72C577F402}" type="pres">
      <dgm:prSet presAssocID="{45D3B9BE-D6A9-423F-8831-6A61CF2F75E3}" presName="sibTrans" presStyleLbl="sibTrans2D1" presStyleIdx="2" presStyleCnt="8"/>
      <dgm:spPr/>
      <dgm:t>
        <a:bodyPr/>
        <a:lstStyle/>
        <a:p>
          <a:endParaRPr lang="zh-TW" altLang="en-US"/>
        </a:p>
      </dgm:t>
    </dgm:pt>
    <dgm:pt modelId="{3D96E21C-37EB-444B-955E-16B2DCE2222C}" type="pres">
      <dgm:prSet presAssocID="{45D3B9BE-D6A9-423F-8831-6A61CF2F75E3}" presName="connectorText" presStyleLbl="sibTrans2D1" presStyleIdx="2" presStyleCnt="8"/>
      <dgm:spPr/>
      <dgm:t>
        <a:bodyPr/>
        <a:lstStyle/>
        <a:p>
          <a:endParaRPr lang="zh-TW" altLang="en-US"/>
        </a:p>
      </dgm:t>
    </dgm:pt>
    <dgm:pt modelId="{610F61D6-5A75-47BE-B51A-79F83F03C91F}" type="pres">
      <dgm:prSet presAssocID="{1D4832C7-E25B-4AA9-8307-A4301AFB8ED4}" presName="node" presStyleLbl="node1" presStyleIdx="3" presStyleCnt="9">
        <dgm:presLayoutVars>
          <dgm:bulletEnabled val="1"/>
        </dgm:presLayoutVars>
      </dgm:prSet>
      <dgm:spPr/>
      <dgm:t>
        <a:bodyPr/>
        <a:lstStyle/>
        <a:p>
          <a:endParaRPr lang="zh-TW" altLang="en-US"/>
        </a:p>
      </dgm:t>
    </dgm:pt>
    <dgm:pt modelId="{D35A0955-4901-4DF1-B2DC-C68C59D0BBC8}" type="pres">
      <dgm:prSet presAssocID="{025A66E1-99F1-4EB0-8F26-C68A0BB28809}" presName="sibTrans" presStyleLbl="sibTrans2D1" presStyleIdx="3" presStyleCnt="8"/>
      <dgm:spPr/>
      <dgm:t>
        <a:bodyPr/>
        <a:lstStyle/>
        <a:p>
          <a:endParaRPr lang="zh-TW" altLang="en-US"/>
        </a:p>
      </dgm:t>
    </dgm:pt>
    <dgm:pt modelId="{D72B6CE0-923D-4070-9DB2-7C94AD87AFDB}" type="pres">
      <dgm:prSet presAssocID="{025A66E1-99F1-4EB0-8F26-C68A0BB28809}" presName="connectorText" presStyleLbl="sibTrans2D1" presStyleIdx="3" presStyleCnt="8"/>
      <dgm:spPr/>
      <dgm:t>
        <a:bodyPr/>
        <a:lstStyle/>
        <a:p>
          <a:endParaRPr lang="zh-TW" altLang="en-US"/>
        </a:p>
      </dgm:t>
    </dgm:pt>
    <dgm:pt modelId="{92AAF19B-11F2-49A9-A335-B2FDA726E975}" type="pres">
      <dgm:prSet presAssocID="{CB6858CE-BAB6-408A-B5A7-3304F0BB33E4}" presName="node" presStyleLbl="node1" presStyleIdx="4" presStyleCnt="9">
        <dgm:presLayoutVars>
          <dgm:bulletEnabled val="1"/>
        </dgm:presLayoutVars>
      </dgm:prSet>
      <dgm:spPr/>
      <dgm:t>
        <a:bodyPr/>
        <a:lstStyle/>
        <a:p>
          <a:endParaRPr lang="zh-TW" altLang="en-US"/>
        </a:p>
      </dgm:t>
    </dgm:pt>
    <dgm:pt modelId="{E7EDE637-A933-4D5E-87DE-1D729F34082C}" type="pres">
      <dgm:prSet presAssocID="{E4E03B4A-CF80-4BFD-8D83-0A6AB97308D8}" presName="sibTrans" presStyleLbl="sibTrans2D1" presStyleIdx="4" presStyleCnt="8"/>
      <dgm:spPr/>
      <dgm:t>
        <a:bodyPr/>
        <a:lstStyle/>
        <a:p>
          <a:endParaRPr lang="zh-TW" altLang="en-US"/>
        </a:p>
      </dgm:t>
    </dgm:pt>
    <dgm:pt modelId="{3247D201-3E72-46F0-A01A-7E33B30AC27D}" type="pres">
      <dgm:prSet presAssocID="{E4E03B4A-CF80-4BFD-8D83-0A6AB97308D8}" presName="connectorText" presStyleLbl="sibTrans2D1" presStyleIdx="4" presStyleCnt="8"/>
      <dgm:spPr/>
      <dgm:t>
        <a:bodyPr/>
        <a:lstStyle/>
        <a:p>
          <a:endParaRPr lang="zh-TW" altLang="en-US"/>
        </a:p>
      </dgm:t>
    </dgm:pt>
    <dgm:pt modelId="{91928F40-903F-4DA1-99C8-B41B8BB444FD}" type="pres">
      <dgm:prSet presAssocID="{D533E5BB-653E-4A73-B5DC-D92CAB129B3B}" presName="node" presStyleLbl="node1" presStyleIdx="5" presStyleCnt="9">
        <dgm:presLayoutVars>
          <dgm:bulletEnabled val="1"/>
        </dgm:presLayoutVars>
      </dgm:prSet>
      <dgm:spPr/>
      <dgm:t>
        <a:bodyPr/>
        <a:lstStyle/>
        <a:p>
          <a:endParaRPr lang="zh-TW" altLang="en-US"/>
        </a:p>
      </dgm:t>
    </dgm:pt>
    <dgm:pt modelId="{FA34C599-A5E8-4C75-82F1-822DAB490765}" type="pres">
      <dgm:prSet presAssocID="{A4811ADA-A8E8-441E-B758-15BACD24427E}" presName="sibTrans" presStyleLbl="sibTrans2D1" presStyleIdx="5" presStyleCnt="8"/>
      <dgm:spPr/>
      <dgm:t>
        <a:bodyPr/>
        <a:lstStyle/>
        <a:p>
          <a:endParaRPr lang="zh-TW" altLang="en-US"/>
        </a:p>
      </dgm:t>
    </dgm:pt>
    <dgm:pt modelId="{A19FE532-135D-4503-B735-CFCFB06F8DBD}" type="pres">
      <dgm:prSet presAssocID="{A4811ADA-A8E8-441E-B758-15BACD24427E}" presName="connectorText" presStyleLbl="sibTrans2D1" presStyleIdx="5" presStyleCnt="8"/>
      <dgm:spPr/>
      <dgm:t>
        <a:bodyPr/>
        <a:lstStyle/>
        <a:p>
          <a:endParaRPr lang="zh-TW" altLang="en-US"/>
        </a:p>
      </dgm:t>
    </dgm:pt>
    <dgm:pt modelId="{B1797B30-CA03-4D29-BF27-93314AB6C671}" type="pres">
      <dgm:prSet presAssocID="{B04FBAF2-B4CC-451A-AFE2-1755C62AADDD}" presName="node" presStyleLbl="node1" presStyleIdx="6" presStyleCnt="9">
        <dgm:presLayoutVars>
          <dgm:bulletEnabled val="1"/>
        </dgm:presLayoutVars>
      </dgm:prSet>
      <dgm:spPr/>
      <dgm:t>
        <a:bodyPr/>
        <a:lstStyle/>
        <a:p>
          <a:endParaRPr lang="zh-TW" altLang="en-US"/>
        </a:p>
      </dgm:t>
    </dgm:pt>
    <dgm:pt modelId="{60252E1C-CEEA-47CA-8163-B919B07FEDE2}" type="pres">
      <dgm:prSet presAssocID="{D4D3C437-3857-40ED-B5F7-1EA0D9003ADC}" presName="sibTrans" presStyleLbl="sibTrans2D1" presStyleIdx="6" presStyleCnt="8"/>
      <dgm:spPr/>
      <dgm:t>
        <a:bodyPr/>
        <a:lstStyle/>
        <a:p>
          <a:endParaRPr lang="zh-TW" altLang="en-US"/>
        </a:p>
      </dgm:t>
    </dgm:pt>
    <dgm:pt modelId="{8456F6A6-1CBD-409C-9EBF-07A54DCB26BD}" type="pres">
      <dgm:prSet presAssocID="{D4D3C437-3857-40ED-B5F7-1EA0D9003ADC}" presName="connectorText" presStyleLbl="sibTrans2D1" presStyleIdx="6" presStyleCnt="8"/>
      <dgm:spPr/>
      <dgm:t>
        <a:bodyPr/>
        <a:lstStyle/>
        <a:p>
          <a:endParaRPr lang="zh-TW" altLang="en-US"/>
        </a:p>
      </dgm:t>
    </dgm:pt>
    <dgm:pt modelId="{597E963E-6A28-4129-9EA9-60E2C1FECAA3}" type="pres">
      <dgm:prSet presAssocID="{95D99D86-7040-4C9E-9245-129B84039C8C}" presName="node" presStyleLbl="node1" presStyleIdx="7" presStyleCnt="9">
        <dgm:presLayoutVars>
          <dgm:bulletEnabled val="1"/>
        </dgm:presLayoutVars>
      </dgm:prSet>
      <dgm:spPr/>
      <dgm:t>
        <a:bodyPr/>
        <a:lstStyle/>
        <a:p>
          <a:endParaRPr lang="zh-TW" altLang="en-US"/>
        </a:p>
      </dgm:t>
    </dgm:pt>
    <dgm:pt modelId="{12ECECC9-9D70-4530-BC30-349A6F3E8F5F}" type="pres">
      <dgm:prSet presAssocID="{5F1210C5-1CAF-438A-B681-2B65ACB26A29}" presName="sibTrans" presStyleLbl="sibTrans2D1" presStyleIdx="7" presStyleCnt="8"/>
      <dgm:spPr/>
      <dgm:t>
        <a:bodyPr/>
        <a:lstStyle/>
        <a:p>
          <a:endParaRPr lang="zh-TW" altLang="en-US"/>
        </a:p>
      </dgm:t>
    </dgm:pt>
    <dgm:pt modelId="{E805EE5C-5765-4669-AC0E-CD09296396CA}" type="pres">
      <dgm:prSet presAssocID="{5F1210C5-1CAF-438A-B681-2B65ACB26A29}" presName="connectorText" presStyleLbl="sibTrans2D1" presStyleIdx="7" presStyleCnt="8"/>
      <dgm:spPr/>
      <dgm:t>
        <a:bodyPr/>
        <a:lstStyle/>
        <a:p>
          <a:endParaRPr lang="zh-TW" altLang="en-US"/>
        </a:p>
      </dgm:t>
    </dgm:pt>
    <dgm:pt modelId="{3AD06624-1428-44FD-A026-63BED6F893CE}" type="pres">
      <dgm:prSet presAssocID="{7DB4137F-75E0-4042-A86B-31BEEA5764E4}" presName="node" presStyleLbl="node1" presStyleIdx="8" presStyleCnt="9" custScaleX="125891">
        <dgm:presLayoutVars>
          <dgm:bulletEnabled val="1"/>
        </dgm:presLayoutVars>
      </dgm:prSet>
      <dgm:spPr/>
      <dgm:t>
        <a:bodyPr/>
        <a:lstStyle/>
        <a:p>
          <a:endParaRPr lang="zh-TW" altLang="en-US"/>
        </a:p>
      </dgm:t>
    </dgm:pt>
  </dgm:ptLst>
  <dgm:cxnLst>
    <dgm:cxn modelId="{BE8BC2B1-9788-4CBE-B7AC-78A5C3A21EE7}" type="presOf" srcId="{025A66E1-99F1-4EB0-8F26-C68A0BB28809}" destId="{D35A0955-4901-4DF1-B2DC-C68C59D0BBC8}" srcOrd="0" destOrd="0" presId="urn:microsoft.com/office/officeart/2005/8/layout/process5"/>
    <dgm:cxn modelId="{9C9C2193-5A9D-42FC-8AE2-BF21AFD27CB2}" type="presOf" srcId="{A4811ADA-A8E8-441E-B758-15BACD24427E}" destId="{FA34C599-A5E8-4C75-82F1-822DAB490765}" srcOrd="0" destOrd="0" presId="urn:microsoft.com/office/officeart/2005/8/layout/process5"/>
    <dgm:cxn modelId="{C31B54C5-97DF-4FB9-B957-474E4FD7580C}" srcId="{5F6BC5D6-E513-48D7-A5C2-297CEF345A59}" destId="{3ADD0AD6-B106-4495-AAC1-48DC933520EA}" srcOrd="2" destOrd="0" parTransId="{93525E52-CA47-444E-9718-09E87BC525AA}" sibTransId="{45D3B9BE-D6A9-423F-8831-6A61CF2F75E3}"/>
    <dgm:cxn modelId="{215C005C-CA39-4ACF-A69A-FDDFF225270F}" srcId="{5F6BC5D6-E513-48D7-A5C2-297CEF345A59}" destId="{CB6858CE-BAB6-408A-B5A7-3304F0BB33E4}" srcOrd="4" destOrd="0" parTransId="{6FBDD100-34B8-41D8-A76C-6DDCAE2EEEF9}" sibTransId="{E4E03B4A-CF80-4BFD-8D83-0A6AB97308D8}"/>
    <dgm:cxn modelId="{29E7485B-2382-4200-ADDC-190E76EABAFC}" srcId="{5F6BC5D6-E513-48D7-A5C2-297CEF345A59}" destId="{B1B9D289-A2BE-4262-95C7-44C15ED0F618}" srcOrd="1" destOrd="0" parTransId="{C6F75F5F-F38D-47E9-9451-F76679558083}" sibTransId="{3158451B-2C58-4278-9B0E-1A0A0C51EC84}"/>
    <dgm:cxn modelId="{29C70E38-CB43-4F39-B4AB-6A9B41A7C9D6}" type="presOf" srcId="{D4D3C437-3857-40ED-B5F7-1EA0D9003ADC}" destId="{8456F6A6-1CBD-409C-9EBF-07A54DCB26BD}" srcOrd="1" destOrd="0" presId="urn:microsoft.com/office/officeart/2005/8/layout/process5"/>
    <dgm:cxn modelId="{83840AFC-8CFF-4F29-9A2D-07E293E4ECAA}" type="presOf" srcId="{B1B9D289-A2BE-4262-95C7-44C15ED0F618}" destId="{D84BBD76-A7B1-43D2-B4FE-6B1F390DD576}" srcOrd="0" destOrd="0" presId="urn:microsoft.com/office/officeart/2005/8/layout/process5"/>
    <dgm:cxn modelId="{58BBAC5B-B8CA-4BE3-8353-AEEAFC196A71}" type="presOf" srcId="{E4E03B4A-CF80-4BFD-8D83-0A6AB97308D8}" destId="{E7EDE637-A933-4D5E-87DE-1D729F34082C}" srcOrd="0" destOrd="0" presId="urn:microsoft.com/office/officeart/2005/8/layout/process5"/>
    <dgm:cxn modelId="{C564F2FA-5F19-40D0-BBDA-37E1482DD64F}" type="presOf" srcId="{E4E03B4A-CF80-4BFD-8D83-0A6AB97308D8}" destId="{3247D201-3E72-46F0-A01A-7E33B30AC27D}" srcOrd="1" destOrd="0" presId="urn:microsoft.com/office/officeart/2005/8/layout/process5"/>
    <dgm:cxn modelId="{C2A2D6A9-AF24-40EE-979D-8FA0628EDA7E}" srcId="{5F6BC5D6-E513-48D7-A5C2-297CEF345A59}" destId="{1D4832C7-E25B-4AA9-8307-A4301AFB8ED4}" srcOrd="3" destOrd="0" parTransId="{C63BE10D-1A8E-4810-A1EB-01A582DD2ED2}" sibTransId="{025A66E1-99F1-4EB0-8F26-C68A0BB28809}"/>
    <dgm:cxn modelId="{7E187908-672E-4E5C-A6AF-033F055332F2}" srcId="{5F6BC5D6-E513-48D7-A5C2-297CEF345A59}" destId="{B04FBAF2-B4CC-451A-AFE2-1755C62AADDD}" srcOrd="6" destOrd="0" parTransId="{1C6743DD-01F5-4DDA-92CC-5483AFA3798C}" sibTransId="{D4D3C437-3857-40ED-B5F7-1EA0D9003ADC}"/>
    <dgm:cxn modelId="{27E0249D-1653-4D71-9FED-5B97D1C818FA}" type="presOf" srcId="{025A66E1-99F1-4EB0-8F26-C68A0BB28809}" destId="{D72B6CE0-923D-4070-9DB2-7C94AD87AFDB}" srcOrd="1" destOrd="0" presId="urn:microsoft.com/office/officeart/2005/8/layout/process5"/>
    <dgm:cxn modelId="{91C5D072-2E57-4D81-8C40-D74C4B85ABC8}" type="presOf" srcId="{3ADD0AD6-B106-4495-AAC1-48DC933520EA}" destId="{BB791311-8206-4696-B6E7-9F86E38B30C8}" srcOrd="0" destOrd="0" presId="urn:microsoft.com/office/officeart/2005/8/layout/process5"/>
    <dgm:cxn modelId="{60075E33-4302-465F-879A-E7A513395BD0}" type="presOf" srcId="{45D3B9BE-D6A9-423F-8831-6A61CF2F75E3}" destId="{3D96E21C-37EB-444B-955E-16B2DCE2222C}" srcOrd="1" destOrd="0" presId="urn:microsoft.com/office/officeart/2005/8/layout/process5"/>
    <dgm:cxn modelId="{237DDC16-F8F5-415B-96A5-9F8CD6A715AE}" type="presOf" srcId="{45D3B9BE-D6A9-423F-8831-6A61CF2F75E3}" destId="{90CE16B9-EB62-4ADF-A83C-1E72C577F402}" srcOrd="0" destOrd="0" presId="urn:microsoft.com/office/officeart/2005/8/layout/process5"/>
    <dgm:cxn modelId="{7F542349-C005-43FE-9BB3-6C6A565EE947}" type="presOf" srcId="{D533E5BB-653E-4A73-B5DC-D92CAB129B3B}" destId="{91928F40-903F-4DA1-99C8-B41B8BB444FD}" srcOrd="0" destOrd="0" presId="urn:microsoft.com/office/officeart/2005/8/layout/process5"/>
    <dgm:cxn modelId="{B3B08AA4-C0B8-4FE6-AE33-BB1B75BF49BE}" type="presOf" srcId="{5F1210C5-1CAF-438A-B681-2B65ACB26A29}" destId="{12ECECC9-9D70-4530-BC30-349A6F3E8F5F}" srcOrd="0" destOrd="0" presId="urn:microsoft.com/office/officeart/2005/8/layout/process5"/>
    <dgm:cxn modelId="{365DAB45-8779-4E03-B756-A5AC2C82FCA0}" type="presOf" srcId="{DA3B0B8D-2C1B-4468-8207-204848B2914B}" destId="{10EFD2D2-29C5-40D5-BFFF-55E447AD27B7}" srcOrd="1" destOrd="0" presId="urn:microsoft.com/office/officeart/2005/8/layout/process5"/>
    <dgm:cxn modelId="{BF897A3E-A610-470F-963B-86B1F6CC624A}" srcId="{5F6BC5D6-E513-48D7-A5C2-297CEF345A59}" destId="{D533E5BB-653E-4A73-B5DC-D92CAB129B3B}" srcOrd="5" destOrd="0" parTransId="{A34CF163-9C7D-4650-8EA7-72AD83CD5A07}" sibTransId="{A4811ADA-A8E8-441E-B758-15BACD24427E}"/>
    <dgm:cxn modelId="{B4D4B08E-5E11-4B3F-93D6-44B8EF629353}" type="presOf" srcId="{5F1210C5-1CAF-438A-B681-2B65ACB26A29}" destId="{E805EE5C-5765-4669-AC0E-CD09296396CA}" srcOrd="1" destOrd="0" presId="urn:microsoft.com/office/officeart/2005/8/layout/process5"/>
    <dgm:cxn modelId="{63F4D0F5-79D5-40A0-8E7E-461649744D20}" type="presOf" srcId="{06B1BAFC-D666-4120-AC7D-F61DA977DE78}" destId="{724DEEE3-A0DC-4964-903C-B2FA3B58C73B}" srcOrd="0" destOrd="0" presId="urn:microsoft.com/office/officeart/2005/8/layout/process5"/>
    <dgm:cxn modelId="{98CDA7BB-DB3F-4A02-BC37-37784BF29787}" type="presOf" srcId="{D4D3C437-3857-40ED-B5F7-1EA0D9003ADC}" destId="{60252E1C-CEEA-47CA-8163-B919B07FEDE2}" srcOrd="0" destOrd="0" presId="urn:microsoft.com/office/officeart/2005/8/layout/process5"/>
    <dgm:cxn modelId="{15C9502E-45AD-4D08-9D33-FD980BCBEFC6}" type="presOf" srcId="{A4811ADA-A8E8-441E-B758-15BACD24427E}" destId="{A19FE532-135D-4503-B735-CFCFB06F8DBD}" srcOrd="1" destOrd="0" presId="urn:microsoft.com/office/officeart/2005/8/layout/process5"/>
    <dgm:cxn modelId="{95D40858-EA95-42FC-96DC-C6405F7FA858}" srcId="{5F6BC5D6-E513-48D7-A5C2-297CEF345A59}" destId="{06B1BAFC-D666-4120-AC7D-F61DA977DE78}" srcOrd="0" destOrd="0" parTransId="{06164C81-947B-43AC-B162-D9560BA83F16}" sibTransId="{DA3B0B8D-2C1B-4468-8207-204848B2914B}"/>
    <dgm:cxn modelId="{90C1EB2F-D34C-4A6C-B489-5254DC8B09DE}" type="presOf" srcId="{B04FBAF2-B4CC-451A-AFE2-1755C62AADDD}" destId="{B1797B30-CA03-4D29-BF27-93314AB6C671}" srcOrd="0" destOrd="0" presId="urn:microsoft.com/office/officeart/2005/8/layout/process5"/>
    <dgm:cxn modelId="{E1E4DAEC-41C2-4437-BDE5-6855D327AAF4}" srcId="{5F6BC5D6-E513-48D7-A5C2-297CEF345A59}" destId="{95D99D86-7040-4C9E-9245-129B84039C8C}" srcOrd="7" destOrd="0" parTransId="{B6C3B502-E131-4343-8FC6-C24033C635A0}" sibTransId="{5F1210C5-1CAF-438A-B681-2B65ACB26A29}"/>
    <dgm:cxn modelId="{07537CB0-9ADA-443F-9758-D891EEE60F50}" type="presOf" srcId="{95D99D86-7040-4C9E-9245-129B84039C8C}" destId="{597E963E-6A28-4129-9EA9-60E2C1FECAA3}" srcOrd="0" destOrd="0" presId="urn:microsoft.com/office/officeart/2005/8/layout/process5"/>
    <dgm:cxn modelId="{41BCF2E4-FEC8-4562-8D78-064689206D1F}" type="presOf" srcId="{3158451B-2C58-4278-9B0E-1A0A0C51EC84}" destId="{8D481DDF-EB0D-4FE6-BC11-15AD1D66F03B}" srcOrd="0" destOrd="0" presId="urn:microsoft.com/office/officeart/2005/8/layout/process5"/>
    <dgm:cxn modelId="{9016FE20-D4C2-4FE8-A823-0D2CA74A2505}" srcId="{5F6BC5D6-E513-48D7-A5C2-297CEF345A59}" destId="{7DB4137F-75E0-4042-A86B-31BEEA5764E4}" srcOrd="8" destOrd="0" parTransId="{1F502A5A-629A-4723-9EBA-C8F61727CD48}" sibTransId="{E7AB4DE3-F5A8-4333-912A-62C2A9CE5CB8}"/>
    <dgm:cxn modelId="{27213FF6-CC76-4DB1-B330-969297C6FAF0}" type="presOf" srcId="{CB6858CE-BAB6-408A-B5A7-3304F0BB33E4}" destId="{92AAF19B-11F2-49A9-A335-B2FDA726E975}" srcOrd="0" destOrd="0" presId="urn:microsoft.com/office/officeart/2005/8/layout/process5"/>
    <dgm:cxn modelId="{E046ACC6-CA4B-4563-896E-8BC5AA94CA71}" type="presOf" srcId="{5F6BC5D6-E513-48D7-A5C2-297CEF345A59}" destId="{0F39A121-B992-4F86-A3E4-DFA3F8880722}" srcOrd="0" destOrd="0" presId="urn:microsoft.com/office/officeart/2005/8/layout/process5"/>
    <dgm:cxn modelId="{918D1729-8C04-43AF-A926-F6860F45D3AC}" type="presOf" srcId="{DA3B0B8D-2C1B-4468-8207-204848B2914B}" destId="{40ED9738-6C10-409D-BB02-60033C9D385F}" srcOrd="0" destOrd="0" presId="urn:microsoft.com/office/officeart/2005/8/layout/process5"/>
    <dgm:cxn modelId="{E2A6FF3C-3476-49E3-B612-E2904611020F}" type="presOf" srcId="{3158451B-2C58-4278-9B0E-1A0A0C51EC84}" destId="{6CA9B746-E933-4E99-8093-286661B343D8}" srcOrd="1" destOrd="0" presId="urn:microsoft.com/office/officeart/2005/8/layout/process5"/>
    <dgm:cxn modelId="{C922C356-77FD-40D5-862D-FC81C2305227}" type="presOf" srcId="{1D4832C7-E25B-4AA9-8307-A4301AFB8ED4}" destId="{610F61D6-5A75-47BE-B51A-79F83F03C91F}" srcOrd="0" destOrd="0" presId="urn:microsoft.com/office/officeart/2005/8/layout/process5"/>
    <dgm:cxn modelId="{15CEE63A-EF69-4780-9812-CD8F611607A2}" type="presOf" srcId="{7DB4137F-75E0-4042-A86B-31BEEA5764E4}" destId="{3AD06624-1428-44FD-A026-63BED6F893CE}" srcOrd="0" destOrd="0" presId="urn:microsoft.com/office/officeart/2005/8/layout/process5"/>
    <dgm:cxn modelId="{4D5F7CBA-FFE0-47C1-9BC7-9C22D4C5127E}" type="presParOf" srcId="{0F39A121-B992-4F86-A3E4-DFA3F8880722}" destId="{724DEEE3-A0DC-4964-903C-B2FA3B58C73B}" srcOrd="0" destOrd="0" presId="urn:microsoft.com/office/officeart/2005/8/layout/process5"/>
    <dgm:cxn modelId="{726CCFC0-3F7A-4012-9130-43F6ACBAB7B8}" type="presParOf" srcId="{0F39A121-B992-4F86-A3E4-DFA3F8880722}" destId="{40ED9738-6C10-409D-BB02-60033C9D385F}" srcOrd="1" destOrd="0" presId="urn:microsoft.com/office/officeart/2005/8/layout/process5"/>
    <dgm:cxn modelId="{FE3A65CB-1C2C-47F7-8E96-D5C1DFAE53A2}" type="presParOf" srcId="{40ED9738-6C10-409D-BB02-60033C9D385F}" destId="{10EFD2D2-29C5-40D5-BFFF-55E447AD27B7}" srcOrd="0" destOrd="0" presId="urn:microsoft.com/office/officeart/2005/8/layout/process5"/>
    <dgm:cxn modelId="{340CEE9F-66A7-4153-9FA3-4303040D310E}" type="presParOf" srcId="{0F39A121-B992-4F86-A3E4-DFA3F8880722}" destId="{D84BBD76-A7B1-43D2-B4FE-6B1F390DD576}" srcOrd="2" destOrd="0" presId="urn:microsoft.com/office/officeart/2005/8/layout/process5"/>
    <dgm:cxn modelId="{A9692DCB-3760-4DE0-A0B6-AACBB963D2C7}" type="presParOf" srcId="{0F39A121-B992-4F86-A3E4-DFA3F8880722}" destId="{8D481DDF-EB0D-4FE6-BC11-15AD1D66F03B}" srcOrd="3" destOrd="0" presId="urn:microsoft.com/office/officeart/2005/8/layout/process5"/>
    <dgm:cxn modelId="{9B5A358A-DD07-44F3-BF7D-AF9AF399665A}" type="presParOf" srcId="{8D481DDF-EB0D-4FE6-BC11-15AD1D66F03B}" destId="{6CA9B746-E933-4E99-8093-286661B343D8}" srcOrd="0" destOrd="0" presId="urn:microsoft.com/office/officeart/2005/8/layout/process5"/>
    <dgm:cxn modelId="{3ECFDBD7-426C-4BB4-A43D-465C92BCA7B5}" type="presParOf" srcId="{0F39A121-B992-4F86-A3E4-DFA3F8880722}" destId="{BB791311-8206-4696-B6E7-9F86E38B30C8}" srcOrd="4" destOrd="0" presId="urn:microsoft.com/office/officeart/2005/8/layout/process5"/>
    <dgm:cxn modelId="{14411144-FB73-45B8-BE01-0307FD0ABAB3}" type="presParOf" srcId="{0F39A121-B992-4F86-A3E4-DFA3F8880722}" destId="{90CE16B9-EB62-4ADF-A83C-1E72C577F402}" srcOrd="5" destOrd="0" presId="urn:microsoft.com/office/officeart/2005/8/layout/process5"/>
    <dgm:cxn modelId="{17914BFE-A4F4-4C66-AA35-5D98F7D92CD8}" type="presParOf" srcId="{90CE16B9-EB62-4ADF-A83C-1E72C577F402}" destId="{3D96E21C-37EB-444B-955E-16B2DCE2222C}" srcOrd="0" destOrd="0" presId="urn:microsoft.com/office/officeart/2005/8/layout/process5"/>
    <dgm:cxn modelId="{31E75F98-D2F4-425D-9C09-C83C03D25CDC}" type="presParOf" srcId="{0F39A121-B992-4F86-A3E4-DFA3F8880722}" destId="{610F61D6-5A75-47BE-B51A-79F83F03C91F}" srcOrd="6" destOrd="0" presId="urn:microsoft.com/office/officeart/2005/8/layout/process5"/>
    <dgm:cxn modelId="{411B61DE-E781-4272-8449-A3FE6FA994AF}" type="presParOf" srcId="{0F39A121-B992-4F86-A3E4-DFA3F8880722}" destId="{D35A0955-4901-4DF1-B2DC-C68C59D0BBC8}" srcOrd="7" destOrd="0" presId="urn:microsoft.com/office/officeart/2005/8/layout/process5"/>
    <dgm:cxn modelId="{3F2C1068-9559-4C07-858D-DC5EA143A3D1}" type="presParOf" srcId="{D35A0955-4901-4DF1-B2DC-C68C59D0BBC8}" destId="{D72B6CE0-923D-4070-9DB2-7C94AD87AFDB}" srcOrd="0" destOrd="0" presId="urn:microsoft.com/office/officeart/2005/8/layout/process5"/>
    <dgm:cxn modelId="{02345A87-2598-4D24-B712-3EF8268FB7F4}" type="presParOf" srcId="{0F39A121-B992-4F86-A3E4-DFA3F8880722}" destId="{92AAF19B-11F2-49A9-A335-B2FDA726E975}" srcOrd="8" destOrd="0" presId="urn:microsoft.com/office/officeart/2005/8/layout/process5"/>
    <dgm:cxn modelId="{C45F6DF6-B1C6-42BE-A0D6-0F7584D2548E}" type="presParOf" srcId="{0F39A121-B992-4F86-A3E4-DFA3F8880722}" destId="{E7EDE637-A933-4D5E-87DE-1D729F34082C}" srcOrd="9" destOrd="0" presId="urn:microsoft.com/office/officeart/2005/8/layout/process5"/>
    <dgm:cxn modelId="{4E017DBB-58DC-499B-BD77-A1C4B78C884D}" type="presParOf" srcId="{E7EDE637-A933-4D5E-87DE-1D729F34082C}" destId="{3247D201-3E72-46F0-A01A-7E33B30AC27D}" srcOrd="0" destOrd="0" presId="urn:microsoft.com/office/officeart/2005/8/layout/process5"/>
    <dgm:cxn modelId="{C8BACB0F-CE64-498E-B121-D303BACF5A9D}" type="presParOf" srcId="{0F39A121-B992-4F86-A3E4-DFA3F8880722}" destId="{91928F40-903F-4DA1-99C8-B41B8BB444FD}" srcOrd="10" destOrd="0" presId="urn:microsoft.com/office/officeart/2005/8/layout/process5"/>
    <dgm:cxn modelId="{CB4C6BF5-1683-485B-9DAF-196D2E468810}" type="presParOf" srcId="{0F39A121-B992-4F86-A3E4-DFA3F8880722}" destId="{FA34C599-A5E8-4C75-82F1-822DAB490765}" srcOrd="11" destOrd="0" presId="urn:microsoft.com/office/officeart/2005/8/layout/process5"/>
    <dgm:cxn modelId="{51910D8B-D28B-47EC-9CBD-199EF26DD557}" type="presParOf" srcId="{FA34C599-A5E8-4C75-82F1-822DAB490765}" destId="{A19FE532-135D-4503-B735-CFCFB06F8DBD}" srcOrd="0" destOrd="0" presId="urn:microsoft.com/office/officeart/2005/8/layout/process5"/>
    <dgm:cxn modelId="{2C612E7A-21B9-4C7F-B51E-B26D647D2EAC}" type="presParOf" srcId="{0F39A121-B992-4F86-A3E4-DFA3F8880722}" destId="{B1797B30-CA03-4D29-BF27-93314AB6C671}" srcOrd="12" destOrd="0" presId="urn:microsoft.com/office/officeart/2005/8/layout/process5"/>
    <dgm:cxn modelId="{BF2FD0E7-F242-46B0-B593-18A1B372DFF7}" type="presParOf" srcId="{0F39A121-B992-4F86-A3E4-DFA3F8880722}" destId="{60252E1C-CEEA-47CA-8163-B919B07FEDE2}" srcOrd="13" destOrd="0" presId="urn:microsoft.com/office/officeart/2005/8/layout/process5"/>
    <dgm:cxn modelId="{FA3A5C6F-BCA1-4C01-987E-0BAB7D5116EA}" type="presParOf" srcId="{60252E1C-CEEA-47CA-8163-B919B07FEDE2}" destId="{8456F6A6-1CBD-409C-9EBF-07A54DCB26BD}" srcOrd="0" destOrd="0" presId="urn:microsoft.com/office/officeart/2005/8/layout/process5"/>
    <dgm:cxn modelId="{9D40D1A7-1541-4574-AD33-186F76DE348F}" type="presParOf" srcId="{0F39A121-B992-4F86-A3E4-DFA3F8880722}" destId="{597E963E-6A28-4129-9EA9-60E2C1FECAA3}" srcOrd="14" destOrd="0" presId="urn:microsoft.com/office/officeart/2005/8/layout/process5"/>
    <dgm:cxn modelId="{58F99D08-8516-45AC-92A2-E74C7695410F}" type="presParOf" srcId="{0F39A121-B992-4F86-A3E4-DFA3F8880722}" destId="{12ECECC9-9D70-4530-BC30-349A6F3E8F5F}" srcOrd="15" destOrd="0" presId="urn:microsoft.com/office/officeart/2005/8/layout/process5"/>
    <dgm:cxn modelId="{58295BCE-2A5E-4EAF-94E6-0598F7E3F97D}" type="presParOf" srcId="{12ECECC9-9D70-4530-BC30-349A6F3E8F5F}" destId="{E805EE5C-5765-4669-AC0E-CD09296396CA}" srcOrd="0" destOrd="0" presId="urn:microsoft.com/office/officeart/2005/8/layout/process5"/>
    <dgm:cxn modelId="{7F380E0E-16C5-4B64-BC3E-90415B5E0A5F}" type="presParOf" srcId="{0F39A121-B992-4F86-A3E4-DFA3F8880722}" destId="{3AD06624-1428-44FD-A026-63BED6F893CE}" srcOrd="1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4DEEE3-A0DC-4964-903C-B2FA3B58C73B}">
      <dsp:nvSpPr>
        <dsp:cNvPr id="0" name=""/>
        <dsp:cNvSpPr/>
      </dsp:nvSpPr>
      <dsp:spPr>
        <a:xfrm>
          <a:off x="211507" y="940"/>
          <a:ext cx="2136978" cy="1022404"/>
        </a:xfrm>
        <a:prstGeom prst="roundRect">
          <a:avLst>
            <a:gd name="adj" fmla="val 10000"/>
          </a:avLst>
        </a:prstGeom>
        <a:solidFill>
          <a:srgbClr val="DEE7B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研究題目界定</a:t>
          </a:r>
        </a:p>
      </dsp:txBody>
      <dsp:txXfrm>
        <a:off x="241452" y="30885"/>
        <a:ext cx="2077088" cy="962514"/>
      </dsp:txXfrm>
    </dsp:sp>
    <dsp:sp modelId="{40ED9738-6C10-409D-BB02-60033C9D385F}">
      <dsp:nvSpPr>
        <dsp:cNvPr id="0" name=""/>
        <dsp:cNvSpPr/>
      </dsp:nvSpPr>
      <dsp:spPr>
        <a:xfrm>
          <a:off x="2498439" y="300845"/>
          <a:ext cx="361249" cy="42259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TW" altLang="en-US" sz="1200" b="1" u="sng" kern="1200">
            <a:solidFill>
              <a:schemeClr val="tx1"/>
            </a:solidFill>
            <a:latin typeface="標楷體" panose="03000509000000000000" pitchFamily="65" charset="-120"/>
            <a:ea typeface="標楷體" panose="03000509000000000000" pitchFamily="65" charset="-120"/>
          </a:endParaRPr>
        </a:p>
      </dsp:txBody>
      <dsp:txXfrm>
        <a:off x="2498439" y="385364"/>
        <a:ext cx="252874" cy="253555"/>
      </dsp:txXfrm>
    </dsp:sp>
    <dsp:sp modelId="{D84BBD76-A7B1-43D2-B4FE-6B1F390DD576}">
      <dsp:nvSpPr>
        <dsp:cNvPr id="0" name=""/>
        <dsp:cNvSpPr/>
      </dsp:nvSpPr>
      <dsp:spPr>
        <a:xfrm>
          <a:off x="3030089" y="940"/>
          <a:ext cx="1704007" cy="1022404"/>
        </a:xfrm>
        <a:prstGeom prst="roundRect">
          <a:avLst>
            <a:gd name="adj" fmla="val 10000"/>
          </a:avLst>
        </a:prstGeom>
        <a:solidFill>
          <a:srgbClr val="DEE7B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研究背景</a:t>
          </a:r>
          <a:r>
            <a:rPr lang="en-US" altLang="zh-TW" sz="2000" b="1" u="none" kern="1200" dirty="0">
              <a:solidFill>
                <a:schemeClr val="tx1"/>
              </a:solidFill>
              <a:latin typeface="標楷體" panose="03000509000000000000" pitchFamily="65" charset="-120"/>
              <a:ea typeface="標楷體" panose="03000509000000000000" pitchFamily="65" charset="-120"/>
            </a:rPr>
            <a:t/>
          </a:r>
          <a:br>
            <a:rPr lang="en-US" altLang="zh-TW" sz="2000" b="1" u="none" kern="1200" dirty="0">
              <a:solidFill>
                <a:schemeClr val="tx1"/>
              </a:solidFill>
              <a:latin typeface="標楷體" panose="03000509000000000000" pitchFamily="65" charset="-120"/>
              <a:ea typeface="標楷體" panose="03000509000000000000" pitchFamily="65" charset="-120"/>
            </a:rPr>
          </a:br>
          <a:r>
            <a:rPr lang="zh-TW" altLang="en-US" sz="2000" b="1" u="none" kern="1200" dirty="0">
              <a:solidFill>
                <a:schemeClr val="tx1"/>
              </a:solidFill>
              <a:latin typeface="標楷體" panose="03000509000000000000" pitchFamily="65" charset="-120"/>
              <a:ea typeface="標楷體" panose="03000509000000000000" pitchFamily="65" charset="-120"/>
            </a:rPr>
            <a:t>動機與目的</a:t>
          </a:r>
        </a:p>
      </dsp:txBody>
      <dsp:txXfrm>
        <a:off x="3060034" y="30885"/>
        <a:ext cx="1644117" cy="962514"/>
      </dsp:txXfrm>
    </dsp:sp>
    <dsp:sp modelId="{8D481DDF-EB0D-4FE6-BC11-15AD1D66F03B}">
      <dsp:nvSpPr>
        <dsp:cNvPr id="0" name=""/>
        <dsp:cNvSpPr/>
      </dsp:nvSpPr>
      <dsp:spPr>
        <a:xfrm>
          <a:off x="4884049" y="300845"/>
          <a:ext cx="361249" cy="42259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TW" altLang="en-US" sz="1200" b="1" u="sng" kern="1200">
            <a:solidFill>
              <a:schemeClr val="tx1"/>
            </a:solidFill>
            <a:latin typeface="標楷體" panose="03000509000000000000" pitchFamily="65" charset="-120"/>
            <a:ea typeface="標楷體" panose="03000509000000000000" pitchFamily="65" charset="-120"/>
          </a:endParaRPr>
        </a:p>
      </dsp:txBody>
      <dsp:txXfrm>
        <a:off x="4884049" y="385364"/>
        <a:ext cx="252874" cy="253555"/>
      </dsp:txXfrm>
    </dsp:sp>
    <dsp:sp modelId="{BB791311-8206-4696-B6E7-9F86E38B30C8}">
      <dsp:nvSpPr>
        <dsp:cNvPr id="0" name=""/>
        <dsp:cNvSpPr/>
      </dsp:nvSpPr>
      <dsp:spPr>
        <a:xfrm>
          <a:off x="5415700" y="940"/>
          <a:ext cx="1704007" cy="1022404"/>
        </a:xfrm>
        <a:prstGeom prst="roundRect">
          <a:avLst>
            <a:gd name="adj" fmla="val 10000"/>
          </a:avLst>
        </a:prstGeom>
        <a:solidFill>
          <a:srgbClr val="DEE7B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文獻探討</a:t>
          </a:r>
        </a:p>
      </dsp:txBody>
      <dsp:txXfrm>
        <a:off x="5445645" y="30885"/>
        <a:ext cx="1644117" cy="962514"/>
      </dsp:txXfrm>
    </dsp:sp>
    <dsp:sp modelId="{90CE16B9-EB62-4ADF-A83C-1E72C577F402}">
      <dsp:nvSpPr>
        <dsp:cNvPr id="0" name=""/>
        <dsp:cNvSpPr/>
      </dsp:nvSpPr>
      <dsp:spPr>
        <a:xfrm rot="5400000">
          <a:off x="6087079" y="1142625"/>
          <a:ext cx="361249" cy="42259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TW" altLang="en-US" sz="1200" b="1" u="sng" kern="1200">
            <a:solidFill>
              <a:schemeClr val="tx1"/>
            </a:solidFill>
            <a:latin typeface="標楷體" panose="03000509000000000000" pitchFamily="65" charset="-120"/>
            <a:ea typeface="標楷體" panose="03000509000000000000" pitchFamily="65" charset="-120"/>
          </a:endParaRPr>
        </a:p>
      </dsp:txBody>
      <dsp:txXfrm rot="-5400000">
        <a:off x="6140927" y="1173297"/>
        <a:ext cx="253555" cy="252874"/>
      </dsp:txXfrm>
    </dsp:sp>
    <dsp:sp modelId="{610F61D6-5A75-47BE-B51A-79F83F03C91F}">
      <dsp:nvSpPr>
        <dsp:cNvPr id="0" name=""/>
        <dsp:cNvSpPr/>
      </dsp:nvSpPr>
      <dsp:spPr>
        <a:xfrm>
          <a:off x="5415700" y="1704947"/>
          <a:ext cx="1704007" cy="1022404"/>
        </a:xfrm>
        <a:prstGeom prst="roundRect">
          <a:avLst>
            <a:gd name="adj" fmla="val 10000"/>
          </a:avLst>
        </a:prstGeom>
        <a:solidFill>
          <a:srgbClr val="DEE7B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研究假說及觀念架構</a:t>
          </a:r>
        </a:p>
      </dsp:txBody>
      <dsp:txXfrm>
        <a:off x="5445645" y="1734892"/>
        <a:ext cx="1644117" cy="962514"/>
      </dsp:txXfrm>
    </dsp:sp>
    <dsp:sp modelId="{D35A0955-4901-4DF1-B2DC-C68C59D0BBC8}">
      <dsp:nvSpPr>
        <dsp:cNvPr id="0" name=""/>
        <dsp:cNvSpPr/>
      </dsp:nvSpPr>
      <dsp:spPr>
        <a:xfrm rot="10800000">
          <a:off x="4904497" y="2004853"/>
          <a:ext cx="361249" cy="42259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TW" altLang="en-US" sz="1200" b="1" u="sng" kern="1200">
            <a:solidFill>
              <a:schemeClr val="tx1"/>
            </a:solidFill>
            <a:latin typeface="標楷體" panose="03000509000000000000" pitchFamily="65" charset="-120"/>
            <a:ea typeface="標楷體" panose="03000509000000000000" pitchFamily="65" charset="-120"/>
          </a:endParaRPr>
        </a:p>
      </dsp:txBody>
      <dsp:txXfrm rot="10800000">
        <a:off x="5012872" y="2089372"/>
        <a:ext cx="252874" cy="253555"/>
      </dsp:txXfrm>
    </dsp:sp>
    <dsp:sp modelId="{92AAF19B-11F2-49A9-A335-B2FDA726E975}">
      <dsp:nvSpPr>
        <dsp:cNvPr id="0" name=""/>
        <dsp:cNvSpPr/>
      </dsp:nvSpPr>
      <dsp:spPr>
        <a:xfrm>
          <a:off x="3030089" y="1704947"/>
          <a:ext cx="1704007" cy="1022404"/>
        </a:xfrm>
        <a:prstGeom prst="roundRect">
          <a:avLst>
            <a:gd name="adj" fmla="val 10000"/>
          </a:avLst>
        </a:prstGeom>
        <a:solidFill>
          <a:schemeClr val="accent1">
            <a:lumMod val="20000"/>
            <a:lumOff val="80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研究設計</a:t>
          </a:r>
        </a:p>
      </dsp:txBody>
      <dsp:txXfrm>
        <a:off x="3060034" y="1734892"/>
        <a:ext cx="1644117" cy="962514"/>
      </dsp:txXfrm>
    </dsp:sp>
    <dsp:sp modelId="{E7EDE637-A933-4D5E-87DE-1D729F34082C}">
      <dsp:nvSpPr>
        <dsp:cNvPr id="0" name=""/>
        <dsp:cNvSpPr/>
      </dsp:nvSpPr>
      <dsp:spPr>
        <a:xfrm rot="10800000">
          <a:off x="2518887" y="2004853"/>
          <a:ext cx="361249" cy="42259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TW" altLang="en-US" sz="1200" b="1" u="sng" kern="1200">
            <a:solidFill>
              <a:schemeClr val="tx1"/>
            </a:solidFill>
            <a:latin typeface="標楷體" panose="03000509000000000000" pitchFamily="65" charset="-120"/>
            <a:ea typeface="標楷體" panose="03000509000000000000" pitchFamily="65" charset="-120"/>
          </a:endParaRPr>
        </a:p>
      </dsp:txBody>
      <dsp:txXfrm rot="10800000">
        <a:off x="2627262" y="2089372"/>
        <a:ext cx="252874" cy="253555"/>
      </dsp:txXfrm>
    </dsp:sp>
    <dsp:sp modelId="{91928F40-903F-4DA1-99C8-B41B8BB444FD}">
      <dsp:nvSpPr>
        <dsp:cNvPr id="0" name=""/>
        <dsp:cNvSpPr/>
      </dsp:nvSpPr>
      <dsp:spPr>
        <a:xfrm>
          <a:off x="644478" y="1704947"/>
          <a:ext cx="1704007" cy="1022404"/>
        </a:xfrm>
        <a:prstGeom prst="roundRect">
          <a:avLst>
            <a:gd name="adj" fmla="val 10000"/>
          </a:avLst>
        </a:prstGeom>
        <a:solidFill>
          <a:schemeClr val="accent1">
            <a:lumMod val="20000"/>
            <a:lumOff val="8000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資料蒐集</a:t>
          </a:r>
          <a:r>
            <a:rPr lang="en-US" altLang="zh-TW" sz="2000" b="1" u="none" kern="1200" dirty="0">
              <a:solidFill>
                <a:schemeClr val="tx1"/>
              </a:solidFill>
              <a:latin typeface="標楷體" panose="03000509000000000000" pitchFamily="65" charset="-120"/>
              <a:ea typeface="標楷體" panose="03000509000000000000" pitchFamily="65" charset="-120"/>
            </a:rPr>
            <a:t/>
          </a:r>
          <a:br>
            <a:rPr lang="en-US" altLang="zh-TW" sz="2000" b="1" u="none" kern="1200" dirty="0">
              <a:solidFill>
                <a:schemeClr val="tx1"/>
              </a:solidFill>
              <a:latin typeface="標楷體" panose="03000509000000000000" pitchFamily="65" charset="-120"/>
              <a:ea typeface="標楷體" panose="03000509000000000000" pitchFamily="65" charset="-120"/>
            </a:rPr>
          </a:br>
          <a:r>
            <a:rPr lang="zh-TW" altLang="en-US" sz="2000" b="1" u="none" kern="1200" dirty="0">
              <a:solidFill>
                <a:schemeClr val="tx1"/>
              </a:solidFill>
              <a:latin typeface="標楷體" panose="03000509000000000000" pitchFamily="65" charset="-120"/>
              <a:ea typeface="標楷體" panose="03000509000000000000" pitchFamily="65" charset="-120"/>
            </a:rPr>
            <a:t>分析與結果</a:t>
          </a:r>
        </a:p>
      </dsp:txBody>
      <dsp:txXfrm>
        <a:off x="674423" y="1734892"/>
        <a:ext cx="1644117" cy="962514"/>
      </dsp:txXfrm>
    </dsp:sp>
    <dsp:sp modelId="{FA34C599-A5E8-4C75-82F1-822DAB490765}">
      <dsp:nvSpPr>
        <dsp:cNvPr id="0" name=""/>
        <dsp:cNvSpPr/>
      </dsp:nvSpPr>
      <dsp:spPr>
        <a:xfrm rot="5400000">
          <a:off x="1315857" y="2846632"/>
          <a:ext cx="361249" cy="42259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TW" altLang="en-US" sz="1200" b="1" u="sng" kern="1200">
            <a:solidFill>
              <a:schemeClr val="tx1"/>
            </a:solidFill>
            <a:latin typeface="標楷體" panose="03000509000000000000" pitchFamily="65" charset="-120"/>
            <a:ea typeface="標楷體" panose="03000509000000000000" pitchFamily="65" charset="-120"/>
          </a:endParaRPr>
        </a:p>
      </dsp:txBody>
      <dsp:txXfrm rot="-5400000">
        <a:off x="1369705" y="2877304"/>
        <a:ext cx="253555" cy="252874"/>
      </dsp:txXfrm>
    </dsp:sp>
    <dsp:sp modelId="{B1797B30-CA03-4D29-BF27-93314AB6C671}">
      <dsp:nvSpPr>
        <dsp:cNvPr id="0" name=""/>
        <dsp:cNvSpPr/>
      </dsp:nvSpPr>
      <dsp:spPr>
        <a:xfrm>
          <a:off x="644478" y="3408955"/>
          <a:ext cx="1704007" cy="1022404"/>
        </a:xfrm>
        <a:prstGeom prst="roundRect">
          <a:avLst>
            <a:gd name="adj" fmla="val 10000"/>
          </a:avLst>
        </a:prstGeom>
        <a:solidFill>
          <a:srgbClr val="DEE7B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研究結果</a:t>
          </a:r>
          <a:r>
            <a:rPr lang="en-US" altLang="zh-TW" sz="2000" b="1" u="none" kern="1200" dirty="0">
              <a:solidFill>
                <a:schemeClr val="tx1"/>
              </a:solidFill>
              <a:latin typeface="標楷體" panose="03000509000000000000" pitchFamily="65" charset="-120"/>
              <a:ea typeface="標楷體" panose="03000509000000000000" pitchFamily="65" charset="-120"/>
            </a:rPr>
            <a:t/>
          </a:r>
          <a:br>
            <a:rPr lang="en-US" altLang="zh-TW" sz="2000" b="1" u="none" kern="1200" dirty="0">
              <a:solidFill>
                <a:schemeClr val="tx1"/>
              </a:solidFill>
              <a:latin typeface="標楷體" panose="03000509000000000000" pitchFamily="65" charset="-120"/>
              <a:ea typeface="標楷體" panose="03000509000000000000" pitchFamily="65" charset="-120"/>
            </a:rPr>
          </a:br>
          <a:r>
            <a:rPr lang="zh-TW" altLang="en-US" sz="2000" b="1" u="none" kern="1200" dirty="0">
              <a:solidFill>
                <a:schemeClr val="tx1"/>
              </a:solidFill>
              <a:latin typeface="標楷體" panose="03000509000000000000" pitchFamily="65" charset="-120"/>
              <a:ea typeface="標楷體" panose="03000509000000000000" pitchFamily="65" charset="-120"/>
            </a:rPr>
            <a:t>之討論</a:t>
          </a:r>
        </a:p>
      </dsp:txBody>
      <dsp:txXfrm>
        <a:off x="674423" y="3438900"/>
        <a:ext cx="1644117" cy="962514"/>
      </dsp:txXfrm>
    </dsp:sp>
    <dsp:sp modelId="{60252E1C-CEEA-47CA-8163-B919B07FEDE2}">
      <dsp:nvSpPr>
        <dsp:cNvPr id="0" name=""/>
        <dsp:cNvSpPr/>
      </dsp:nvSpPr>
      <dsp:spPr>
        <a:xfrm>
          <a:off x="2498439" y="3708860"/>
          <a:ext cx="361249" cy="422593"/>
        </a:xfrm>
        <a:prstGeom prst="rightArrow">
          <a:avLst>
            <a:gd name="adj1" fmla="val 60000"/>
            <a:gd name="adj2" fmla="val 50000"/>
          </a:avLst>
        </a:prstGeom>
        <a:solidFill>
          <a:srgbClr val="00B05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zh-TW" altLang="en-US" sz="1900" b="1" u="sng" kern="1200"/>
        </a:p>
      </dsp:txBody>
      <dsp:txXfrm>
        <a:off x="2498439" y="3793379"/>
        <a:ext cx="252874" cy="253555"/>
      </dsp:txXfrm>
    </dsp:sp>
    <dsp:sp modelId="{597E963E-6A28-4129-9EA9-60E2C1FECAA3}">
      <dsp:nvSpPr>
        <dsp:cNvPr id="0" name=""/>
        <dsp:cNvSpPr/>
      </dsp:nvSpPr>
      <dsp:spPr>
        <a:xfrm>
          <a:off x="3030089" y="3408955"/>
          <a:ext cx="1704007" cy="1022404"/>
        </a:xfrm>
        <a:prstGeom prst="roundRect">
          <a:avLst>
            <a:gd name="adj" fmla="val 10000"/>
          </a:avLst>
        </a:prstGeom>
        <a:solidFill>
          <a:srgbClr val="DEE7B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TW" altLang="en-US" sz="2000" b="1" u="none" kern="1200" dirty="0">
              <a:solidFill>
                <a:schemeClr val="tx1"/>
              </a:solidFill>
              <a:latin typeface="標楷體" panose="03000509000000000000" pitchFamily="65" charset="-120"/>
              <a:ea typeface="標楷體" panose="03000509000000000000" pitchFamily="65" charset="-120"/>
            </a:rPr>
            <a:t>研究限制</a:t>
          </a:r>
          <a:r>
            <a:rPr lang="en-US" altLang="zh-TW" sz="2000" b="1" u="none" kern="1200" dirty="0">
              <a:solidFill>
                <a:schemeClr val="tx1"/>
              </a:solidFill>
              <a:latin typeface="標楷體" panose="03000509000000000000" pitchFamily="65" charset="-120"/>
              <a:ea typeface="標楷體" panose="03000509000000000000" pitchFamily="65" charset="-120"/>
            </a:rPr>
            <a:t/>
          </a:r>
          <a:br>
            <a:rPr lang="en-US" altLang="zh-TW" sz="2000" b="1" u="none" kern="1200" dirty="0">
              <a:solidFill>
                <a:schemeClr val="tx1"/>
              </a:solidFill>
              <a:latin typeface="標楷體" panose="03000509000000000000" pitchFamily="65" charset="-120"/>
              <a:ea typeface="標楷體" panose="03000509000000000000" pitchFamily="65" charset="-120"/>
            </a:rPr>
          </a:br>
          <a:r>
            <a:rPr lang="zh-TW" altLang="en-US" sz="2000" b="1" u="none" kern="1200" dirty="0">
              <a:solidFill>
                <a:schemeClr val="tx1"/>
              </a:solidFill>
              <a:latin typeface="標楷體" panose="03000509000000000000" pitchFamily="65" charset="-120"/>
              <a:ea typeface="標楷體" panose="03000509000000000000" pitchFamily="65" charset="-120"/>
            </a:rPr>
            <a:t>結論及建議</a:t>
          </a:r>
        </a:p>
      </dsp:txBody>
      <dsp:txXfrm>
        <a:off x="3060034" y="3438900"/>
        <a:ext cx="1644117" cy="962514"/>
      </dsp:txXfrm>
    </dsp:sp>
    <dsp:sp modelId="{12ECECC9-9D70-4530-BC30-349A6F3E8F5F}">
      <dsp:nvSpPr>
        <dsp:cNvPr id="0" name=""/>
        <dsp:cNvSpPr/>
      </dsp:nvSpPr>
      <dsp:spPr>
        <a:xfrm>
          <a:off x="4884049" y="3708860"/>
          <a:ext cx="361249" cy="422593"/>
        </a:xfrm>
        <a:prstGeom prst="rightArrow">
          <a:avLst>
            <a:gd name="adj1" fmla="val 600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zh-TW" altLang="en-US" sz="1900" b="1" u="sng" kern="1200"/>
        </a:p>
      </dsp:txBody>
      <dsp:txXfrm>
        <a:off x="4884049" y="3793379"/>
        <a:ext cx="252874" cy="253555"/>
      </dsp:txXfrm>
    </dsp:sp>
    <dsp:sp modelId="{3AD06624-1428-44FD-A026-63BED6F893CE}">
      <dsp:nvSpPr>
        <dsp:cNvPr id="0" name=""/>
        <dsp:cNvSpPr/>
      </dsp:nvSpPr>
      <dsp:spPr>
        <a:xfrm>
          <a:off x="5415700" y="3408955"/>
          <a:ext cx="2145192" cy="1022404"/>
        </a:xfrm>
        <a:prstGeom prst="roundRect">
          <a:avLst>
            <a:gd name="adj" fmla="val 10000"/>
          </a:avLst>
        </a:prstGeom>
        <a:solidFill>
          <a:srgbClr val="DEE7B3"/>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u="none" kern="1200" dirty="0">
              <a:solidFill>
                <a:srgbClr val="FF0000"/>
              </a:solidFill>
              <a:sym typeface="Wingdings" panose="05000000000000000000" pitchFamily="2" charset="2"/>
            </a:rPr>
            <a:t></a:t>
          </a:r>
          <a:r>
            <a:rPr lang="en-US" sz="2000" b="1" u="none" kern="1200" dirty="0"/>
            <a:t> </a:t>
          </a:r>
          <a:r>
            <a:rPr lang="zh-TW" altLang="en-US" sz="2000" b="1" u="none" kern="1200" dirty="0">
              <a:solidFill>
                <a:schemeClr val="tx1">
                  <a:lumMod val="65000"/>
                  <a:lumOff val="35000"/>
                </a:schemeClr>
              </a:solidFill>
              <a:latin typeface="標楷體" panose="03000509000000000000" pitchFamily="65" charset="-120"/>
              <a:ea typeface="標楷體" panose="03000509000000000000" pitchFamily="65" charset="-120"/>
            </a:rPr>
            <a:t>研究題目界定</a:t>
          </a:r>
        </a:p>
      </dsp:txBody>
      <dsp:txXfrm>
        <a:off x="5445645" y="3438900"/>
        <a:ext cx="2085302" cy="962514"/>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3D21AE-6B34-044A-AFD0-77C0D606071E}" type="datetimeFigureOut">
              <a:rPr kumimoji="1" lang="zh-TW" altLang="en-US" smtClean="0"/>
              <a:t>2026/9/11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8775FA-0B28-854C-9AFD-4472193548AB}" type="slidenum">
              <a:rPr kumimoji="1" lang="zh-TW" altLang="en-US" smtClean="0"/>
              <a:t>‹#›</a:t>
            </a:fld>
            <a:endParaRPr kumimoji="1" lang="zh-TW" altLang="en-US"/>
          </a:p>
        </p:txBody>
      </p:sp>
    </p:spTree>
    <p:extLst>
      <p:ext uri="{BB962C8B-B14F-4D97-AF65-F5344CB8AC3E}">
        <p14:creationId xmlns:p14="http://schemas.microsoft.com/office/powerpoint/2010/main" val="3528146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4021979" y="9721550"/>
            <a:ext cx="3075631" cy="51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06" tIns="48253" rIns="96506" bIns="48253" anchor="b"/>
          <a:lstStyle>
            <a:lvl1pPr>
              <a:defRPr kumimoji="1" sz="1200">
                <a:solidFill>
                  <a:schemeClr val="tx1"/>
                </a:solidFill>
                <a:latin typeface="Arial" charset="0"/>
                <a:ea typeface="新細明體" charset="-120"/>
              </a:defRPr>
            </a:lvl1pPr>
            <a:lvl2pPr marL="742950" indent="-285750">
              <a:defRPr kumimoji="1" sz="1200">
                <a:solidFill>
                  <a:schemeClr val="tx1"/>
                </a:solidFill>
                <a:latin typeface="Arial" charset="0"/>
                <a:ea typeface="新細明體" charset="-120"/>
              </a:defRPr>
            </a:lvl2pPr>
            <a:lvl3pPr marL="1143000" indent="-228600">
              <a:defRPr kumimoji="1" sz="1200">
                <a:solidFill>
                  <a:schemeClr val="tx1"/>
                </a:solidFill>
                <a:latin typeface="Arial" charset="0"/>
                <a:ea typeface="新細明體" charset="-120"/>
              </a:defRPr>
            </a:lvl3pPr>
            <a:lvl4pPr marL="1600200" indent="-228600">
              <a:defRPr kumimoji="1" sz="1200">
                <a:solidFill>
                  <a:schemeClr val="tx1"/>
                </a:solidFill>
                <a:latin typeface="Arial" charset="0"/>
                <a:ea typeface="新細明體" charset="-120"/>
              </a:defRPr>
            </a:lvl4pPr>
            <a:lvl5pPr marL="2057400" indent="-228600">
              <a:defRPr kumimoji="1" sz="1200">
                <a:solidFill>
                  <a:schemeClr val="tx1"/>
                </a:solidFill>
                <a:latin typeface="Arial" charset="0"/>
                <a:ea typeface="新細明體" charset="-120"/>
              </a:defRPr>
            </a:lvl5pPr>
            <a:lvl6pPr marL="2514600" indent="-228600" eaLnBrk="0" fontAlgn="base" hangingPunct="0">
              <a:spcBef>
                <a:spcPct val="30000"/>
              </a:spcBef>
              <a:spcAft>
                <a:spcPct val="0"/>
              </a:spcAft>
              <a:defRPr kumimoji="1" sz="1200">
                <a:solidFill>
                  <a:schemeClr val="tx1"/>
                </a:solidFill>
                <a:latin typeface="Arial" charset="0"/>
                <a:ea typeface="新細明體" charset="-120"/>
              </a:defRPr>
            </a:lvl6pPr>
            <a:lvl7pPr marL="2971800" indent="-228600" eaLnBrk="0" fontAlgn="base" hangingPunct="0">
              <a:spcBef>
                <a:spcPct val="30000"/>
              </a:spcBef>
              <a:spcAft>
                <a:spcPct val="0"/>
              </a:spcAft>
              <a:defRPr kumimoji="1" sz="1200">
                <a:solidFill>
                  <a:schemeClr val="tx1"/>
                </a:solidFill>
                <a:latin typeface="Arial" charset="0"/>
                <a:ea typeface="新細明體" charset="-120"/>
              </a:defRPr>
            </a:lvl7pPr>
            <a:lvl8pPr marL="3429000" indent="-228600" eaLnBrk="0" fontAlgn="base" hangingPunct="0">
              <a:spcBef>
                <a:spcPct val="30000"/>
              </a:spcBef>
              <a:spcAft>
                <a:spcPct val="0"/>
              </a:spcAft>
              <a:defRPr kumimoji="1" sz="1200">
                <a:solidFill>
                  <a:schemeClr val="tx1"/>
                </a:solidFill>
                <a:latin typeface="Arial" charset="0"/>
                <a:ea typeface="新細明體" charset="-120"/>
              </a:defRPr>
            </a:lvl8pPr>
            <a:lvl9pPr marL="3886200" indent="-228600" eaLnBrk="0" fontAlgn="base" hangingPunct="0">
              <a:spcBef>
                <a:spcPct val="30000"/>
              </a:spcBef>
              <a:spcAft>
                <a:spcPct val="0"/>
              </a:spcAft>
              <a:defRPr kumimoji="1" sz="1200">
                <a:solidFill>
                  <a:schemeClr val="tx1"/>
                </a:solidFill>
                <a:latin typeface="Arial" charset="0"/>
                <a:ea typeface="新細明體" charset="-120"/>
              </a:defRPr>
            </a:lvl9pPr>
          </a:lstStyle>
          <a:p>
            <a:pPr algn="r" eaLnBrk="1" hangingPunct="1"/>
            <a:fld id="{2E86E529-B384-4DF0-B571-8B6B5CBA2A45}" type="slidenum">
              <a:rPr lang="en-US" altLang="zh-TW"/>
              <a:pPr algn="r" eaLnBrk="1" hangingPunct="1"/>
              <a:t>7</a:t>
            </a:fld>
            <a:endParaRPr lang="en-US" altLang="zh-TW" dirty="0"/>
          </a:p>
        </p:txBody>
      </p:sp>
      <p:sp>
        <p:nvSpPr>
          <p:cNvPr id="11267" name="Rectangle 2"/>
          <p:cNvSpPr>
            <a:spLocks noGrp="1" noRot="1" noChangeAspect="1" noChangeArrowheads="1" noTextEdit="1"/>
          </p:cNvSpPr>
          <p:nvPr>
            <p:ph type="sldImg"/>
          </p:nvPr>
        </p:nvSpPr>
        <p:spPr>
          <a:xfrm>
            <a:off x="138113" y="768350"/>
            <a:ext cx="6821487"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3125346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7506">
              <a:defRPr>
                <a:solidFill>
                  <a:schemeClr val="tx1"/>
                </a:solidFill>
                <a:latin typeface="Arial" panose="020B0604020202020204" pitchFamily="34" charset="0"/>
                <a:ea typeface="新細明體" panose="02020500000000000000" pitchFamily="18" charset="-120"/>
              </a:defRPr>
            </a:lvl1pPr>
            <a:lvl2pPr marL="820022" indent="-315393" defTabSz="1007506">
              <a:defRPr>
                <a:solidFill>
                  <a:schemeClr val="tx1"/>
                </a:solidFill>
                <a:latin typeface="Arial" panose="020B0604020202020204" pitchFamily="34" charset="0"/>
                <a:ea typeface="新細明體" panose="02020500000000000000" pitchFamily="18" charset="-120"/>
              </a:defRPr>
            </a:lvl2pPr>
            <a:lvl3pPr marL="1261571" indent="-252314" defTabSz="1007506">
              <a:defRPr>
                <a:solidFill>
                  <a:schemeClr val="tx1"/>
                </a:solidFill>
                <a:latin typeface="Arial" panose="020B0604020202020204" pitchFamily="34" charset="0"/>
                <a:ea typeface="新細明體" panose="02020500000000000000" pitchFamily="18" charset="-120"/>
              </a:defRPr>
            </a:lvl3pPr>
            <a:lvl4pPr marL="1766200" indent="-252314" defTabSz="1007506">
              <a:defRPr>
                <a:solidFill>
                  <a:schemeClr val="tx1"/>
                </a:solidFill>
                <a:latin typeface="Arial" panose="020B0604020202020204" pitchFamily="34" charset="0"/>
                <a:ea typeface="新細明體" panose="02020500000000000000" pitchFamily="18" charset="-120"/>
              </a:defRPr>
            </a:lvl4pPr>
            <a:lvl5pPr marL="2270829" indent="-252314" defTabSz="1007506">
              <a:defRPr>
                <a:solidFill>
                  <a:schemeClr val="tx1"/>
                </a:solidFill>
                <a:latin typeface="Arial" panose="020B0604020202020204" pitchFamily="34" charset="0"/>
                <a:ea typeface="新細明體" panose="02020500000000000000" pitchFamily="18" charset="-120"/>
              </a:defRPr>
            </a:lvl5pPr>
            <a:lvl6pPr marL="2775458"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3280086"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784715"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4289344"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8440CE53-78BF-4B2C-8483-E8AC85819E8B}" type="slidenum">
              <a:rPr lang="en-US" altLang="zh-TW"/>
              <a:pPr/>
              <a:t>8</a:t>
            </a:fld>
            <a:endParaRPr lang="en-US" altLang="zh-TW" dirty="0"/>
          </a:p>
        </p:txBody>
      </p:sp>
      <p:sp>
        <p:nvSpPr>
          <p:cNvPr id="67587" name="Rectangle 2"/>
          <p:cNvSpPr>
            <a:spLocks noGrp="1" noRot="1" noChangeAspect="1" noChangeArrowheads="1" noTextEdit="1"/>
          </p:cNvSpPr>
          <p:nvPr>
            <p:ph type="sldImg"/>
          </p:nvPr>
        </p:nvSpPr>
        <p:spPr>
          <a:xfrm>
            <a:off x="203200" y="806450"/>
            <a:ext cx="7153275" cy="4024313"/>
          </a:xfrm>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Arial" panose="020B0604020202020204" pitchFamily="34" charset="0"/>
            </a:endParaRPr>
          </a:p>
        </p:txBody>
      </p:sp>
    </p:spTree>
    <p:extLst>
      <p:ext uri="{BB962C8B-B14F-4D97-AF65-F5344CB8AC3E}">
        <p14:creationId xmlns:p14="http://schemas.microsoft.com/office/powerpoint/2010/main" val="3123681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300">
                <a:solidFill>
                  <a:schemeClr val="tx1"/>
                </a:solidFill>
                <a:latin typeface="Arial" charset="0"/>
                <a:ea typeface="新細明體" charset="-120"/>
              </a:defRPr>
            </a:lvl1pPr>
            <a:lvl2pPr marL="784109" indent="-301581">
              <a:defRPr kumimoji="1" sz="1300">
                <a:solidFill>
                  <a:schemeClr val="tx1"/>
                </a:solidFill>
                <a:latin typeface="Arial" charset="0"/>
                <a:ea typeface="新細明體" charset="-120"/>
              </a:defRPr>
            </a:lvl2pPr>
            <a:lvl3pPr marL="1206322" indent="-241264">
              <a:defRPr kumimoji="1" sz="1300">
                <a:solidFill>
                  <a:schemeClr val="tx1"/>
                </a:solidFill>
                <a:latin typeface="Arial" charset="0"/>
                <a:ea typeface="新細明體" charset="-120"/>
              </a:defRPr>
            </a:lvl3pPr>
            <a:lvl4pPr marL="1688851" indent="-241264">
              <a:defRPr kumimoji="1" sz="1300">
                <a:solidFill>
                  <a:schemeClr val="tx1"/>
                </a:solidFill>
                <a:latin typeface="Arial" charset="0"/>
                <a:ea typeface="新細明體" charset="-120"/>
              </a:defRPr>
            </a:lvl4pPr>
            <a:lvl5pPr marL="2171380" indent="-241264">
              <a:defRPr kumimoji="1" sz="1300">
                <a:solidFill>
                  <a:schemeClr val="tx1"/>
                </a:solidFill>
                <a:latin typeface="Arial" charset="0"/>
                <a:ea typeface="新細明體" charset="-120"/>
              </a:defRPr>
            </a:lvl5pPr>
            <a:lvl6pPr marL="2653909" indent="-241264" eaLnBrk="0" fontAlgn="base" hangingPunct="0">
              <a:spcBef>
                <a:spcPct val="30000"/>
              </a:spcBef>
              <a:spcAft>
                <a:spcPct val="0"/>
              </a:spcAft>
              <a:defRPr kumimoji="1" sz="1300">
                <a:solidFill>
                  <a:schemeClr val="tx1"/>
                </a:solidFill>
                <a:latin typeface="Arial" charset="0"/>
                <a:ea typeface="新細明體" charset="-120"/>
              </a:defRPr>
            </a:lvl6pPr>
            <a:lvl7pPr marL="3136438" indent="-241264" eaLnBrk="0" fontAlgn="base" hangingPunct="0">
              <a:spcBef>
                <a:spcPct val="30000"/>
              </a:spcBef>
              <a:spcAft>
                <a:spcPct val="0"/>
              </a:spcAft>
              <a:defRPr kumimoji="1" sz="1300">
                <a:solidFill>
                  <a:schemeClr val="tx1"/>
                </a:solidFill>
                <a:latin typeface="Arial" charset="0"/>
                <a:ea typeface="新細明體" charset="-120"/>
              </a:defRPr>
            </a:lvl7pPr>
            <a:lvl8pPr marL="3618967" indent="-241264" eaLnBrk="0" fontAlgn="base" hangingPunct="0">
              <a:spcBef>
                <a:spcPct val="30000"/>
              </a:spcBef>
              <a:spcAft>
                <a:spcPct val="0"/>
              </a:spcAft>
              <a:defRPr kumimoji="1" sz="1300">
                <a:solidFill>
                  <a:schemeClr val="tx1"/>
                </a:solidFill>
                <a:latin typeface="Arial" charset="0"/>
                <a:ea typeface="新細明體" charset="-120"/>
              </a:defRPr>
            </a:lvl8pPr>
            <a:lvl9pPr marL="4101495" indent="-241264" eaLnBrk="0" fontAlgn="base" hangingPunct="0">
              <a:spcBef>
                <a:spcPct val="30000"/>
              </a:spcBef>
              <a:spcAft>
                <a:spcPct val="0"/>
              </a:spcAft>
              <a:defRPr kumimoji="1" sz="1300">
                <a:solidFill>
                  <a:schemeClr val="tx1"/>
                </a:solidFill>
                <a:latin typeface="Arial" charset="0"/>
                <a:ea typeface="新細明體" charset="-120"/>
              </a:defRPr>
            </a:lvl9pPr>
          </a:lstStyle>
          <a:p>
            <a:fld id="{6C880F87-52EE-478C-919B-03A39A28ACAC}" type="slidenum">
              <a:rPr lang="en-US" altLang="zh-TW"/>
              <a:pPr/>
              <a:t>9</a:t>
            </a:fld>
            <a:endParaRPr lang="en-US" altLang="zh-TW"/>
          </a:p>
        </p:txBody>
      </p:sp>
      <p:sp>
        <p:nvSpPr>
          <p:cNvPr id="48131" name="Rectangle 2"/>
          <p:cNvSpPr>
            <a:spLocks noGrp="1" noRot="1" noChangeAspect="1" noChangeArrowheads="1" noTextEdit="1"/>
          </p:cNvSpPr>
          <p:nvPr>
            <p:ph type="sldImg"/>
          </p:nvPr>
        </p:nvSpPr>
        <p:spPr>
          <a:xfrm>
            <a:off x="138113" y="768350"/>
            <a:ext cx="6821487"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1083404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7506">
              <a:defRPr>
                <a:solidFill>
                  <a:schemeClr val="tx1"/>
                </a:solidFill>
                <a:latin typeface="Arial" panose="020B0604020202020204" pitchFamily="34" charset="0"/>
                <a:ea typeface="新細明體" panose="02020500000000000000" pitchFamily="18" charset="-120"/>
              </a:defRPr>
            </a:lvl1pPr>
            <a:lvl2pPr marL="820022" indent="-315393" defTabSz="1007506">
              <a:defRPr>
                <a:solidFill>
                  <a:schemeClr val="tx1"/>
                </a:solidFill>
                <a:latin typeface="Arial" panose="020B0604020202020204" pitchFamily="34" charset="0"/>
                <a:ea typeface="新細明體" panose="02020500000000000000" pitchFamily="18" charset="-120"/>
              </a:defRPr>
            </a:lvl2pPr>
            <a:lvl3pPr marL="1261571" indent="-252314" defTabSz="1007506">
              <a:defRPr>
                <a:solidFill>
                  <a:schemeClr val="tx1"/>
                </a:solidFill>
                <a:latin typeface="Arial" panose="020B0604020202020204" pitchFamily="34" charset="0"/>
                <a:ea typeface="新細明體" panose="02020500000000000000" pitchFamily="18" charset="-120"/>
              </a:defRPr>
            </a:lvl3pPr>
            <a:lvl4pPr marL="1766200" indent="-252314" defTabSz="1007506">
              <a:defRPr>
                <a:solidFill>
                  <a:schemeClr val="tx1"/>
                </a:solidFill>
                <a:latin typeface="Arial" panose="020B0604020202020204" pitchFamily="34" charset="0"/>
                <a:ea typeface="新細明體" panose="02020500000000000000" pitchFamily="18" charset="-120"/>
              </a:defRPr>
            </a:lvl4pPr>
            <a:lvl5pPr marL="2270829" indent="-252314" defTabSz="1007506">
              <a:defRPr>
                <a:solidFill>
                  <a:schemeClr val="tx1"/>
                </a:solidFill>
                <a:latin typeface="Arial" panose="020B0604020202020204" pitchFamily="34" charset="0"/>
                <a:ea typeface="新細明體" panose="02020500000000000000" pitchFamily="18" charset="-120"/>
              </a:defRPr>
            </a:lvl5pPr>
            <a:lvl6pPr marL="2775458"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3280086"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784715"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4289344" indent="-252314" defTabSz="1007506"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8440CE53-78BF-4B2C-8483-E8AC85819E8B}" type="slidenum">
              <a:rPr lang="en-US" altLang="zh-TW"/>
              <a:pPr/>
              <a:t>10</a:t>
            </a:fld>
            <a:endParaRPr lang="en-US" altLang="zh-TW" dirty="0"/>
          </a:p>
        </p:txBody>
      </p:sp>
      <p:sp>
        <p:nvSpPr>
          <p:cNvPr id="67587" name="Rectangle 2"/>
          <p:cNvSpPr>
            <a:spLocks noGrp="1" noRot="1" noChangeAspect="1" noChangeArrowheads="1" noTextEdit="1"/>
          </p:cNvSpPr>
          <p:nvPr>
            <p:ph type="sldImg"/>
          </p:nvPr>
        </p:nvSpPr>
        <p:spPr>
          <a:xfrm>
            <a:off x="203200" y="806450"/>
            <a:ext cx="7153275" cy="4024313"/>
          </a:xfrm>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latin typeface="Arial" panose="020B0604020202020204" pitchFamily="34" charset="0"/>
            </a:endParaRPr>
          </a:p>
        </p:txBody>
      </p:sp>
    </p:spTree>
    <p:extLst>
      <p:ext uri="{BB962C8B-B14F-4D97-AF65-F5344CB8AC3E}">
        <p14:creationId xmlns:p14="http://schemas.microsoft.com/office/powerpoint/2010/main" val="2485786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4021979" y="9721550"/>
            <a:ext cx="3075631" cy="51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06" tIns="48253" rIns="96506" bIns="48253" anchor="b"/>
          <a:lstStyle>
            <a:lvl1pPr>
              <a:defRPr kumimoji="1" sz="1200">
                <a:solidFill>
                  <a:schemeClr val="tx1"/>
                </a:solidFill>
                <a:latin typeface="Arial" charset="0"/>
                <a:ea typeface="新細明體" charset="-120"/>
              </a:defRPr>
            </a:lvl1pPr>
            <a:lvl2pPr marL="742950" indent="-285750">
              <a:defRPr kumimoji="1" sz="1200">
                <a:solidFill>
                  <a:schemeClr val="tx1"/>
                </a:solidFill>
                <a:latin typeface="Arial" charset="0"/>
                <a:ea typeface="新細明體" charset="-120"/>
              </a:defRPr>
            </a:lvl2pPr>
            <a:lvl3pPr marL="1143000" indent="-228600">
              <a:defRPr kumimoji="1" sz="1200">
                <a:solidFill>
                  <a:schemeClr val="tx1"/>
                </a:solidFill>
                <a:latin typeface="Arial" charset="0"/>
                <a:ea typeface="新細明體" charset="-120"/>
              </a:defRPr>
            </a:lvl3pPr>
            <a:lvl4pPr marL="1600200" indent="-228600">
              <a:defRPr kumimoji="1" sz="1200">
                <a:solidFill>
                  <a:schemeClr val="tx1"/>
                </a:solidFill>
                <a:latin typeface="Arial" charset="0"/>
                <a:ea typeface="新細明體" charset="-120"/>
              </a:defRPr>
            </a:lvl4pPr>
            <a:lvl5pPr marL="2057400" indent="-228600">
              <a:defRPr kumimoji="1" sz="1200">
                <a:solidFill>
                  <a:schemeClr val="tx1"/>
                </a:solidFill>
                <a:latin typeface="Arial" charset="0"/>
                <a:ea typeface="新細明體" charset="-120"/>
              </a:defRPr>
            </a:lvl5pPr>
            <a:lvl6pPr marL="2514600" indent="-228600" eaLnBrk="0" fontAlgn="base" hangingPunct="0">
              <a:spcBef>
                <a:spcPct val="30000"/>
              </a:spcBef>
              <a:spcAft>
                <a:spcPct val="0"/>
              </a:spcAft>
              <a:defRPr kumimoji="1" sz="1200">
                <a:solidFill>
                  <a:schemeClr val="tx1"/>
                </a:solidFill>
                <a:latin typeface="Arial" charset="0"/>
                <a:ea typeface="新細明體" charset="-120"/>
              </a:defRPr>
            </a:lvl6pPr>
            <a:lvl7pPr marL="2971800" indent="-228600" eaLnBrk="0" fontAlgn="base" hangingPunct="0">
              <a:spcBef>
                <a:spcPct val="30000"/>
              </a:spcBef>
              <a:spcAft>
                <a:spcPct val="0"/>
              </a:spcAft>
              <a:defRPr kumimoji="1" sz="1200">
                <a:solidFill>
                  <a:schemeClr val="tx1"/>
                </a:solidFill>
                <a:latin typeface="Arial" charset="0"/>
                <a:ea typeface="新細明體" charset="-120"/>
              </a:defRPr>
            </a:lvl7pPr>
            <a:lvl8pPr marL="3429000" indent="-228600" eaLnBrk="0" fontAlgn="base" hangingPunct="0">
              <a:spcBef>
                <a:spcPct val="30000"/>
              </a:spcBef>
              <a:spcAft>
                <a:spcPct val="0"/>
              </a:spcAft>
              <a:defRPr kumimoji="1" sz="1200">
                <a:solidFill>
                  <a:schemeClr val="tx1"/>
                </a:solidFill>
                <a:latin typeface="Arial" charset="0"/>
                <a:ea typeface="新細明體" charset="-120"/>
              </a:defRPr>
            </a:lvl8pPr>
            <a:lvl9pPr marL="3886200" indent="-228600" eaLnBrk="0" fontAlgn="base" hangingPunct="0">
              <a:spcBef>
                <a:spcPct val="30000"/>
              </a:spcBef>
              <a:spcAft>
                <a:spcPct val="0"/>
              </a:spcAft>
              <a:defRPr kumimoji="1" sz="1200">
                <a:solidFill>
                  <a:schemeClr val="tx1"/>
                </a:solidFill>
                <a:latin typeface="Arial" charset="0"/>
                <a:ea typeface="新細明體" charset="-120"/>
              </a:defRPr>
            </a:lvl9pPr>
          </a:lstStyle>
          <a:p>
            <a:pPr algn="r" eaLnBrk="1" hangingPunct="1"/>
            <a:fld id="{2E86E529-B384-4DF0-B571-8B6B5CBA2A45}" type="slidenum">
              <a:rPr lang="en-US" altLang="zh-TW"/>
              <a:pPr algn="r" eaLnBrk="1" hangingPunct="1"/>
              <a:t>11</a:t>
            </a:fld>
            <a:endParaRPr lang="en-US" altLang="zh-TW" dirty="0"/>
          </a:p>
        </p:txBody>
      </p:sp>
      <p:sp>
        <p:nvSpPr>
          <p:cNvPr id="11267" name="Rectangle 2"/>
          <p:cNvSpPr>
            <a:spLocks noGrp="1" noRot="1" noChangeAspect="1" noChangeArrowheads="1" noTextEdit="1"/>
          </p:cNvSpPr>
          <p:nvPr>
            <p:ph type="sldImg"/>
          </p:nvPr>
        </p:nvSpPr>
        <p:spPr>
          <a:xfrm>
            <a:off x="138113" y="768350"/>
            <a:ext cx="6821487"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932018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4021979" y="9721550"/>
            <a:ext cx="3075631" cy="51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06" tIns="48253" rIns="96506" bIns="48253" anchor="b"/>
          <a:lstStyle>
            <a:lvl1pPr>
              <a:defRPr kumimoji="1" sz="1200">
                <a:solidFill>
                  <a:schemeClr val="tx1"/>
                </a:solidFill>
                <a:latin typeface="Arial" charset="0"/>
                <a:ea typeface="新細明體" charset="-120"/>
              </a:defRPr>
            </a:lvl1pPr>
            <a:lvl2pPr marL="742950" indent="-285750">
              <a:defRPr kumimoji="1" sz="1200">
                <a:solidFill>
                  <a:schemeClr val="tx1"/>
                </a:solidFill>
                <a:latin typeface="Arial" charset="0"/>
                <a:ea typeface="新細明體" charset="-120"/>
              </a:defRPr>
            </a:lvl2pPr>
            <a:lvl3pPr marL="1143000" indent="-228600">
              <a:defRPr kumimoji="1" sz="1200">
                <a:solidFill>
                  <a:schemeClr val="tx1"/>
                </a:solidFill>
                <a:latin typeface="Arial" charset="0"/>
                <a:ea typeface="新細明體" charset="-120"/>
              </a:defRPr>
            </a:lvl3pPr>
            <a:lvl4pPr marL="1600200" indent="-228600">
              <a:defRPr kumimoji="1" sz="1200">
                <a:solidFill>
                  <a:schemeClr val="tx1"/>
                </a:solidFill>
                <a:latin typeface="Arial" charset="0"/>
                <a:ea typeface="新細明體" charset="-120"/>
              </a:defRPr>
            </a:lvl4pPr>
            <a:lvl5pPr marL="2057400" indent="-228600">
              <a:defRPr kumimoji="1" sz="1200">
                <a:solidFill>
                  <a:schemeClr val="tx1"/>
                </a:solidFill>
                <a:latin typeface="Arial" charset="0"/>
                <a:ea typeface="新細明體" charset="-120"/>
              </a:defRPr>
            </a:lvl5pPr>
            <a:lvl6pPr marL="2514600" indent="-228600" eaLnBrk="0" fontAlgn="base" hangingPunct="0">
              <a:spcBef>
                <a:spcPct val="30000"/>
              </a:spcBef>
              <a:spcAft>
                <a:spcPct val="0"/>
              </a:spcAft>
              <a:defRPr kumimoji="1" sz="1200">
                <a:solidFill>
                  <a:schemeClr val="tx1"/>
                </a:solidFill>
                <a:latin typeface="Arial" charset="0"/>
                <a:ea typeface="新細明體" charset="-120"/>
              </a:defRPr>
            </a:lvl6pPr>
            <a:lvl7pPr marL="2971800" indent="-228600" eaLnBrk="0" fontAlgn="base" hangingPunct="0">
              <a:spcBef>
                <a:spcPct val="30000"/>
              </a:spcBef>
              <a:spcAft>
                <a:spcPct val="0"/>
              </a:spcAft>
              <a:defRPr kumimoji="1" sz="1200">
                <a:solidFill>
                  <a:schemeClr val="tx1"/>
                </a:solidFill>
                <a:latin typeface="Arial" charset="0"/>
                <a:ea typeface="新細明體" charset="-120"/>
              </a:defRPr>
            </a:lvl7pPr>
            <a:lvl8pPr marL="3429000" indent="-228600" eaLnBrk="0" fontAlgn="base" hangingPunct="0">
              <a:spcBef>
                <a:spcPct val="30000"/>
              </a:spcBef>
              <a:spcAft>
                <a:spcPct val="0"/>
              </a:spcAft>
              <a:defRPr kumimoji="1" sz="1200">
                <a:solidFill>
                  <a:schemeClr val="tx1"/>
                </a:solidFill>
                <a:latin typeface="Arial" charset="0"/>
                <a:ea typeface="新細明體" charset="-120"/>
              </a:defRPr>
            </a:lvl8pPr>
            <a:lvl9pPr marL="3886200" indent="-228600" eaLnBrk="0" fontAlgn="base" hangingPunct="0">
              <a:spcBef>
                <a:spcPct val="30000"/>
              </a:spcBef>
              <a:spcAft>
                <a:spcPct val="0"/>
              </a:spcAft>
              <a:defRPr kumimoji="1" sz="1200">
                <a:solidFill>
                  <a:schemeClr val="tx1"/>
                </a:solidFill>
                <a:latin typeface="Arial" charset="0"/>
                <a:ea typeface="新細明體" charset="-120"/>
              </a:defRPr>
            </a:lvl9pPr>
          </a:lstStyle>
          <a:p>
            <a:pPr algn="r" eaLnBrk="1" hangingPunct="1"/>
            <a:fld id="{2E86E529-B384-4DF0-B571-8B6B5CBA2A45}" type="slidenum">
              <a:rPr lang="en-US" altLang="zh-TW"/>
              <a:pPr algn="r" eaLnBrk="1" hangingPunct="1"/>
              <a:t>12</a:t>
            </a:fld>
            <a:endParaRPr lang="en-US" altLang="zh-TW" dirty="0"/>
          </a:p>
        </p:txBody>
      </p:sp>
      <p:sp>
        <p:nvSpPr>
          <p:cNvPr id="11267" name="Rectangle 2"/>
          <p:cNvSpPr>
            <a:spLocks noGrp="1" noRot="1" noChangeAspect="1" noChangeArrowheads="1" noTextEdit="1"/>
          </p:cNvSpPr>
          <p:nvPr>
            <p:ph type="sldImg"/>
          </p:nvPr>
        </p:nvSpPr>
        <p:spPr>
          <a:xfrm>
            <a:off x="138113" y="768350"/>
            <a:ext cx="6821487"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3593968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300">
                <a:solidFill>
                  <a:schemeClr val="tx1"/>
                </a:solidFill>
                <a:latin typeface="Arial" charset="0"/>
                <a:ea typeface="新細明體" charset="-120"/>
              </a:defRPr>
            </a:lvl1pPr>
            <a:lvl2pPr marL="784109" indent="-301581">
              <a:defRPr kumimoji="1" sz="1300">
                <a:solidFill>
                  <a:schemeClr val="tx1"/>
                </a:solidFill>
                <a:latin typeface="Arial" charset="0"/>
                <a:ea typeface="新細明體" charset="-120"/>
              </a:defRPr>
            </a:lvl2pPr>
            <a:lvl3pPr marL="1206322" indent="-241264">
              <a:defRPr kumimoji="1" sz="1300">
                <a:solidFill>
                  <a:schemeClr val="tx1"/>
                </a:solidFill>
                <a:latin typeface="Arial" charset="0"/>
                <a:ea typeface="新細明體" charset="-120"/>
              </a:defRPr>
            </a:lvl3pPr>
            <a:lvl4pPr marL="1688851" indent="-241264">
              <a:defRPr kumimoji="1" sz="1300">
                <a:solidFill>
                  <a:schemeClr val="tx1"/>
                </a:solidFill>
                <a:latin typeface="Arial" charset="0"/>
                <a:ea typeface="新細明體" charset="-120"/>
              </a:defRPr>
            </a:lvl4pPr>
            <a:lvl5pPr marL="2171380" indent="-241264">
              <a:defRPr kumimoji="1" sz="1300">
                <a:solidFill>
                  <a:schemeClr val="tx1"/>
                </a:solidFill>
                <a:latin typeface="Arial" charset="0"/>
                <a:ea typeface="新細明體" charset="-120"/>
              </a:defRPr>
            </a:lvl5pPr>
            <a:lvl6pPr marL="2653909" indent="-241264" eaLnBrk="0" fontAlgn="base" hangingPunct="0">
              <a:spcBef>
                <a:spcPct val="30000"/>
              </a:spcBef>
              <a:spcAft>
                <a:spcPct val="0"/>
              </a:spcAft>
              <a:defRPr kumimoji="1" sz="1300">
                <a:solidFill>
                  <a:schemeClr val="tx1"/>
                </a:solidFill>
                <a:latin typeface="Arial" charset="0"/>
                <a:ea typeface="新細明體" charset="-120"/>
              </a:defRPr>
            </a:lvl6pPr>
            <a:lvl7pPr marL="3136438" indent="-241264" eaLnBrk="0" fontAlgn="base" hangingPunct="0">
              <a:spcBef>
                <a:spcPct val="30000"/>
              </a:spcBef>
              <a:spcAft>
                <a:spcPct val="0"/>
              </a:spcAft>
              <a:defRPr kumimoji="1" sz="1300">
                <a:solidFill>
                  <a:schemeClr val="tx1"/>
                </a:solidFill>
                <a:latin typeface="Arial" charset="0"/>
                <a:ea typeface="新細明體" charset="-120"/>
              </a:defRPr>
            </a:lvl7pPr>
            <a:lvl8pPr marL="3618967" indent="-241264" eaLnBrk="0" fontAlgn="base" hangingPunct="0">
              <a:spcBef>
                <a:spcPct val="30000"/>
              </a:spcBef>
              <a:spcAft>
                <a:spcPct val="0"/>
              </a:spcAft>
              <a:defRPr kumimoji="1" sz="1300">
                <a:solidFill>
                  <a:schemeClr val="tx1"/>
                </a:solidFill>
                <a:latin typeface="Arial" charset="0"/>
                <a:ea typeface="新細明體" charset="-120"/>
              </a:defRPr>
            </a:lvl8pPr>
            <a:lvl9pPr marL="4101495" indent="-241264" eaLnBrk="0" fontAlgn="base" hangingPunct="0">
              <a:spcBef>
                <a:spcPct val="30000"/>
              </a:spcBef>
              <a:spcAft>
                <a:spcPct val="0"/>
              </a:spcAft>
              <a:defRPr kumimoji="1" sz="1300">
                <a:solidFill>
                  <a:schemeClr val="tx1"/>
                </a:solidFill>
                <a:latin typeface="Arial" charset="0"/>
                <a:ea typeface="新細明體" charset="-120"/>
              </a:defRPr>
            </a:lvl9pPr>
          </a:lstStyle>
          <a:p>
            <a:fld id="{EE3C6383-44D1-4E10-A924-D6B4BED7915A}" type="slidenum">
              <a:rPr lang="en-US" altLang="zh-TW"/>
              <a:pPr/>
              <a:t>13</a:t>
            </a:fld>
            <a:endParaRPr lang="en-US" altLang="zh-TW"/>
          </a:p>
        </p:txBody>
      </p:sp>
      <p:sp>
        <p:nvSpPr>
          <p:cNvPr id="37891" name="Rectangle 2"/>
          <p:cNvSpPr>
            <a:spLocks noGrp="1" noRot="1" noChangeAspect="1" noChangeArrowheads="1" noTextEdit="1"/>
          </p:cNvSpPr>
          <p:nvPr>
            <p:ph type="sldImg"/>
          </p:nvPr>
        </p:nvSpPr>
        <p:spPr>
          <a:xfrm>
            <a:off x="138113" y="768350"/>
            <a:ext cx="6821487" cy="3836988"/>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591965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a:solidFill>
                  <a:schemeClr val="tx1"/>
                </a:solidFill>
                <a:latin typeface="Arial" charset="0"/>
                <a:ea typeface="新細明體" charset="-120"/>
              </a:defRPr>
            </a:lvl1pPr>
            <a:lvl2pPr marL="742950" indent="-285750">
              <a:defRPr kumimoji="1" sz="1200">
                <a:solidFill>
                  <a:schemeClr val="tx1"/>
                </a:solidFill>
                <a:latin typeface="Arial" charset="0"/>
                <a:ea typeface="新細明體" charset="-120"/>
              </a:defRPr>
            </a:lvl2pPr>
            <a:lvl3pPr marL="1143000" indent="-228600">
              <a:defRPr kumimoji="1" sz="1200">
                <a:solidFill>
                  <a:schemeClr val="tx1"/>
                </a:solidFill>
                <a:latin typeface="Arial" charset="0"/>
                <a:ea typeface="新細明體" charset="-120"/>
              </a:defRPr>
            </a:lvl3pPr>
            <a:lvl4pPr marL="1600200" indent="-228600">
              <a:defRPr kumimoji="1" sz="1200">
                <a:solidFill>
                  <a:schemeClr val="tx1"/>
                </a:solidFill>
                <a:latin typeface="Arial" charset="0"/>
                <a:ea typeface="新細明體" charset="-120"/>
              </a:defRPr>
            </a:lvl4pPr>
            <a:lvl5pPr marL="2057400" indent="-228600">
              <a:defRPr kumimoji="1" sz="1200">
                <a:solidFill>
                  <a:schemeClr val="tx1"/>
                </a:solidFill>
                <a:latin typeface="Arial" charset="0"/>
                <a:ea typeface="新細明體" charset="-120"/>
              </a:defRPr>
            </a:lvl5pPr>
            <a:lvl6pPr marL="2514600" indent="-228600" eaLnBrk="0" fontAlgn="base" hangingPunct="0">
              <a:spcBef>
                <a:spcPct val="30000"/>
              </a:spcBef>
              <a:spcAft>
                <a:spcPct val="0"/>
              </a:spcAft>
              <a:defRPr kumimoji="1" sz="1200">
                <a:solidFill>
                  <a:schemeClr val="tx1"/>
                </a:solidFill>
                <a:latin typeface="Arial" charset="0"/>
                <a:ea typeface="新細明體" charset="-120"/>
              </a:defRPr>
            </a:lvl6pPr>
            <a:lvl7pPr marL="2971800" indent="-228600" eaLnBrk="0" fontAlgn="base" hangingPunct="0">
              <a:spcBef>
                <a:spcPct val="30000"/>
              </a:spcBef>
              <a:spcAft>
                <a:spcPct val="0"/>
              </a:spcAft>
              <a:defRPr kumimoji="1" sz="1200">
                <a:solidFill>
                  <a:schemeClr val="tx1"/>
                </a:solidFill>
                <a:latin typeface="Arial" charset="0"/>
                <a:ea typeface="新細明體" charset="-120"/>
              </a:defRPr>
            </a:lvl7pPr>
            <a:lvl8pPr marL="3429000" indent="-228600" eaLnBrk="0" fontAlgn="base" hangingPunct="0">
              <a:spcBef>
                <a:spcPct val="30000"/>
              </a:spcBef>
              <a:spcAft>
                <a:spcPct val="0"/>
              </a:spcAft>
              <a:defRPr kumimoji="1" sz="1200">
                <a:solidFill>
                  <a:schemeClr val="tx1"/>
                </a:solidFill>
                <a:latin typeface="Arial" charset="0"/>
                <a:ea typeface="新細明體" charset="-120"/>
              </a:defRPr>
            </a:lvl8pPr>
            <a:lvl9pPr marL="3886200" indent="-228600" eaLnBrk="0" fontAlgn="base" hangingPunct="0">
              <a:spcBef>
                <a:spcPct val="30000"/>
              </a:spcBef>
              <a:spcAft>
                <a:spcPct val="0"/>
              </a:spcAft>
              <a:defRPr kumimoji="1" sz="1200">
                <a:solidFill>
                  <a:schemeClr val="tx1"/>
                </a:solidFill>
                <a:latin typeface="Arial" charset="0"/>
                <a:ea typeface="新細明體" charset="-120"/>
              </a:defRPr>
            </a:lvl9pPr>
          </a:lstStyle>
          <a:p>
            <a:fld id="{F8319275-27B3-4C0C-9B4F-95F447DAB0AC}" type="slidenum">
              <a:rPr lang="en-US" altLang="zh-TW"/>
              <a:pPr/>
              <a:t>14</a:t>
            </a:fld>
            <a:endParaRPr lang="en-US" altLang="zh-TW"/>
          </a:p>
        </p:txBody>
      </p:sp>
      <p:sp>
        <p:nvSpPr>
          <p:cNvPr id="75779" name="Rectangle 2"/>
          <p:cNvSpPr>
            <a:spLocks noGrp="1" noRot="1" noChangeAspect="1" noChangeArrowheads="1" noTextEdit="1"/>
          </p:cNvSpPr>
          <p:nvPr>
            <p:ph type="sldImg"/>
          </p:nvPr>
        </p:nvSpPr>
        <p:spPr>
          <a:xfrm>
            <a:off x="381000" y="685800"/>
            <a:ext cx="6096000" cy="342900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2123442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200">
                <a:solidFill>
                  <a:schemeClr val="tx1"/>
                </a:solidFill>
                <a:latin typeface="Arial" charset="0"/>
                <a:ea typeface="新細明體" charset="-120"/>
              </a:defRPr>
            </a:lvl1pPr>
            <a:lvl2pPr marL="742950" indent="-285750">
              <a:defRPr kumimoji="1" sz="1200">
                <a:solidFill>
                  <a:schemeClr val="tx1"/>
                </a:solidFill>
                <a:latin typeface="Arial" charset="0"/>
                <a:ea typeface="新細明體" charset="-120"/>
              </a:defRPr>
            </a:lvl2pPr>
            <a:lvl3pPr marL="1143000" indent="-228600">
              <a:defRPr kumimoji="1" sz="1200">
                <a:solidFill>
                  <a:schemeClr val="tx1"/>
                </a:solidFill>
                <a:latin typeface="Arial" charset="0"/>
                <a:ea typeface="新細明體" charset="-120"/>
              </a:defRPr>
            </a:lvl3pPr>
            <a:lvl4pPr marL="1600200" indent="-228600">
              <a:defRPr kumimoji="1" sz="1200">
                <a:solidFill>
                  <a:schemeClr val="tx1"/>
                </a:solidFill>
                <a:latin typeface="Arial" charset="0"/>
                <a:ea typeface="新細明體" charset="-120"/>
              </a:defRPr>
            </a:lvl4pPr>
            <a:lvl5pPr marL="2057400" indent="-228600">
              <a:defRPr kumimoji="1" sz="1200">
                <a:solidFill>
                  <a:schemeClr val="tx1"/>
                </a:solidFill>
                <a:latin typeface="Arial" charset="0"/>
                <a:ea typeface="新細明體" charset="-120"/>
              </a:defRPr>
            </a:lvl5pPr>
            <a:lvl6pPr marL="2514600" indent="-228600" eaLnBrk="0" fontAlgn="base" hangingPunct="0">
              <a:spcBef>
                <a:spcPct val="30000"/>
              </a:spcBef>
              <a:spcAft>
                <a:spcPct val="0"/>
              </a:spcAft>
              <a:defRPr kumimoji="1" sz="1200">
                <a:solidFill>
                  <a:schemeClr val="tx1"/>
                </a:solidFill>
                <a:latin typeface="Arial" charset="0"/>
                <a:ea typeface="新細明體" charset="-120"/>
              </a:defRPr>
            </a:lvl6pPr>
            <a:lvl7pPr marL="2971800" indent="-228600" eaLnBrk="0" fontAlgn="base" hangingPunct="0">
              <a:spcBef>
                <a:spcPct val="30000"/>
              </a:spcBef>
              <a:spcAft>
                <a:spcPct val="0"/>
              </a:spcAft>
              <a:defRPr kumimoji="1" sz="1200">
                <a:solidFill>
                  <a:schemeClr val="tx1"/>
                </a:solidFill>
                <a:latin typeface="Arial" charset="0"/>
                <a:ea typeface="新細明體" charset="-120"/>
              </a:defRPr>
            </a:lvl7pPr>
            <a:lvl8pPr marL="3429000" indent="-228600" eaLnBrk="0" fontAlgn="base" hangingPunct="0">
              <a:spcBef>
                <a:spcPct val="30000"/>
              </a:spcBef>
              <a:spcAft>
                <a:spcPct val="0"/>
              </a:spcAft>
              <a:defRPr kumimoji="1" sz="1200">
                <a:solidFill>
                  <a:schemeClr val="tx1"/>
                </a:solidFill>
                <a:latin typeface="Arial" charset="0"/>
                <a:ea typeface="新細明體" charset="-120"/>
              </a:defRPr>
            </a:lvl8pPr>
            <a:lvl9pPr marL="3886200" indent="-228600" eaLnBrk="0" fontAlgn="base" hangingPunct="0">
              <a:spcBef>
                <a:spcPct val="30000"/>
              </a:spcBef>
              <a:spcAft>
                <a:spcPct val="0"/>
              </a:spcAft>
              <a:defRPr kumimoji="1" sz="1200">
                <a:solidFill>
                  <a:schemeClr val="tx1"/>
                </a:solidFill>
                <a:latin typeface="Arial" charset="0"/>
                <a:ea typeface="新細明體" charset="-120"/>
              </a:defRPr>
            </a:lvl9pPr>
          </a:lstStyle>
          <a:p>
            <a:fld id="{F8319275-27B3-4C0C-9B4F-95F447DAB0AC}" type="slidenum">
              <a:rPr lang="en-US" altLang="zh-TW"/>
              <a:pPr/>
              <a:t>15</a:t>
            </a:fld>
            <a:endParaRPr lang="en-US" altLang="zh-TW"/>
          </a:p>
        </p:txBody>
      </p:sp>
      <p:sp>
        <p:nvSpPr>
          <p:cNvPr id="75779" name="Rectangle 2"/>
          <p:cNvSpPr>
            <a:spLocks noGrp="1" noRot="1" noChangeAspect="1" noChangeArrowheads="1" noTextEdit="1"/>
          </p:cNvSpPr>
          <p:nvPr>
            <p:ph type="sldImg"/>
          </p:nvPr>
        </p:nvSpPr>
        <p:spPr>
          <a:xfrm>
            <a:off x="381000" y="685800"/>
            <a:ext cx="6096000" cy="342900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1447279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txBox="1">
            <a:spLocks noGrp="1" noChangeArrowheads="1"/>
          </p:cNvSpPr>
          <p:nvPr/>
        </p:nvSpPr>
        <p:spPr bwMode="auto">
          <a:xfrm>
            <a:off x="4021979" y="9721550"/>
            <a:ext cx="3075631" cy="51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506" tIns="48253" rIns="96506" bIns="48253" anchor="b"/>
          <a:lstStyle>
            <a:lvl1pPr>
              <a:defRPr kumimoji="1" sz="1200">
                <a:solidFill>
                  <a:schemeClr val="tx1"/>
                </a:solidFill>
                <a:latin typeface="Arial" charset="0"/>
                <a:ea typeface="新細明體" charset="-120"/>
              </a:defRPr>
            </a:lvl1pPr>
            <a:lvl2pPr marL="742950" indent="-285750">
              <a:defRPr kumimoji="1" sz="1200">
                <a:solidFill>
                  <a:schemeClr val="tx1"/>
                </a:solidFill>
                <a:latin typeface="Arial" charset="0"/>
                <a:ea typeface="新細明體" charset="-120"/>
              </a:defRPr>
            </a:lvl2pPr>
            <a:lvl3pPr marL="1143000" indent="-228600">
              <a:defRPr kumimoji="1" sz="1200">
                <a:solidFill>
                  <a:schemeClr val="tx1"/>
                </a:solidFill>
                <a:latin typeface="Arial" charset="0"/>
                <a:ea typeface="新細明體" charset="-120"/>
              </a:defRPr>
            </a:lvl3pPr>
            <a:lvl4pPr marL="1600200" indent="-228600">
              <a:defRPr kumimoji="1" sz="1200">
                <a:solidFill>
                  <a:schemeClr val="tx1"/>
                </a:solidFill>
                <a:latin typeface="Arial" charset="0"/>
                <a:ea typeface="新細明體" charset="-120"/>
              </a:defRPr>
            </a:lvl4pPr>
            <a:lvl5pPr marL="2057400" indent="-228600">
              <a:defRPr kumimoji="1" sz="1200">
                <a:solidFill>
                  <a:schemeClr val="tx1"/>
                </a:solidFill>
                <a:latin typeface="Arial" charset="0"/>
                <a:ea typeface="新細明體" charset="-120"/>
              </a:defRPr>
            </a:lvl5pPr>
            <a:lvl6pPr marL="2514600" indent="-228600" eaLnBrk="0" fontAlgn="base" hangingPunct="0">
              <a:spcBef>
                <a:spcPct val="30000"/>
              </a:spcBef>
              <a:spcAft>
                <a:spcPct val="0"/>
              </a:spcAft>
              <a:defRPr kumimoji="1" sz="1200">
                <a:solidFill>
                  <a:schemeClr val="tx1"/>
                </a:solidFill>
                <a:latin typeface="Arial" charset="0"/>
                <a:ea typeface="新細明體" charset="-120"/>
              </a:defRPr>
            </a:lvl6pPr>
            <a:lvl7pPr marL="2971800" indent="-228600" eaLnBrk="0" fontAlgn="base" hangingPunct="0">
              <a:spcBef>
                <a:spcPct val="30000"/>
              </a:spcBef>
              <a:spcAft>
                <a:spcPct val="0"/>
              </a:spcAft>
              <a:defRPr kumimoji="1" sz="1200">
                <a:solidFill>
                  <a:schemeClr val="tx1"/>
                </a:solidFill>
                <a:latin typeface="Arial" charset="0"/>
                <a:ea typeface="新細明體" charset="-120"/>
              </a:defRPr>
            </a:lvl7pPr>
            <a:lvl8pPr marL="3429000" indent="-228600" eaLnBrk="0" fontAlgn="base" hangingPunct="0">
              <a:spcBef>
                <a:spcPct val="30000"/>
              </a:spcBef>
              <a:spcAft>
                <a:spcPct val="0"/>
              </a:spcAft>
              <a:defRPr kumimoji="1" sz="1200">
                <a:solidFill>
                  <a:schemeClr val="tx1"/>
                </a:solidFill>
                <a:latin typeface="Arial" charset="0"/>
                <a:ea typeface="新細明體" charset="-120"/>
              </a:defRPr>
            </a:lvl8pPr>
            <a:lvl9pPr marL="3886200" indent="-228600" eaLnBrk="0" fontAlgn="base" hangingPunct="0">
              <a:spcBef>
                <a:spcPct val="30000"/>
              </a:spcBef>
              <a:spcAft>
                <a:spcPct val="0"/>
              </a:spcAft>
              <a:defRPr kumimoji="1" sz="1200">
                <a:solidFill>
                  <a:schemeClr val="tx1"/>
                </a:solidFill>
                <a:latin typeface="Arial" charset="0"/>
                <a:ea typeface="新細明體" charset="-120"/>
              </a:defRPr>
            </a:lvl9pPr>
          </a:lstStyle>
          <a:p>
            <a:pPr algn="r" eaLnBrk="1" hangingPunct="1"/>
            <a:fld id="{2E86E529-B384-4DF0-B571-8B6B5CBA2A45}" type="slidenum">
              <a:rPr lang="en-US" altLang="zh-TW"/>
              <a:pPr algn="r" eaLnBrk="1" hangingPunct="1"/>
              <a:t>16</a:t>
            </a:fld>
            <a:endParaRPr lang="en-US" altLang="zh-TW"/>
          </a:p>
        </p:txBody>
      </p:sp>
      <p:sp>
        <p:nvSpPr>
          <p:cNvPr id="11267" name="Rectangle 2"/>
          <p:cNvSpPr>
            <a:spLocks noGrp="1" noRot="1" noChangeAspect="1" noChangeArrowheads="1" noTextEdit="1"/>
          </p:cNvSpPr>
          <p:nvPr>
            <p:ph type="sldImg"/>
          </p:nvPr>
        </p:nvSpPr>
        <p:spPr>
          <a:xfrm>
            <a:off x="138113" y="768350"/>
            <a:ext cx="6821487"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155632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300">
                <a:solidFill>
                  <a:schemeClr val="tx1"/>
                </a:solidFill>
                <a:latin typeface="Arial" charset="0"/>
                <a:ea typeface="新細明體" charset="-120"/>
              </a:defRPr>
            </a:lvl1pPr>
            <a:lvl2pPr marL="784109" indent="-301581">
              <a:defRPr kumimoji="1" sz="1300">
                <a:solidFill>
                  <a:schemeClr val="tx1"/>
                </a:solidFill>
                <a:latin typeface="Arial" charset="0"/>
                <a:ea typeface="新細明體" charset="-120"/>
              </a:defRPr>
            </a:lvl2pPr>
            <a:lvl3pPr marL="1206322" indent="-241264">
              <a:defRPr kumimoji="1" sz="1300">
                <a:solidFill>
                  <a:schemeClr val="tx1"/>
                </a:solidFill>
                <a:latin typeface="Arial" charset="0"/>
                <a:ea typeface="新細明體" charset="-120"/>
              </a:defRPr>
            </a:lvl3pPr>
            <a:lvl4pPr marL="1688851" indent="-241264">
              <a:defRPr kumimoji="1" sz="1300">
                <a:solidFill>
                  <a:schemeClr val="tx1"/>
                </a:solidFill>
                <a:latin typeface="Arial" charset="0"/>
                <a:ea typeface="新細明體" charset="-120"/>
              </a:defRPr>
            </a:lvl4pPr>
            <a:lvl5pPr marL="2171380" indent="-241264">
              <a:defRPr kumimoji="1" sz="1300">
                <a:solidFill>
                  <a:schemeClr val="tx1"/>
                </a:solidFill>
                <a:latin typeface="Arial" charset="0"/>
                <a:ea typeface="新細明體" charset="-120"/>
              </a:defRPr>
            </a:lvl5pPr>
            <a:lvl6pPr marL="2653909" indent="-241264" eaLnBrk="0" fontAlgn="base" hangingPunct="0">
              <a:spcBef>
                <a:spcPct val="30000"/>
              </a:spcBef>
              <a:spcAft>
                <a:spcPct val="0"/>
              </a:spcAft>
              <a:defRPr kumimoji="1" sz="1300">
                <a:solidFill>
                  <a:schemeClr val="tx1"/>
                </a:solidFill>
                <a:latin typeface="Arial" charset="0"/>
                <a:ea typeface="新細明體" charset="-120"/>
              </a:defRPr>
            </a:lvl6pPr>
            <a:lvl7pPr marL="3136438" indent="-241264" eaLnBrk="0" fontAlgn="base" hangingPunct="0">
              <a:spcBef>
                <a:spcPct val="30000"/>
              </a:spcBef>
              <a:spcAft>
                <a:spcPct val="0"/>
              </a:spcAft>
              <a:defRPr kumimoji="1" sz="1300">
                <a:solidFill>
                  <a:schemeClr val="tx1"/>
                </a:solidFill>
                <a:latin typeface="Arial" charset="0"/>
                <a:ea typeface="新細明體" charset="-120"/>
              </a:defRPr>
            </a:lvl7pPr>
            <a:lvl8pPr marL="3618967" indent="-241264" eaLnBrk="0" fontAlgn="base" hangingPunct="0">
              <a:spcBef>
                <a:spcPct val="30000"/>
              </a:spcBef>
              <a:spcAft>
                <a:spcPct val="0"/>
              </a:spcAft>
              <a:defRPr kumimoji="1" sz="1300">
                <a:solidFill>
                  <a:schemeClr val="tx1"/>
                </a:solidFill>
                <a:latin typeface="Arial" charset="0"/>
                <a:ea typeface="新細明體" charset="-120"/>
              </a:defRPr>
            </a:lvl8pPr>
            <a:lvl9pPr marL="4101495" indent="-241264" eaLnBrk="0" fontAlgn="base" hangingPunct="0">
              <a:spcBef>
                <a:spcPct val="30000"/>
              </a:spcBef>
              <a:spcAft>
                <a:spcPct val="0"/>
              </a:spcAft>
              <a:defRPr kumimoji="1" sz="1300">
                <a:solidFill>
                  <a:schemeClr val="tx1"/>
                </a:solidFill>
                <a:latin typeface="Arial" charset="0"/>
                <a:ea typeface="新細明體" charset="-120"/>
              </a:defRPr>
            </a:lvl9pPr>
          </a:lstStyle>
          <a:p>
            <a:fld id="{52951EEC-5FBB-47C9-956B-6F3533A94C33}" type="slidenum">
              <a:rPr lang="en-US" altLang="zh-TW"/>
              <a:pPr/>
              <a:t>17</a:t>
            </a:fld>
            <a:endParaRPr lang="en-US" altLang="zh-TW"/>
          </a:p>
        </p:txBody>
      </p:sp>
      <p:sp>
        <p:nvSpPr>
          <p:cNvPr id="35843" name="Rectangle 2"/>
          <p:cNvSpPr>
            <a:spLocks noGrp="1" noRot="1" noChangeAspect="1" noChangeArrowheads="1" noTextEdit="1"/>
          </p:cNvSpPr>
          <p:nvPr>
            <p:ph type="sldImg"/>
          </p:nvPr>
        </p:nvSpPr>
        <p:spPr>
          <a:xfrm>
            <a:off x="138113" y="768350"/>
            <a:ext cx="6821487" cy="38369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509755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300">
                <a:solidFill>
                  <a:schemeClr val="tx1"/>
                </a:solidFill>
                <a:latin typeface="Arial" charset="0"/>
                <a:ea typeface="新細明體" charset="-120"/>
              </a:defRPr>
            </a:lvl1pPr>
            <a:lvl2pPr marL="784109" indent="-301581">
              <a:defRPr kumimoji="1" sz="1300">
                <a:solidFill>
                  <a:schemeClr val="tx1"/>
                </a:solidFill>
                <a:latin typeface="Arial" charset="0"/>
                <a:ea typeface="新細明體" charset="-120"/>
              </a:defRPr>
            </a:lvl2pPr>
            <a:lvl3pPr marL="1206322" indent="-241264">
              <a:defRPr kumimoji="1" sz="1300">
                <a:solidFill>
                  <a:schemeClr val="tx1"/>
                </a:solidFill>
                <a:latin typeface="Arial" charset="0"/>
                <a:ea typeface="新細明體" charset="-120"/>
              </a:defRPr>
            </a:lvl3pPr>
            <a:lvl4pPr marL="1688851" indent="-241264">
              <a:defRPr kumimoji="1" sz="1300">
                <a:solidFill>
                  <a:schemeClr val="tx1"/>
                </a:solidFill>
                <a:latin typeface="Arial" charset="0"/>
                <a:ea typeface="新細明體" charset="-120"/>
              </a:defRPr>
            </a:lvl4pPr>
            <a:lvl5pPr marL="2171380" indent="-241264">
              <a:defRPr kumimoji="1" sz="1300">
                <a:solidFill>
                  <a:schemeClr val="tx1"/>
                </a:solidFill>
                <a:latin typeface="Arial" charset="0"/>
                <a:ea typeface="新細明體" charset="-120"/>
              </a:defRPr>
            </a:lvl5pPr>
            <a:lvl6pPr marL="2653909" indent="-241264" eaLnBrk="0" fontAlgn="base" hangingPunct="0">
              <a:spcBef>
                <a:spcPct val="30000"/>
              </a:spcBef>
              <a:spcAft>
                <a:spcPct val="0"/>
              </a:spcAft>
              <a:defRPr kumimoji="1" sz="1300">
                <a:solidFill>
                  <a:schemeClr val="tx1"/>
                </a:solidFill>
                <a:latin typeface="Arial" charset="0"/>
                <a:ea typeface="新細明體" charset="-120"/>
              </a:defRPr>
            </a:lvl6pPr>
            <a:lvl7pPr marL="3136438" indent="-241264" eaLnBrk="0" fontAlgn="base" hangingPunct="0">
              <a:spcBef>
                <a:spcPct val="30000"/>
              </a:spcBef>
              <a:spcAft>
                <a:spcPct val="0"/>
              </a:spcAft>
              <a:defRPr kumimoji="1" sz="1300">
                <a:solidFill>
                  <a:schemeClr val="tx1"/>
                </a:solidFill>
                <a:latin typeface="Arial" charset="0"/>
                <a:ea typeface="新細明體" charset="-120"/>
              </a:defRPr>
            </a:lvl7pPr>
            <a:lvl8pPr marL="3618967" indent="-241264" eaLnBrk="0" fontAlgn="base" hangingPunct="0">
              <a:spcBef>
                <a:spcPct val="30000"/>
              </a:spcBef>
              <a:spcAft>
                <a:spcPct val="0"/>
              </a:spcAft>
              <a:defRPr kumimoji="1" sz="1300">
                <a:solidFill>
                  <a:schemeClr val="tx1"/>
                </a:solidFill>
                <a:latin typeface="Arial" charset="0"/>
                <a:ea typeface="新細明體" charset="-120"/>
              </a:defRPr>
            </a:lvl8pPr>
            <a:lvl9pPr marL="4101495" indent="-241264" eaLnBrk="0" fontAlgn="base" hangingPunct="0">
              <a:spcBef>
                <a:spcPct val="30000"/>
              </a:spcBef>
              <a:spcAft>
                <a:spcPct val="0"/>
              </a:spcAft>
              <a:defRPr kumimoji="1" sz="1300">
                <a:solidFill>
                  <a:schemeClr val="tx1"/>
                </a:solidFill>
                <a:latin typeface="Arial" charset="0"/>
                <a:ea typeface="新細明體" charset="-120"/>
              </a:defRPr>
            </a:lvl9pPr>
          </a:lstStyle>
          <a:p>
            <a:fld id="{1959B4EF-A641-4DA2-8D52-3D25C479B70C}" type="slidenum">
              <a:rPr lang="en-US" altLang="zh-TW"/>
              <a:pPr/>
              <a:t>18</a:t>
            </a:fld>
            <a:endParaRPr lang="en-US" altLang="zh-TW"/>
          </a:p>
        </p:txBody>
      </p:sp>
      <p:sp>
        <p:nvSpPr>
          <p:cNvPr id="44035" name="Rectangle 2"/>
          <p:cNvSpPr>
            <a:spLocks noGrp="1" noRot="1" noChangeAspect="1" noChangeArrowheads="1" noTextEdit="1"/>
          </p:cNvSpPr>
          <p:nvPr>
            <p:ph type="sldImg"/>
          </p:nvPr>
        </p:nvSpPr>
        <p:spPr>
          <a:xfrm>
            <a:off x="138113" y="768350"/>
            <a:ext cx="6821487" cy="3836988"/>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3856700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300">
                <a:solidFill>
                  <a:schemeClr val="tx1"/>
                </a:solidFill>
                <a:latin typeface="Arial" charset="0"/>
                <a:ea typeface="新細明體" charset="-120"/>
              </a:defRPr>
            </a:lvl1pPr>
            <a:lvl2pPr marL="784109" indent="-301581">
              <a:defRPr kumimoji="1" sz="1300">
                <a:solidFill>
                  <a:schemeClr val="tx1"/>
                </a:solidFill>
                <a:latin typeface="Arial" charset="0"/>
                <a:ea typeface="新細明體" charset="-120"/>
              </a:defRPr>
            </a:lvl2pPr>
            <a:lvl3pPr marL="1206322" indent="-241264">
              <a:defRPr kumimoji="1" sz="1300">
                <a:solidFill>
                  <a:schemeClr val="tx1"/>
                </a:solidFill>
                <a:latin typeface="Arial" charset="0"/>
                <a:ea typeface="新細明體" charset="-120"/>
              </a:defRPr>
            </a:lvl3pPr>
            <a:lvl4pPr marL="1688851" indent="-241264">
              <a:defRPr kumimoji="1" sz="1300">
                <a:solidFill>
                  <a:schemeClr val="tx1"/>
                </a:solidFill>
                <a:latin typeface="Arial" charset="0"/>
                <a:ea typeface="新細明體" charset="-120"/>
              </a:defRPr>
            </a:lvl4pPr>
            <a:lvl5pPr marL="2171380" indent="-241264">
              <a:defRPr kumimoji="1" sz="1300">
                <a:solidFill>
                  <a:schemeClr val="tx1"/>
                </a:solidFill>
                <a:latin typeface="Arial" charset="0"/>
                <a:ea typeface="新細明體" charset="-120"/>
              </a:defRPr>
            </a:lvl5pPr>
            <a:lvl6pPr marL="2653909" indent="-241264" eaLnBrk="0" fontAlgn="base" hangingPunct="0">
              <a:spcBef>
                <a:spcPct val="30000"/>
              </a:spcBef>
              <a:spcAft>
                <a:spcPct val="0"/>
              </a:spcAft>
              <a:defRPr kumimoji="1" sz="1300">
                <a:solidFill>
                  <a:schemeClr val="tx1"/>
                </a:solidFill>
                <a:latin typeface="Arial" charset="0"/>
                <a:ea typeface="新細明體" charset="-120"/>
              </a:defRPr>
            </a:lvl6pPr>
            <a:lvl7pPr marL="3136438" indent="-241264" eaLnBrk="0" fontAlgn="base" hangingPunct="0">
              <a:spcBef>
                <a:spcPct val="30000"/>
              </a:spcBef>
              <a:spcAft>
                <a:spcPct val="0"/>
              </a:spcAft>
              <a:defRPr kumimoji="1" sz="1300">
                <a:solidFill>
                  <a:schemeClr val="tx1"/>
                </a:solidFill>
                <a:latin typeface="Arial" charset="0"/>
                <a:ea typeface="新細明體" charset="-120"/>
              </a:defRPr>
            </a:lvl7pPr>
            <a:lvl8pPr marL="3618967" indent="-241264" eaLnBrk="0" fontAlgn="base" hangingPunct="0">
              <a:spcBef>
                <a:spcPct val="30000"/>
              </a:spcBef>
              <a:spcAft>
                <a:spcPct val="0"/>
              </a:spcAft>
              <a:defRPr kumimoji="1" sz="1300">
                <a:solidFill>
                  <a:schemeClr val="tx1"/>
                </a:solidFill>
                <a:latin typeface="Arial" charset="0"/>
                <a:ea typeface="新細明體" charset="-120"/>
              </a:defRPr>
            </a:lvl8pPr>
            <a:lvl9pPr marL="4101495" indent="-241264" eaLnBrk="0" fontAlgn="base" hangingPunct="0">
              <a:spcBef>
                <a:spcPct val="30000"/>
              </a:spcBef>
              <a:spcAft>
                <a:spcPct val="0"/>
              </a:spcAft>
              <a:defRPr kumimoji="1" sz="1300">
                <a:solidFill>
                  <a:schemeClr val="tx1"/>
                </a:solidFill>
                <a:latin typeface="Arial" charset="0"/>
                <a:ea typeface="新細明體" charset="-120"/>
              </a:defRPr>
            </a:lvl9pPr>
          </a:lstStyle>
          <a:p>
            <a:fld id="{7AE4D58D-5E20-4F5C-B865-576C4A5CB9F0}" type="slidenum">
              <a:rPr lang="en-US" altLang="zh-TW"/>
              <a:pPr/>
              <a:t>19</a:t>
            </a:fld>
            <a:endParaRPr lang="en-US" altLang="zh-TW"/>
          </a:p>
        </p:txBody>
      </p:sp>
      <p:sp>
        <p:nvSpPr>
          <p:cNvPr id="61443" name="Rectangle 2"/>
          <p:cNvSpPr>
            <a:spLocks noGrp="1" noRot="1" noChangeAspect="1" noChangeArrowheads="1" noTextEdit="1"/>
          </p:cNvSpPr>
          <p:nvPr>
            <p:ph type="sldImg"/>
          </p:nvPr>
        </p:nvSpPr>
        <p:spPr>
          <a:xfrm>
            <a:off x="138113" y="768350"/>
            <a:ext cx="6821487" cy="3836988"/>
          </a:xfrm>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1304978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1300">
                <a:solidFill>
                  <a:schemeClr val="tx1"/>
                </a:solidFill>
                <a:latin typeface="Arial" charset="0"/>
                <a:ea typeface="新細明體" charset="-120"/>
              </a:defRPr>
            </a:lvl1pPr>
            <a:lvl2pPr marL="784109" indent="-301581">
              <a:defRPr kumimoji="1" sz="1300">
                <a:solidFill>
                  <a:schemeClr val="tx1"/>
                </a:solidFill>
                <a:latin typeface="Arial" charset="0"/>
                <a:ea typeface="新細明體" charset="-120"/>
              </a:defRPr>
            </a:lvl2pPr>
            <a:lvl3pPr marL="1206322" indent="-241264">
              <a:defRPr kumimoji="1" sz="1300">
                <a:solidFill>
                  <a:schemeClr val="tx1"/>
                </a:solidFill>
                <a:latin typeface="Arial" charset="0"/>
                <a:ea typeface="新細明體" charset="-120"/>
              </a:defRPr>
            </a:lvl3pPr>
            <a:lvl4pPr marL="1688851" indent="-241264">
              <a:defRPr kumimoji="1" sz="1300">
                <a:solidFill>
                  <a:schemeClr val="tx1"/>
                </a:solidFill>
                <a:latin typeface="Arial" charset="0"/>
                <a:ea typeface="新細明體" charset="-120"/>
              </a:defRPr>
            </a:lvl4pPr>
            <a:lvl5pPr marL="2171380" indent="-241264">
              <a:defRPr kumimoji="1" sz="1300">
                <a:solidFill>
                  <a:schemeClr val="tx1"/>
                </a:solidFill>
                <a:latin typeface="Arial" charset="0"/>
                <a:ea typeface="新細明體" charset="-120"/>
              </a:defRPr>
            </a:lvl5pPr>
            <a:lvl6pPr marL="2653909" indent="-241264" eaLnBrk="0" fontAlgn="base" hangingPunct="0">
              <a:spcBef>
                <a:spcPct val="30000"/>
              </a:spcBef>
              <a:spcAft>
                <a:spcPct val="0"/>
              </a:spcAft>
              <a:defRPr kumimoji="1" sz="1300">
                <a:solidFill>
                  <a:schemeClr val="tx1"/>
                </a:solidFill>
                <a:latin typeface="Arial" charset="0"/>
                <a:ea typeface="新細明體" charset="-120"/>
              </a:defRPr>
            </a:lvl6pPr>
            <a:lvl7pPr marL="3136438" indent="-241264" eaLnBrk="0" fontAlgn="base" hangingPunct="0">
              <a:spcBef>
                <a:spcPct val="30000"/>
              </a:spcBef>
              <a:spcAft>
                <a:spcPct val="0"/>
              </a:spcAft>
              <a:defRPr kumimoji="1" sz="1300">
                <a:solidFill>
                  <a:schemeClr val="tx1"/>
                </a:solidFill>
                <a:latin typeface="Arial" charset="0"/>
                <a:ea typeface="新細明體" charset="-120"/>
              </a:defRPr>
            </a:lvl7pPr>
            <a:lvl8pPr marL="3618967" indent="-241264" eaLnBrk="0" fontAlgn="base" hangingPunct="0">
              <a:spcBef>
                <a:spcPct val="30000"/>
              </a:spcBef>
              <a:spcAft>
                <a:spcPct val="0"/>
              </a:spcAft>
              <a:defRPr kumimoji="1" sz="1300">
                <a:solidFill>
                  <a:schemeClr val="tx1"/>
                </a:solidFill>
                <a:latin typeface="Arial" charset="0"/>
                <a:ea typeface="新細明體" charset="-120"/>
              </a:defRPr>
            </a:lvl8pPr>
            <a:lvl9pPr marL="4101495" indent="-241264" eaLnBrk="0" fontAlgn="base" hangingPunct="0">
              <a:spcBef>
                <a:spcPct val="30000"/>
              </a:spcBef>
              <a:spcAft>
                <a:spcPct val="0"/>
              </a:spcAft>
              <a:defRPr kumimoji="1" sz="1300">
                <a:solidFill>
                  <a:schemeClr val="tx1"/>
                </a:solidFill>
                <a:latin typeface="Arial" charset="0"/>
                <a:ea typeface="新細明體" charset="-120"/>
              </a:defRPr>
            </a:lvl9pPr>
          </a:lstStyle>
          <a:p>
            <a:fld id="{09831F8C-E534-4B49-A54B-C463230BCC80}" type="slidenum">
              <a:rPr lang="en-US" altLang="zh-TW"/>
              <a:pPr/>
              <a:t>22</a:t>
            </a:fld>
            <a:endParaRPr lang="en-US" altLang="zh-TW"/>
          </a:p>
        </p:txBody>
      </p:sp>
      <p:sp>
        <p:nvSpPr>
          <p:cNvPr id="67587" name="Rectangle 2"/>
          <p:cNvSpPr>
            <a:spLocks noGrp="1" noRot="1" noChangeAspect="1" noChangeArrowheads="1" noTextEdit="1"/>
          </p:cNvSpPr>
          <p:nvPr>
            <p:ph type="sldImg"/>
          </p:nvPr>
        </p:nvSpPr>
        <p:spPr>
          <a:xfrm>
            <a:off x="138113" y="768350"/>
            <a:ext cx="6821487" cy="3836988"/>
          </a:xfrm>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zh-TW">
              <a:ea typeface="新細明體" charset="-120"/>
            </a:endParaRPr>
          </a:p>
        </p:txBody>
      </p:sp>
    </p:spTree>
    <p:extLst>
      <p:ext uri="{BB962C8B-B14F-4D97-AF65-F5344CB8AC3E}">
        <p14:creationId xmlns:p14="http://schemas.microsoft.com/office/powerpoint/2010/main" val="521634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18557A-C5D5-2D35-E674-231ECDD4668A}"/>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F96ACE05-7157-E562-F122-988EF85BDF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92717A3F-0AEB-7C5C-3715-C34A0B66955A}"/>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5" name="頁尾版面配置區 4">
            <a:extLst>
              <a:ext uri="{FF2B5EF4-FFF2-40B4-BE49-F238E27FC236}">
                <a16:creationId xmlns:a16="http://schemas.microsoft.com/office/drawing/2014/main" id="{F3A050CE-F5E1-243F-39FB-EE3ABA4C4B5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D6F7A8A-2C6A-CBF1-84F9-77E1CFDACA52}"/>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3516055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738A25-02F4-61E0-A08B-785074D52091}"/>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CDCDBAA9-5E86-37D1-DA09-327BDEF00BC0}"/>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1F537D9-B3D4-B778-84A3-7A0456BFAB75}"/>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5" name="頁尾版面配置區 4">
            <a:extLst>
              <a:ext uri="{FF2B5EF4-FFF2-40B4-BE49-F238E27FC236}">
                <a16:creationId xmlns:a16="http://schemas.microsoft.com/office/drawing/2014/main" id="{F0E74EAB-31AC-7C11-2298-B95885ECBB8E}"/>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42FFF33-6610-1DEC-3FA0-94C4F8ED934E}"/>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579295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F3A9F2-9808-664D-2D04-CD2FAA54747E}"/>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BD1C9DBA-2896-968D-D479-4884EBD251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3B191298-473A-11A6-AA40-9A5E90020CD2}"/>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5" name="頁尾版面配置區 4">
            <a:extLst>
              <a:ext uri="{FF2B5EF4-FFF2-40B4-BE49-F238E27FC236}">
                <a16:creationId xmlns:a16="http://schemas.microsoft.com/office/drawing/2014/main" id="{31F2B51D-44FB-BDDC-0D15-66DE857A9E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A225B14-6D56-8396-CC56-7274B13EC2D3}"/>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205017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A6548B-541D-A6CB-9C77-4979207B8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F9E5CF4-6487-9FCA-4253-F08C14F77F96}"/>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CC4A96A8-6A9E-201A-1143-97236F606EBE}"/>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3D457201-8463-F541-026E-CDB898A2C12E}"/>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6" name="頁尾版面配置區 5">
            <a:extLst>
              <a:ext uri="{FF2B5EF4-FFF2-40B4-BE49-F238E27FC236}">
                <a16:creationId xmlns:a16="http://schemas.microsoft.com/office/drawing/2014/main" id="{4F4752B9-2C3C-B3F3-540E-43977C62875A}"/>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6618DFA-1990-EBF7-2503-11556BE10954}"/>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1686468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448280F-9222-C7CF-8C63-F0D67968A6FF}"/>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BE9F8CBB-9130-5CD9-7B39-1AE171FD71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6B99C7EA-AD50-9570-A39D-FB9F407A60CF}"/>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C4FEB530-15FD-12CD-9CE4-5492F2D648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A407ED9-A692-7E0C-6EB8-A0FA6D4A3163}"/>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6DE56E67-E23A-C6E4-B2F2-6973840488A3}"/>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8" name="頁尾版面配置區 7">
            <a:extLst>
              <a:ext uri="{FF2B5EF4-FFF2-40B4-BE49-F238E27FC236}">
                <a16:creationId xmlns:a16="http://schemas.microsoft.com/office/drawing/2014/main" id="{B2CED2B7-C62C-2F7A-6535-4A520DDE09D5}"/>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6CA410CD-1FF8-2047-AA22-E0E14C50B5B3}"/>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2038909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E4EE55-0878-E7FE-405A-5F5DADA2F6A8}"/>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76305AB9-9413-A8DF-E5CC-98C9AC9FDE82}"/>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4" name="頁尾版面配置區 3">
            <a:extLst>
              <a:ext uri="{FF2B5EF4-FFF2-40B4-BE49-F238E27FC236}">
                <a16:creationId xmlns:a16="http://schemas.microsoft.com/office/drawing/2014/main" id="{82B497B8-9775-D7BA-E466-54F56DCFB6D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1FFA35C-ACA7-FCF4-0E58-5E8B89E20568}"/>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3628629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0EFCBFD-86AF-C829-780D-A9104EDE0747}"/>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3" name="頁尾版面配置區 2">
            <a:extLst>
              <a:ext uri="{FF2B5EF4-FFF2-40B4-BE49-F238E27FC236}">
                <a16:creationId xmlns:a16="http://schemas.microsoft.com/office/drawing/2014/main" id="{2724A16E-3449-F935-1FF7-754A213A74A2}"/>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357ED0D2-1370-3CE1-144D-5DDFB4705CFA}"/>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4212204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F61D81-E501-48F0-EF9C-2406679A779D}"/>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8EE5DA26-30FC-F0EB-948A-6DCA0A5B55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6CA347F2-5472-A1F7-2D78-A315C1657D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23AAC30-2134-2622-08C1-6286C1B466EE}"/>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6" name="頁尾版面配置區 5">
            <a:extLst>
              <a:ext uri="{FF2B5EF4-FFF2-40B4-BE49-F238E27FC236}">
                <a16:creationId xmlns:a16="http://schemas.microsoft.com/office/drawing/2014/main" id="{B786444E-7860-9ED6-83C3-C6C8DF83D566}"/>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9DB4B3F-34F0-C88A-67FB-6BE727D7432C}"/>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3583600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3A21C9-1E8A-64D8-6768-A8090F1F727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6CB90EE3-77C8-B02F-E432-8A7710EBD3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A7D741BB-2E24-6AF0-56E9-D983A76238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C63E771D-0C0A-06B8-2D63-19C7337248CF}"/>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6" name="頁尾版面配置區 5">
            <a:extLst>
              <a:ext uri="{FF2B5EF4-FFF2-40B4-BE49-F238E27FC236}">
                <a16:creationId xmlns:a16="http://schemas.microsoft.com/office/drawing/2014/main" id="{BDB6FA35-F006-E0D0-653C-4A7DE7376C3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E2257E36-88C2-A7DF-BB90-81755992E991}"/>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1261909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23700A-ADEA-B869-605B-A936ADCA9F5C}"/>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DDAFE15F-9071-15F0-C15A-86D6B8F0C9ED}"/>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F536E4B2-E645-8661-C260-D9DEAADB29A3}"/>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5" name="頁尾版面配置區 4">
            <a:extLst>
              <a:ext uri="{FF2B5EF4-FFF2-40B4-BE49-F238E27FC236}">
                <a16:creationId xmlns:a16="http://schemas.microsoft.com/office/drawing/2014/main" id="{3A401834-35ED-F245-F685-1B378364CE6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2E5599F-631E-C754-E11C-B25865881D32}"/>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698858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B5E3AA9-9C63-9337-5481-B6B13F9C3394}"/>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118F143E-0105-1061-BE40-7E041D4869A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278C5E6E-5616-69C1-C0E9-F89426926265}"/>
              </a:ext>
            </a:extLst>
          </p:cNvPr>
          <p:cNvSpPr>
            <a:spLocks noGrp="1"/>
          </p:cNvSpPr>
          <p:nvPr>
            <p:ph type="dt" sz="half" idx="10"/>
          </p:nvPr>
        </p:nvSpPr>
        <p:spPr/>
        <p:txBody>
          <a:bodyPr/>
          <a:lstStyle/>
          <a:p>
            <a:fld id="{2FB7F6F1-2CAD-224D-856C-59C86C428297}" type="datetimeFigureOut">
              <a:rPr kumimoji="1" lang="zh-TW" altLang="en-US" smtClean="0"/>
              <a:t>2026/9/11</a:t>
            </a:fld>
            <a:endParaRPr kumimoji="1" lang="zh-TW" altLang="en-US"/>
          </a:p>
        </p:txBody>
      </p:sp>
      <p:sp>
        <p:nvSpPr>
          <p:cNvPr id="5" name="頁尾版面配置區 4">
            <a:extLst>
              <a:ext uri="{FF2B5EF4-FFF2-40B4-BE49-F238E27FC236}">
                <a16:creationId xmlns:a16="http://schemas.microsoft.com/office/drawing/2014/main" id="{82BB1490-E620-3BDB-6432-782BE3809F9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FCDBC42-FF05-D723-4705-9076B9AE6968}"/>
              </a:ext>
            </a:extLst>
          </p:cNvPr>
          <p:cNvSpPr>
            <a:spLocks noGrp="1"/>
          </p:cNvSpPr>
          <p:nvPr>
            <p:ph type="sldNum" sz="quarter" idx="12"/>
          </p:nvPr>
        </p:nvSpPr>
        <p:spPr/>
        <p:txBody>
          <a:body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3790646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A8B0B65-ED4E-792B-6433-EE9084D58F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E4347D3-2469-C4A2-1354-D00404B4EB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0A81884-64DF-5B2F-34DB-CCB7678791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B7F6F1-2CAD-224D-856C-59C86C428297}" type="datetimeFigureOut">
              <a:rPr kumimoji="1" lang="zh-TW" altLang="en-US" smtClean="0"/>
              <a:t>2026/9/11</a:t>
            </a:fld>
            <a:endParaRPr kumimoji="1" lang="zh-TW" altLang="en-US"/>
          </a:p>
        </p:txBody>
      </p:sp>
      <p:sp>
        <p:nvSpPr>
          <p:cNvPr id="5" name="頁尾版面配置區 4">
            <a:extLst>
              <a:ext uri="{FF2B5EF4-FFF2-40B4-BE49-F238E27FC236}">
                <a16:creationId xmlns:a16="http://schemas.microsoft.com/office/drawing/2014/main" id="{9470FE09-6E53-842B-A065-829F83988B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57BF416-ECCA-5EF4-A77B-999193ADB2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B70A38-DA40-D94E-A4E8-AB3EA6F90182}" type="slidenum">
              <a:rPr kumimoji="1" lang="zh-TW" altLang="en-US" smtClean="0"/>
              <a:t>‹#›</a:t>
            </a:fld>
            <a:endParaRPr kumimoji="1" lang="zh-TW" altLang="en-US"/>
          </a:p>
        </p:txBody>
      </p:sp>
    </p:spTree>
    <p:extLst>
      <p:ext uri="{BB962C8B-B14F-4D97-AF65-F5344CB8AC3E}">
        <p14:creationId xmlns:p14="http://schemas.microsoft.com/office/powerpoint/2010/main" val="3874397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yzhu@mail.ntust.edu.tw"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scholar.google.com.tw/citations?user=vsaPpZ8AAAAJ&amp;hl=zh-T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D45973-EED4-6641-AC0C-02A3A7EAEC27}"/>
              </a:ext>
            </a:extLst>
          </p:cNvPr>
          <p:cNvSpPr>
            <a:spLocks noGrp="1"/>
          </p:cNvSpPr>
          <p:nvPr>
            <p:ph type="ctrTitle"/>
          </p:nvPr>
        </p:nvSpPr>
        <p:spPr/>
        <p:txBody>
          <a:bodyPr/>
          <a:lstStyle/>
          <a:p>
            <a:r>
              <a:rPr kumimoji="1" lang="zh-TW" altLang="en-US" dirty="0">
                <a:latin typeface="+mj-ea"/>
              </a:rPr>
              <a:t>研究方法</a:t>
            </a:r>
          </a:p>
        </p:txBody>
      </p:sp>
      <p:sp>
        <p:nvSpPr>
          <p:cNvPr id="3" name="副標題 2">
            <a:extLst>
              <a:ext uri="{FF2B5EF4-FFF2-40B4-BE49-F238E27FC236}">
                <a16:creationId xmlns:a16="http://schemas.microsoft.com/office/drawing/2014/main" id="{174997EB-9E27-BF0B-B3F8-1F16E4D6BDBF}"/>
              </a:ext>
            </a:extLst>
          </p:cNvPr>
          <p:cNvSpPr>
            <a:spLocks noGrp="1"/>
          </p:cNvSpPr>
          <p:nvPr>
            <p:ph type="subTitle" idx="1"/>
          </p:nvPr>
        </p:nvSpPr>
        <p:spPr/>
        <p:txBody>
          <a:bodyPr/>
          <a:lstStyle/>
          <a:p>
            <a:endParaRPr kumimoji="1" lang="zh-TW" altLang="en-US"/>
          </a:p>
        </p:txBody>
      </p:sp>
    </p:spTree>
    <p:extLst>
      <p:ext uri="{BB962C8B-B14F-4D97-AF65-F5344CB8AC3E}">
        <p14:creationId xmlns:p14="http://schemas.microsoft.com/office/powerpoint/2010/main" val="3696896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413025" y="5448503"/>
            <a:ext cx="1090643" cy="1088897"/>
            <a:chOff x="0" y="0"/>
            <a:chExt cx="6350000" cy="6339840"/>
          </a:xfrm>
        </p:grpSpPr>
        <p:sp>
          <p:nvSpPr>
            <p:cNvPr id="9" name="Freeform 9"/>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2B4A9D"/>
            </a:solidFill>
          </p:spPr>
        </p:sp>
      </p:grpSp>
      <p:grpSp>
        <p:nvGrpSpPr>
          <p:cNvPr id="10" name="Group 10"/>
          <p:cNvGrpSpPr/>
          <p:nvPr/>
        </p:nvGrpSpPr>
        <p:grpSpPr>
          <a:xfrm rot="5400000">
            <a:off x="412152" y="377434"/>
            <a:ext cx="1090643" cy="1088897"/>
            <a:chOff x="0" y="0"/>
            <a:chExt cx="6350000" cy="6339840"/>
          </a:xfrm>
        </p:grpSpPr>
        <p:sp>
          <p:nvSpPr>
            <p:cNvPr id="11" name="Freeform 11"/>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2B4A9D"/>
            </a:solidFill>
          </p:spPr>
        </p:sp>
      </p:grpSp>
      <p:sp>
        <p:nvSpPr>
          <p:cNvPr id="16" name="內容版面配置區 2">
            <a:extLst>
              <a:ext uri="{FF2B5EF4-FFF2-40B4-BE49-F238E27FC236}">
                <a16:creationId xmlns:a16="http://schemas.microsoft.com/office/drawing/2014/main" id="{9E942279-2AF1-E99F-5AB2-A2A765A14B5B}"/>
              </a:ext>
            </a:extLst>
          </p:cNvPr>
          <p:cNvSpPr txBox="1">
            <a:spLocks/>
          </p:cNvSpPr>
          <p:nvPr/>
        </p:nvSpPr>
        <p:spPr>
          <a:xfrm>
            <a:off x="1546302" y="875202"/>
            <a:ext cx="4996245" cy="5107595"/>
          </a:xfrm>
          <a:prstGeom prst="rect">
            <a:avLst/>
          </a:prstGeom>
        </p:spPr>
        <p:txBody>
          <a:bodyPr>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TW" altLang="en-US" sz="4000" b="1" dirty="0">
                <a:latin typeface="Microsoft JhengHei" panose="020B0604030504040204" pitchFamily="34" charset="-120"/>
                <a:ea typeface="Microsoft JhengHei" panose="020B0604030504040204" pitchFamily="34" charset="-120"/>
                <a:cs typeface="Times New Roman" panose="02020603050405020304" pitchFamily="18" charset="0"/>
              </a:rPr>
              <a:t>朱宇倩</a:t>
            </a:r>
            <a:endParaRPr lang="en-US" altLang="zh-TW" sz="4000" b="1" dirty="0">
              <a:latin typeface="Microsoft JhengHei" panose="020B0604030504040204" pitchFamily="34" charset="-120"/>
              <a:ea typeface="Microsoft JhengHei" panose="020B0604030504040204" pitchFamily="34" charset="-120"/>
              <a:cs typeface="Times New Roman" panose="02020603050405020304" pitchFamily="18" charset="0"/>
            </a:endParaRPr>
          </a:p>
          <a:p>
            <a:pPr marL="0" indent="0">
              <a:buNone/>
              <a:defRPr/>
            </a:pPr>
            <a:endParaRPr lang="en-US" altLang="zh-TW" sz="1333" b="1" dirty="0">
              <a:latin typeface="Microsoft JhengHei" panose="020B0604030504040204" pitchFamily="34" charset="-120"/>
              <a:ea typeface="Microsoft JhengHei" panose="020B0604030504040204" pitchFamily="34" charset="-120"/>
              <a:cs typeface="Times New Roman" panose="02020603050405020304" pitchFamily="18" charset="0"/>
            </a:endParaRPr>
          </a:p>
          <a:p>
            <a:pPr indent="152408"/>
            <a:r>
              <a:rPr lang="zh-TW" altLang="zh-TW" sz="1867" kern="100" dirty="0">
                <a:latin typeface="Microsoft JhengHei" panose="020B0604030504040204" pitchFamily="34" charset="-120"/>
                <a:ea typeface="Microsoft JhengHei" panose="020B0604030504040204" pitchFamily="34" charset="-120"/>
              </a:rPr>
              <a:t>國立臺灣科技大學資管系</a:t>
            </a:r>
            <a:r>
              <a:rPr lang="en-US" altLang="zh-TW" sz="1867" kern="100" dirty="0">
                <a:latin typeface="Microsoft JhengHei" panose="020B0604030504040204" pitchFamily="34" charset="-120"/>
                <a:ea typeface="Microsoft JhengHei" panose="020B0604030504040204" pitchFamily="34" charset="-120"/>
              </a:rPr>
              <a:t>	</a:t>
            </a:r>
            <a:r>
              <a:rPr lang="zh-TW" altLang="zh-TW" sz="1867" kern="100" dirty="0">
                <a:latin typeface="Microsoft JhengHei" panose="020B0604030504040204" pitchFamily="34" charset="-120"/>
                <a:ea typeface="Microsoft JhengHei" panose="020B0604030504040204" pitchFamily="34" charset="-120"/>
              </a:rPr>
              <a:t>教授</a:t>
            </a:r>
          </a:p>
          <a:p>
            <a:pPr indent="152408">
              <a:spcBef>
                <a:spcPts val="600"/>
              </a:spcBef>
            </a:pPr>
            <a:r>
              <a:rPr lang="zh-TW" altLang="zh-TW" sz="1867" kern="100" dirty="0">
                <a:latin typeface="Microsoft JhengHei" panose="020B0604030504040204" pitchFamily="34" charset="-120"/>
                <a:ea typeface="Microsoft JhengHei" panose="020B0604030504040204" pitchFamily="34" charset="-120"/>
              </a:rPr>
              <a:t>國立臺灣科技大學資管系</a:t>
            </a:r>
            <a:r>
              <a:rPr lang="en-US" altLang="zh-TW" sz="1867" kern="100" dirty="0">
                <a:latin typeface="Microsoft JhengHei" panose="020B0604030504040204" pitchFamily="34" charset="-120"/>
                <a:ea typeface="Microsoft JhengHei" panose="020B0604030504040204" pitchFamily="34" charset="-120"/>
              </a:rPr>
              <a:t>	</a:t>
            </a:r>
            <a:r>
              <a:rPr lang="zh-TW" altLang="zh-TW" sz="1867" kern="100" dirty="0">
                <a:latin typeface="Microsoft JhengHei" panose="020B0604030504040204" pitchFamily="34" charset="-120"/>
                <a:ea typeface="Microsoft JhengHei" panose="020B0604030504040204" pitchFamily="34" charset="-120"/>
              </a:rPr>
              <a:t>副教授</a:t>
            </a:r>
          </a:p>
          <a:p>
            <a:pPr indent="152408">
              <a:spcBef>
                <a:spcPts val="600"/>
              </a:spcBef>
            </a:pPr>
            <a:r>
              <a:rPr lang="zh-TW" altLang="zh-TW" sz="1867" kern="100" dirty="0">
                <a:latin typeface="Microsoft JhengHei" panose="020B0604030504040204" pitchFamily="34" charset="-120"/>
                <a:ea typeface="Microsoft JhengHei" panose="020B0604030504040204" pitchFamily="34" charset="-120"/>
              </a:rPr>
              <a:t>國立臺灣科技大學資管系</a:t>
            </a:r>
            <a:r>
              <a:rPr lang="en-US" altLang="zh-TW" sz="1867" kern="100" dirty="0">
                <a:latin typeface="Microsoft JhengHei" panose="020B0604030504040204" pitchFamily="34" charset="-120"/>
                <a:ea typeface="Microsoft JhengHei" panose="020B0604030504040204" pitchFamily="34" charset="-120"/>
              </a:rPr>
              <a:t>	</a:t>
            </a:r>
            <a:r>
              <a:rPr lang="zh-TW" altLang="zh-TW" sz="1867" kern="100" dirty="0">
                <a:latin typeface="Microsoft JhengHei" panose="020B0604030504040204" pitchFamily="34" charset="-120"/>
                <a:ea typeface="Microsoft JhengHei" panose="020B0604030504040204" pitchFamily="34" charset="-120"/>
              </a:rPr>
              <a:t>助理教授</a:t>
            </a:r>
            <a:endParaRPr lang="en-US" altLang="zh-TW" sz="1867" kern="100" dirty="0">
              <a:latin typeface="Microsoft JhengHei" panose="020B0604030504040204" pitchFamily="34" charset="-120"/>
              <a:ea typeface="Microsoft JhengHei" panose="020B0604030504040204" pitchFamily="34" charset="-120"/>
            </a:endParaRPr>
          </a:p>
          <a:p>
            <a:pPr indent="152408">
              <a:spcBef>
                <a:spcPts val="600"/>
              </a:spcBef>
            </a:pP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中華經濟研究院顧問</a:t>
            </a:r>
            <a:endPar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endParaRPr>
          </a:p>
          <a:p>
            <a:pPr indent="152408">
              <a:spcBef>
                <a:spcPts val="600"/>
              </a:spcBef>
            </a:pP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華碩電腦  課長</a:t>
            </a:r>
            <a:endPar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endParaRPr>
          </a:p>
          <a:p>
            <a:pPr indent="152408">
              <a:spcBef>
                <a:spcPts val="600"/>
              </a:spcBef>
            </a:pP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美國 </a:t>
            </a:r>
            <a:r>
              <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rPr>
              <a:t>AT&amp;T/ AT&amp;T </a:t>
            </a: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實驗室 工程師</a:t>
            </a:r>
            <a:endPar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endParaRPr>
          </a:p>
          <a:p>
            <a:pPr>
              <a:lnSpc>
                <a:spcPct val="120000"/>
              </a:lnSpc>
              <a:spcBef>
                <a:spcPts val="1000"/>
              </a:spcBef>
              <a:buFont typeface="Wingdings" panose="05000000000000000000" pitchFamily="2" charset="2"/>
              <a:buChar char="ü"/>
              <a:defRPr/>
            </a:pPr>
            <a:r>
              <a:rPr lang="zh-TW" altLang="zh-TW" sz="1867" dirty="0">
                <a:latin typeface="Microsoft JhengHei" panose="020B0604030504040204" pitchFamily="34" charset="-120"/>
                <a:ea typeface="Microsoft JhengHei" panose="020B0604030504040204" pitchFamily="34" charset="-120"/>
                <a:cs typeface="Times New Roman" panose="02020603050405020304" pitchFamily="18" charset="0"/>
              </a:rPr>
              <a:t>承接經濟部工業局、台灣網路資訊中心、資策會、科技部多項委託專案</a:t>
            </a:r>
          </a:p>
          <a:p>
            <a:pPr>
              <a:spcBef>
                <a:spcPts val="1000"/>
              </a:spcBef>
              <a:buFont typeface="Wingdings" panose="05000000000000000000" pitchFamily="2" charset="2"/>
              <a:buChar char="ü"/>
              <a:defRPr/>
            </a:pPr>
            <a:r>
              <a:rPr lang="zh-TW" altLang="zh-TW" sz="1867" dirty="0">
                <a:latin typeface="Microsoft JhengHei" panose="020B0604030504040204" pitchFamily="34" charset="-120"/>
                <a:ea typeface="Microsoft JhengHei" panose="020B0604030504040204" pitchFamily="34" charset="-120"/>
                <a:cs typeface="Times New Roman" panose="02020603050405020304" pitchFamily="18" charset="0"/>
              </a:rPr>
              <a:t>受邀伊甸基金會演講大數據分析</a:t>
            </a:r>
            <a:endPar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endParaRPr>
          </a:p>
          <a:p>
            <a:pPr>
              <a:spcBef>
                <a:spcPts val="1000"/>
              </a:spcBef>
              <a:buFont typeface="Wingdings" panose="05000000000000000000" pitchFamily="2" charset="2"/>
              <a:buChar char="ü"/>
              <a:defRPr/>
            </a:pP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台電、統一高階主管培訓講師</a:t>
            </a:r>
            <a:endPar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endParaRPr>
          </a:p>
          <a:p>
            <a:pPr>
              <a:spcBef>
                <a:spcPts val="1000"/>
              </a:spcBef>
              <a:buFont typeface="Wingdings" panose="05000000000000000000" pitchFamily="2" charset="2"/>
              <a:buChar char="ü"/>
              <a:defRPr/>
            </a:pPr>
            <a:r>
              <a:rPr lang="zh-TW" altLang="zh-TW" sz="1867" dirty="0">
                <a:latin typeface="Microsoft JhengHei" panose="020B0604030504040204" pitchFamily="34" charset="-120"/>
                <a:ea typeface="Microsoft JhengHei" panose="020B0604030504040204" pitchFamily="34" charset="-120"/>
                <a:cs typeface="Times New Roman" panose="02020603050405020304" pitchFamily="18" charset="0"/>
              </a:rPr>
              <a:t>具多家獲獎創新創業團隊輔導經驗</a:t>
            </a:r>
            <a:endPar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endParaRPr>
          </a:p>
          <a:p>
            <a:endParaRPr lang="zh-TW" altLang="en-US" sz="1867" dirty="0">
              <a:latin typeface="Microsoft JhengHei" panose="020B0604030504040204" pitchFamily="34" charset="-120"/>
              <a:ea typeface="Microsoft JhengHei" panose="020B0604030504040204" pitchFamily="34" charset="-120"/>
            </a:endParaRPr>
          </a:p>
        </p:txBody>
      </p:sp>
      <p:sp>
        <p:nvSpPr>
          <p:cNvPr id="21" name="矩形 20">
            <a:extLst>
              <a:ext uri="{FF2B5EF4-FFF2-40B4-BE49-F238E27FC236}">
                <a16:creationId xmlns:a16="http://schemas.microsoft.com/office/drawing/2014/main" id="{B7AE93B0-10EE-271E-1E6A-91566C44314F}"/>
              </a:ext>
            </a:extLst>
          </p:cNvPr>
          <p:cNvSpPr/>
          <p:nvPr/>
        </p:nvSpPr>
        <p:spPr>
          <a:xfrm>
            <a:off x="7323561" y="1761066"/>
            <a:ext cx="4633495" cy="646331"/>
          </a:xfrm>
          <a:prstGeom prst="rect">
            <a:avLst/>
          </a:prstGeom>
        </p:spPr>
        <p:txBody>
          <a:bodyPr wrap="square">
            <a:spAutoFit/>
          </a:bodyPr>
          <a:lstStyle/>
          <a:p>
            <a:pPr>
              <a:defRPr/>
            </a:pPr>
            <a:r>
              <a:rPr lang="zh-TW" altLang="en-US" dirty="0">
                <a:latin typeface="Microsoft JhengHei" panose="020B0604030504040204" pitchFamily="34" charset="-120"/>
                <a:ea typeface="Microsoft JhengHei" panose="020B0604030504040204" pitchFamily="34" charset="-120"/>
                <a:cs typeface="Times New Roman" panose="02020603050405020304" pitchFamily="18" charset="0"/>
              </a:rPr>
              <a:t>國立台灣大學 商研所 博士 </a:t>
            </a:r>
            <a:endParaRPr lang="en-US" altLang="zh-TW" dirty="0">
              <a:latin typeface="Microsoft JhengHei" panose="020B0604030504040204" pitchFamily="34" charset="-120"/>
              <a:ea typeface="Microsoft JhengHei" panose="020B0604030504040204" pitchFamily="34" charset="-120"/>
              <a:cs typeface="Times New Roman" panose="02020603050405020304" pitchFamily="18" charset="0"/>
            </a:endParaRPr>
          </a:p>
          <a:p>
            <a:pPr>
              <a:defRPr/>
            </a:pPr>
            <a:r>
              <a:rPr lang="zh-TW" altLang="en-US" dirty="0">
                <a:latin typeface="Microsoft JhengHei" panose="020B0604030504040204" pitchFamily="34" charset="-120"/>
                <a:ea typeface="Microsoft JhengHei" panose="020B0604030504040204" pitchFamily="34" charset="-120"/>
                <a:cs typeface="Times New Roman" panose="02020603050405020304" pitchFamily="18" charset="0"/>
              </a:rPr>
              <a:t>美國丹佛大學 國際經濟</a:t>
            </a:r>
            <a:r>
              <a:rPr lang="en-US" altLang="zh-TW" dirty="0">
                <a:latin typeface="Microsoft JhengHei" panose="020B0604030504040204" pitchFamily="34" charset="-120"/>
                <a:ea typeface="Microsoft JhengHei" panose="020B0604030504040204" pitchFamily="34" charset="-120"/>
                <a:cs typeface="Times New Roman" panose="02020603050405020304" pitchFamily="18" charset="0"/>
              </a:rPr>
              <a:t>/</a:t>
            </a:r>
            <a:r>
              <a:rPr lang="zh-TW" altLang="en-US" dirty="0">
                <a:latin typeface="Microsoft JhengHei" panose="020B0604030504040204" pitchFamily="34" charset="-120"/>
                <a:ea typeface="Microsoft JhengHei" panose="020B0604030504040204" pitchFamily="34" charset="-120"/>
                <a:cs typeface="Times New Roman" panose="02020603050405020304" pitchFamily="18" charset="0"/>
              </a:rPr>
              <a:t>電腦資訊系統碩士</a:t>
            </a:r>
            <a:endParaRPr lang="en-US" altLang="zh-TW" dirty="0">
              <a:latin typeface="Microsoft JhengHei" panose="020B0604030504040204" pitchFamily="34" charset="-120"/>
              <a:ea typeface="Microsoft JhengHei" panose="020B0604030504040204" pitchFamily="34" charset="-120"/>
              <a:cs typeface="Times New Roman" panose="02020603050405020304" pitchFamily="18" charset="0"/>
            </a:endParaRPr>
          </a:p>
        </p:txBody>
      </p:sp>
      <p:sp>
        <p:nvSpPr>
          <p:cNvPr id="22" name="內容版面配置區 2">
            <a:extLst>
              <a:ext uri="{FF2B5EF4-FFF2-40B4-BE49-F238E27FC236}">
                <a16:creationId xmlns:a16="http://schemas.microsoft.com/office/drawing/2014/main" id="{A6660FB6-FC84-3BF2-D365-18D2BCA4E11F}"/>
              </a:ext>
            </a:extLst>
          </p:cNvPr>
          <p:cNvSpPr txBox="1">
            <a:spLocks/>
          </p:cNvSpPr>
          <p:nvPr/>
        </p:nvSpPr>
        <p:spPr>
          <a:xfrm>
            <a:off x="7397133" y="3481945"/>
            <a:ext cx="3852481" cy="1059296"/>
          </a:xfrm>
          <a:prstGeom prst="rect">
            <a:avLst/>
          </a:prstGeom>
        </p:spPr>
        <p:txBody>
          <a:bodyPr>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endParaRPr lang="en-US" altLang="zh-TW" sz="1333" b="1" dirty="0">
              <a:latin typeface="Microsoft JhengHei" panose="020B0604030504040204" pitchFamily="34" charset="-120"/>
              <a:ea typeface="Microsoft JhengHei" panose="020B0604030504040204" pitchFamily="34" charset="-120"/>
              <a:cs typeface="Times New Roman" panose="02020603050405020304" pitchFamily="18" charset="0"/>
            </a:endParaRPr>
          </a:p>
          <a:p>
            <a:pPr>
              <a:defRPr/>
            </a:pP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辦公室： </a:t>
            </a:r>
            <a:r>
              <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rPr>
              <a:t>T2-408-2</a:t>
            </a:r>
          </a:p>
          <a:p>
            <a:pPr>
              <a:defRPr/>
            </a:pP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分　機： </a:t>
            </a:r>
            <a:r>
              <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rPr>
              <a:t>(02)2737-6772</a:t>
            </a:r>
          </a:p>
          <a:p>
            <a:pPr>
              <a:defRPr/>
            </a:pPr>
            <a:r>
              <a:rPr lang="zh-TW" altLang="en-US" sz="1867" dirty="0">
                <a:latin typeface="Microsoft JhengHei" panose="020B0604030504040204" pitchFamily="34" charset="-120"/>
                <a:ea typeface="Microsoft JhengHei" panose="020B0604030504040204" pitchFamily="34" charset="-120"/>
                <a:cs typeface="Times New Roman" panose="02020603050405020304" pitchFamily="18" charset="0"/>
              </a:rPr>
              <a:t>信　箱： </a:t>
            </a:r>
            <a:r>
              <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hlinkClick r:id="rId2"/>
              </a:rPr>
              <a:t>yzhu@mail.ntust.edu.tw</a:t>
            </a:r>
            <a:endParaRPr lang="en-US" altLang="zh-TW" sz="1867" dirty="0">
              <a:latin typeface="Microsoft JhengHei" panose="020B0604030504040204" pitchFamily="34" charset="-120"/>
              <a:ea typeface="Microsoft JhengHei" panose="020B0604030504040204" pitchFamily="34" charset="-120"/>
              <a:cs typeface="Times New Roman" panose="02020603050405020304" pitchFamily="18" charset="0"/>
            </a:endParaRPr>
          </a:p>
        </p:txBody>
      </p:sp>
      <p:sp>
        <p:nvSpPr>
          <p:cNvPr id="25" name="文字方塊 24">
            <a:extLst>
              <a:ext uri="{FF2B5EF4-FFF2-40B4-BE49-F238E27FC236}">
                <a16:creationId xmlns:a16="http://schemas.microsoft.com/office/drawing/2014/main" id="{D897ECC4-9FBD-8AD3-8E74-74CAB9606251}"/>
              </a:ext>
            </a:extLst>
          </p:cNvPr>
          <p:cNvSpPr txBox="1"/>
          <p:nvPr/>
        </p:nvSpPr>
        <p:spPr>
          <a:xfrm>
            <a:off x="11792476" y="6537400"/>
            <a:ext cx="364202" cy="276999"/>
          </a:xfrm>
          <a:prstGeom prst="rect">
            <a:avLst/>
          </a:prstGeom>
          <a:noFill/>
        </p:spPr>
        <p:txBody>
          <a:bodyPr wrap="none" rtlCol="0">
            <a:spAutoFit/>
          </a:bodyPr>
          <a:lstStyle/>
          <a:p>
            <a:r>
              <a:rPr kumimoji="1" lang="en-US" altLang="zh-TW" sz="1200" dirty="0">
                <a:latin typeface="Microsoft JhengHei" panose="020B0604030504040204" pitchFamily="34" charset="-120"/>
                <a:ea typeface="Microsoft JhengHei" panose="020B0604030504040204" pitchFamily="34" charset="-120"/>
              </a:rPr>
              <a:t>01</a:t>
            </a:r>
            <a:endParaRPr kumimoji="1" lang="zh-TW" altLang="en-US" sz="1200" dirty="0">
              <a:latin typeface="Microsoft JhengHei" panose="020B0604030504040204" pitchFamily="34" charset="-120"/>
              <a:ea typeface="Microsoft JhengHei" panose="020B0604030504040204" pitchFamily="34" charset="-120"/>
            </a:endParaRP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84480C-C484-0602-6D10-57ADE9E7F76D}"/>
              </a:ext>
            </a:extLst>
          </p:cNvPr>
          <p:cNvSpPr>
            <a:spLocks noGrp="1"/>
          </p:cNvSpPr>
          <p:nvPr>
            <p:ph type="title"/>
          </p:nvPr>
        </p:nvSpPr>
        <p:spPr/>
        <p:txBody>
          <a:bodyPr/>
          <a:lstStyle/>
          <a:p>
            <a:endParaRPr kumimoji="1" lang="zh-TW" altLang="en-US"/>
          </a:p>
        </p:txBody>
      </p:sp>
      <p:sp>
        <p:nvSpPr>
          <p:cNvPr id="3" name="內容版面配置區 2">
            <a:extLst>
              <a:ext uri="{FF2B5EF4-FFF2-40B4-BE49-F238E27FC236}">
                <a16:creationId xmlns:a16="http://schemas.microsoft.com/office/drawing/2014/main" id="{3441A9A8-01F2-8985-65A3-E54E0EBC6553}"/>
              </a:ext>
            </a:extLst>
          </p:cNvPr>
          <p:cNvSpPr>
            <a:spLocks noGrp="1"/>
          </p:cNvSpPr>
          <p:nvPr>
            <p:ph idx="1"/>
          </p:nvPr>
        </p:nvSpPr>
        <p:spPr/>
        <p:txBody>
          <a:bodyPr/>
          <a:lstStyle/>
          <a:p>
            <a:r>
              <a:rPr kumimoji="1" lang="en-US" altLang="zh-TW" dirty="0">
                <a:hlinkClick r:id="rId2"/>
              </a:rPr>
              <a:t>https://scholar.google.com.tw/citations?user=vsaPpZ8AAAAJ&amp;hl=zh-TW</a:t>
            </a:r>
            <a:endParaRPr kumimoji="1" lang="en-US" altLang="zh-TW" dirty="0"/>
          </a:p>
          <a:p>
            <a:endParaRPr kumimoji="1" lang="zh-TW" altLang="en-US" dirty="0"/>
          </a:p>
        </p:txBody>
      </p:sp>
      <p:pic>
        <p:nvPicPr>
          <p:cNvPr id="4" name="圖片 3" descr="美國史丹佛大學公布2025年「全球前2%頂尖科學家（World’s Top 2% Scientists）」名單，臺科大總計有69位學者入選，位居國內技職院校第一、全台排名第六。">
            <a:extLst>
              <a:ext uri="{FF2B5EF4-FFF2-40B4-BE49-F238E27FC236}">
                <a16:creationId xmlns:a16="http://schemas.microsoft.com/office/drawing/2014/main" id="{41109FDE-5C4D-1BFF-A481-15ACFDAB58AB}"/>
              </a:ext>
            </a:extLst>
          </p:cNvPr>
          <p:cNvPicPr>
            <a:picLocks noChangeAspect="1"/>
          </p:cNvPicPr>
          <p:nvPr/>
        </p:nvPicPr>
        <p:blipFill>
          <a:blip r:embed="rId3"/>
          <a:stretch>
            <a:fillRect/>
          </a:stretch>
        </p:blipFill>
        <p:spPr>
          <a:xfrm>
            <a:off x="3079531" y="2812612"/>
            <a:ext cx="6542690" cy="3680263"/>
          </a:xfrm>
          <a:prstGeom prst="rect">
            <a:avLst/>
          </a:prstGeom>
        </p:spPr>
      </p:pic>
    </p:spTree>
    <p:extLst>
      <p:ext uri="{BB962C8B-B14F-4D97-AF65-F5344CB8AC3E}">
        <p14:creationId xmlns:p14="http://schemas.microsoft.com/office/powerpoint/2010/main" val="1095512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918167-31DC-4E50-92BE-83E9191B34D7}"/>
              </a:ext>
            </a:extLst>
          </p:cNvPr>
          <p:cNvSpPr>
            <a:spLocks noGrp="1"/>
          </p:cNvSpPr>
          <p:nvPr>
            <p:ph type="title"/>
          </p:nvPr>
        </p:nvSpPr>
        <p:spPr/>
        <p:txBody>
          <a:bodyPr/>
          <a:lstStyle/>
          <a:p>
            <a:r>
              <a:rPr lang="zh-TW" altLang="en-US" dirty="0"/>
              <a:t>特別感謝</a:t>
            </a:r>
          </a:p>
        </p:txBody>
      </p:sp>
      <p:sp>
        <p:nvSpPr>
          <p:cNvPr id="3" name="內容版面配置區 2">
            <a:extLst>
              <a:ext uri="{FF2B5EF4-FFF2-40B4-BE49-F238E27FC236}">
                <a16:creationId xmlns:a16="http://schemas.microsoft.com/office/drawing/2014/main" id="{A52A2415-10F3-45E8-801F-7B1F561C336C}"/>
              </a:ext>
            </a:extLst>
          </p:cNvPr>
          <p:cNvSpPr>
            <a:spLocks noGrp="1"/>
          </p:cNvSpPr>
          <p:nvPr>
            <p:ph idx="1"/>
          </p:nvPr>
        </p:nvSpPr>
        <p:spPr/>
        <p:txBody>
          <a:bodyPr/>
          <a:lstStyle/>
          <a:p>
            <a:r>
              <a:rPr lang="zh-TW" altLang="en-US" dirty="0"/>
              <a:t>林孟彥老師 慷慨傳承多年心血成果</a:t>
            </a:r>
          </a:p>
        </p:txBody>
      </p:sp>
    </p:spTree>
    <p:extLst>
      <p:ext uri="{BB962C8B-B14F-4D97-AF65-F5344CB8AC3E}">
        <p14:creationId xmlns:p14="http://schemas.microsoft.com/office/powerpoint/2010/main" val="2173632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09D10C-19E8-572E-1BB8-3C5F28501DF6}"/>
              </a:ext>
            </a:extLst>
          </p:cNvPr>
          <p:cNvSpPr>
            <a:spLocks noGrp="1"/>
          </p:cNvSpPr>
          <p:nvPr>
            <p:ph type="title"/>
          </p:nvPr>
        </p:nvSpPr>
        <p:spPr/>
        <p:txBody>
          <a:bodyPr/>
          <a:lstStyle/>
          <a:p>
            <a:r>
              <a:rPr kumimoji="1" lang="zh-TW" altLang="en-US"/>
              <a:t>關於研究方法</a:t>
            </a:r>
            <a:endParaRPr kumimoji="1" lang="zh-TW" altLang="en-US" b="1"/>
          </a:p>
        </p:txBody>
      </p:sp>
      <p:sp>
        <p:nvSpPr>
          <p:cNvPr id="3" name="內容版面配置區 2">
            <a:extLst>
              <a:ext uri="{FF2B5EF4-FFF2-40B4-BE49-F238E27FC236}">
                <a16:creationId xmlns:a16="http://schemas.microsoft.com/office/drawing/2014/main" id="{D8EFC8F9-91C6-4ADB-C99A-8E34E10E0AA9}"/>
              </a:ext>
            </a:extLst>
          </p:cNvPr>
          <p:cNvSpPr>
            <a:spLocks noGrp="1"/>
          </p:cNvSpPr>
          <p:nvPr>
            <p:ph idx="1"/>
          </p:nvPr>
        </p:nvSpPr>
        <p:spPr/>
        <p:txBody>
          <a:bodyPr/>
          <a:lstStyle/>
          <a:p>
            <a:r>
              <a:rPr kumimoji="1" lang="zh-TW" altLang="en-US" dirty="0"/>
              <a:t>為什麼要學研究方法</a:t>
            </a:r>
            <a:endParaRPr kumimoji="1" lang="en-US" altLang="zh-TW" dirty="0"/>
          </a:p>
          <a:p>
            <a:pPr lvl="1"/>
            <a:r>
              <a:rPr kumimoji="1" lang="zh-TW" altLang="en-US" dirty="0"/>
              <a:t>要寫論文</a:t>
            </a:r>
            <a:endParaRPr kumimoji="1" lang="en-US" altLang="zh-TW" dirty="0"/>
          </a:p>
          <a:p>
            <a:pPr lvl="1"/>
            <a:r>
              <a:rPr kumimoji="1" lang="zh-TW" altLang="en-US" dirty="0"/>
              <a:t>還有嗎？</a:t>
            </a:r>
            <a:endParaRPr kumimoji="1" lang="en-US" altLang="zh-TW" dirty="0"/>
          </a:p>
          <a:p>
            <a:pPr lvl="2"/>
            <a:r>
              <a:rPr kumimoji="1" lang="zh-TW" altLang="en-US" dirty="0"/>
              <a:t>系統分析問題的能力</a:t>
            </a:r>
            <a:endParaRPr kumimoji="1" lang="en-US" altLang="zh-TW" dirty="0"/>
          </a:p>
          <a:p>
            <a:pPr lvl="2"/>
            <a:r>
              <a:rPr kumimoji="1" lang="zh-TW" altLang="en-US" dirty="0"/>
              <a:t>掌握科學的方法：觀察、資料收集、假設建立、驗證</a:t>
            </a:r>
            <a:endParaRPr kumimoji="1" lang="en-US" altLang="zh-TW" dirty="0"/>
          </a:p>
          <a:p>
            <a:endParaRPr kumimoji="1" lang="zh-TW" altLang="en-US" dirty="0"/>
          </a:p>
        </p:txBody>
      </p:sp>
    </p:spTree>
    <p:extLst>
      <p:ext uri="{BB962C8B-B14F-4D97-AF65-F5344CB8AC3E}">
        <p14:creationId xmlns:p14="http://schemas.microsoft.com/office/powerpoint/2010/main" val="68211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642A0E-AE61-6D74-C992-A4A6F0467224}"/>
              </a:ext>
            </a:extLst>
          </p:cNvPr>
          <p:cNvSpPr>
            <a:spLocks noGrp="1"/>
          </p:cNvSpPr>
          <p:nvPr>
            <p:ph type="title"/>
          </p:nvPr>
        </p:nvSpPr>
        <p:spPr/>
        <p:txBody>
          <a:bodyPr/>
          <a:lstStyle/>
          <a:p>
            <a:r>
              <a:rPr kumimoji="1" lang="zh-TW" altLang="en-US" dirty="0"/>
              <a:t>碩士生有什麼不一樣？</a:t>
            </a:r>
          </a:p>
        </p:txBody>
      </p:sp>
      <p:sp>
        <p:nvSpPr>
          <p:cNvPr id="3" name="內容版面配置區 2">
            <a:extLst>
              <a:ext uri="{FF2B5EF4-FFF2-40B4-BE49-F238E27FC236}">
                <a16:creationId xmlns:a16="http://schemas.microsoft.com/office/drawing/2014/main" id="{8B3B8BE3-4244-73D0-7165-3BB8A831D543}"/>
              </a:ext>
            </a:extLst>
          </p:cNvPr>
          <p:cNvSpPr>
            <a:spLocks noGrp="1"/>
          </p:cNvSpPr>
          <p:nvPr>
            <p:ph idx="1"/>
          </p:nvPr>
        </p:nvSpPr>
        <p:spPr>
          <a:xfrm>
            <a:off x="838199" y="1836135"/>
            <a:ext cx="11143593" cy="4351338"/>
          </a:xfrm>
        </p:spPr>
        <p:txBody>
          <a:bodyPr>
            <a:normAutofit/>
          </a:bodyPr>
          <a:lstStyle/>
          <a:p>
            <a:pPr marL="0" indent="0">
              <a:buNone/>
            </a:pPr>
            <a:endParaRPr kumimoji="1" lang="en-US" altLang="zh-TW" dirty="0"/>
          </a:p>
          <a:p>
            <a:pPr marL="0" indent="0">
              <a:buNone/>
            </a:pPr>
            <a:r>
              <a:rPr kumimoji="1" lang="zh-TW" altLang="en-US" dirty="0"/>
              <a:t>如何管理團隊？</a:t>
            </a:r>
            <a:endParaRPr kumimoji="1" lang="en-US" altLang="zh-TW" dirty="0"/>
          </a:p>
          <a:p>
            <a:pPr marL="0" indent="0">
              <a:buNone/>
            </a:pPr>
            <a:endParaRPr kumimoji="1" lang="en-US" altLang="zh-TW" dirty="0"/>
          </a:p>
          <a:p>
            <a:pPr marL="0" indent="0">
              <a:buNone/>
            </a:pPr>
            <a:r>
              <a:rPr kumimoji="1" lang="zh-TW" altLang="en-US" dirty="0"/>
              <a:t>一般人：帶人帶心，慈不帶兵                                         觀察現象</a:t>
            </a:r>
            <a:endParaRPr kumimoji="1" lang="en-US" altLang="zh-TW" dirty="0"/>
          </a:p>
          <a:p>
            <a:pPr marL="0" indent="0">
              <a:buNone/>
            </a:pPr>
            <a:r>
              <a:rPr kumimoji="1" lang="zh-TW" altLang="en-US" dirty="0"/>
              <a:t> 大學生：</a:t>
            </a:r>
            <a:r>
              <a:rPr kumimoji="1" lang="en-US" altLang="zh-TW" dirty="0"/>
              <a:t>X</a:t>
            </a:r>
            <a:r>
              <a:rPr kumimoji="1" lang="zh-TW" altLang="en-US" dirty="0"/>
              <a:t>理論 、</a:t>
            </a:r>
            <a:r>
              <a:rPr kumimoji="1" lang="en-US" altLang="zh-TW" dirty="0"/>
              <a:t>Y</a:t>
            </a:r>
            <a:r>
              <a:rPr kumimoji="1" lang="zh-TW" altLang="en-US" dirty="0"/>
              <a:t>理論</a:t>
            </a:r>
            <a:r>
              <a:rPr kumimoji="1" lang="en-US" altLang="zh-TW" dirty="0"/>
              <a:t>                                                   </a:t>
            </a:r>
            <a:r>
              <a:rPr kumimoji="1" lang="zh-TW" altLang="en-US" dirty="0"/>
              <a:t>了解理論</a:t>
            </a:r>
            <a:endParaRPr kumimoji="1" lang="en-US" altLang="zh-TW" dirty="0"/>
          </a:p>
          <a:p>
            <a:pPr marL="0" indent="0">
              <a:buNone/>
            </a:pPr>
            <a:r>
              <a:rPr kumimoji="1" lang="zh-TW" altLang="en-US" dirty="0"/>
              <a:t> 研究生： 在台灣的文化情境中，對於千禧族群        理論應用及增進</a:t>
            </a:r>
            <a:endParaRPr kumimoji="1" lang="en-US" altLang="zh-TW" dirty="0"/>
          </a:p>
          <a:p>
            <a:pPr marL="0" indent="0">
              <a:buNone/>
            </a:pPr>
            <a:r>
              <a:rPr kumimoji="1" lang="zh-TW" altLang="en-US" dirty="0"/>
              <a:t>  學者：新理論發展</a:t>
            </a:r>
          </a:p>
        </p:txBody>
      </p:sp>
    </p:spTree>
    <p:extLst>
      <p:ext uri="{BB962C8B-B14F-4D97-AF65-F5344CB8AC3E}">
        <p14:creationId xmlns:p14="http://schemas.microsoft.com/office/powerpoint/2010/main" val="1109930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CCDE1C57-5180-408E-9570-3364F561DE52}" type="slidenum">
              <a:rPr kumimoji="0" lang="en-US" altLang="zh-TW" sz="1400">
                <a:latin typeface="Times New Roman" pitchFamily="18" charset="0"/>
              </a:rPr>
              <a:pPr/>
              <a:t>7</a:t>
            </a:fld>
            <a:endParaRPr kumimoji="0" lang="en-US" altLang="zh-TW" sz="1400" dirty="0">
              <a:latin typeface="Times New Roman" pitchFamily="18" charset="0"/>
            </a:endParaRPr>
          </a:p>
        </p:txBody>
      </p:sp>
      <p:sp>
        <p:nvSpPr>
          <p:cNvPr id="10242" name="Rectangle 2"/>
          <p:cNvSpPr>
            <a:spLocks noGrp="1" noChangeArrowheads="1"/>
          </p:cNvSpPr>
          <p:nvPr>
            <p:ph type="title" idx="4294967295"/>
          </p:nvPr>
        </p:nvSpPr>
        <p:spPr>
          <a:xfrm>
            <a:off x="0" y="365125"/>
            <a:ext cx="10515600" cy="1325563"/>
          </a:xfrm>
        </p:spPr>
        <p:txBody>
          <a:bodyPr/>
          <a:lstStyle/>
          <a:p>
            <a:pPr eaLnBrk="1" hangingPunct="1"/>
            <a:r>
              <a:rPr lang="zh-TW" altLang="en-US" sz="3600" dirty="0">
                <a:latin typeface="Times New Roman" pitchFamily="18" charset="0"/>
                <a:ea typeface="標楷體" pitchFamily="65" charset="-120"/>
              </a:rPr>
              <a:t>唸</a:t>
            </a:r>
            <a:r>
              <a:rPr lang="zh-TW" altLang="en-US" sz="3600" u="sng" dirty="0">
                <a:latin typeface="Times New Roman" pitchFamily="18" charset="0"/>
                <a:ea typeface="標楷體" pitchFamily="65" charset="-120"/>
              </a:rPr>
              <a:t>研究所</a:t>
            </a:r>
            <a:r>
              <a:rPr lang="zh-TW" altLang="en-US" sz="3600" dirty="0">
                <a:latin typeface="Times New Roman" pitchFamily="18" charset="0"/>
                <a:ea typeface="標楷體" pitchFamily="65" charset="-120"/>
              </a:rPr>
              <a:t>：最重要之目的！</a:t>
            </a:r>
          </a:p>
        </p:txBody>
      </p:sp>
      <p:sp>
        <p:nvSpPr>
          <p:cNvPr id="5123" name="Rectangle 3"/>
          <p:cNvSpPr>
            <a:spLocks noGrp="1" noChangeArrowheads="1"/>
          </p:cNvSpPr>
          <p:nvPr>
            <p:ph type="body" idx="4294967295"/>
          </p:nvPr>
        </p:nvSpPr>
        <p:spPr>
          <a:xfrm>
            <a:off x="0" y="1700213"/>
            <a:ext cx="10558463" cy="4764087"/>
          </a:xfrm>
        </p:spPr>
        <p:txBody>
          <a:bodyPr>
            <a:normAutofit/>
          </a:bodyPr>
          <a:lstStyle/>
          <a:p>
            <a:pPr marL="342900" lvl="1" indent="-342900" eaLnBrk="1" hangingPunct="1">
              <a:spcBef>
                <a:spcPts val="600"/>
              </a:spcBef>
              <a:buClr>
                <a:schemeClr val="folHlink"/>
              </a:buClr>
              <a:buSzPct val="60000"/>
              <a:buFont typeface="Wingdings" pitchFamily="2" charset="2"/>
              <a:buChar char="l"/>
            </a:pPr>
            <a:r>
              <a:rPr lang="zh-TW" altLang="en-US" sz="2400" dirty="0">
                <a:latin typeface="Times New Roman" pitchFamily="18" charset="0"/>
                <a:ea typeface="標楷體" pitchFamily="65" charset="-120"/>
                <a:cs typeface="+mn-cs"/>
              </a:rPr>
              <a:t>從出生、幼稚園、小學、國高中到大學的學習，</a:t>
            </a:r>
            <a:r>
              <a:rPr lang="en-US" altLang="zh-TW" sz="2400" dirty="0">
                <a:latin typeface="Times New Roman" pitchFamily="18" charset="0"/>
                <a:ea typeface="標楷體" pitchFamily="65" charset="-120"/>
                <a:cs typeface="+mn-cs"/>
              </a:rPr>
              <a:t>…</a:t>
            </a:r>
          </a:p>
          <a:p>
            <a:pPr lvl="1" eaLnBrk="1" hangingPunct="1">
              <a:lnSpc>
                <a:spcPct val="90000"/>
              </a:lnSpc>
            </a:pPr>
            <a:r>
              <a:rPr lang="zh-TW" altLang="en-US" sz="2000" dirty="0">
                <a:latin typeface="Times New Roman" pitchFamily="18" charset="0"/>
                <a:ea typeface="標楷體" pitchFamily="65" charset="-120"/>
              </a:rPr>
              <a:t>不斷學習各種知識</a:t>
            </a:r>
            <a:r>
              <a:rPr lang="en-US" altLang="zh-TW" sz="1600" dirty="0">
                <a:latin typeface="Times New Roman" pitchFamily="18" charset="0"/>
                <a:ea typeface="標楷體" pitchFamily="65" charset="-120"/>
                <a:cs typeface="+mn-cs"/>
              </a:rPr>
              <a:t>【</a:t>
            </a:r>
            <a:r>
              <a:rPr lang="zh-TW" altLang="en-US" sz="1600" dirty="0">
                <a:latin typeface="Times New Roman" pitchFamily="18" charset="0"/>
                <a:ea typeface="標楷體" pitchFamily="65" charset="-120"/>
                <a:cs typeface="+mn-cs"/>
              </a:rPr>
              <a:t>生物、化學、物理實驗、</a:t>
            </a:r>
            <a:r>
              <a:rPr lang="en-US" altLang="zh-TW" sz="1600" dirty="0">
                <a:latin typeface="Times New Roman" pitchFamily="18" charset="0"/>
                <a:ea typeface="標楷體" pitchFamily="65" charset="-120"/>
                <a:cs typeface="+mn-cs"/>
              </a:rPr>
              <a:t>…】</a:t>
            </a:r>
          </a:p>
          <a:p>
            <a:pPr lvl="1" eaLnBrk="1" hangingPunct="1">
              <a:lnSpc>
                <a:spcPct val="90000"/>
              </a:lnSpc>
            </a:pPr>
            <a:r>
              <a:rPr lang="zh-TW" altLang="en-US" sz="2000" dirty="0">
                <a:latin typeface="Times New Roman" pitchFamily="18" charset="0"/>
                <a:ea typeface="標楷體" pitchFamily="65" charset="-120"/>
              </a:rPr>
              <a:t>然後呢？</a:t>
            </a:r>
            <a:endParaRPr lang="en-US" altLang="zh-TW" sz="2000" dirty="0">
              <a:latin typeface="Times New Roman" pitchFamily="18" charset="0"/>
              <a:ea typeface="標楷體" pitchFamily="65" charset="-120"/>
            </a:endParaRPr>
          </a:p>
          <a:p>
            <a:pPr lvl="1" eaLnBrk="1" hangingPunct="1">
              <a:lnSpc>
                <a:spcPct val="90000"/>
              </a:lnSpc>
            </a:pPr>
            <a:r>
              <a:rPr lang="zh-TW" altLang="en-US" sz="2000" dirty="0">
                <a:latin typeface="Times New Roman" pitchFamily="18" charset="0"/>
                <a:ea typeface="標楷體" pitchFamily="65" charset="-120"/>
              </a:rPr>
              <a:t>何時，換我們</a:t>
            </a:r>
            <a:r>
              <a:rPr lang="zh-TW" altLang="en-US" sz="2000" u="sng" dirty="0">
                <a:solidFill>
                  <a:srgbClr val="0000FF"/>
                </a:solidFill>
                <a:latin typeface="Times New Roman" pitchFamily="18" charset="0"/>
                <a:ea typeface="標楷體" pitchFamily="65" charset="-120"/>
              </a:rPr>
              <a:t>發展</a:t>
            </a:r>
            <a:r>
              <a:rPr lang="en-US" altLang="zh-TW" sz="1600" u="sng" dirty="0">
                <a:solidFill>
                  <a:srgbClr val="0000FF"/>
                </a:solidFill>
                <a:latin typeface="Times New Roman" pitchFamily="18" charset="0"/>
                <a:ea typeface="標楷體" pitchFamily="65" charset="-120"/>
                <a:cs typeface="+mn-cs"/>
              </a:rPr>
              <a:t>【</a:t>
            </a:r>
            <a:r>
              <a:rPr lang="zh-TW" altLang="en-US" sz="1600" u="sng" dirty="0">
                <a:solidFill>
                  <a:srgbClr val="0000FF"/>
                </a:solidFill>
                <a:latin typeface="Times New Roman" pitchFamily="18" charset="0"/>
                <a:ea typeface="標楷體" pitchFamily="65" charset="-120"/>
              </a:rPr>
              <a:t>創造</a:t>
            </a:r>
            <a:r>
              <a:rPr lang="en-US" altLang="zh-TW" sz="1600" u="sng" dirty="0">
                <a:solidFill>
                  <a:srgbClr val="0000FF"/>
                </a:solidFill>
                <a:latin typeface="Times New Roman" pitchFamily="18" charset="0"/>
                <a:ea typeface="標楷體" pitchFamily="65" charset="-120"/>
                <a:cs typeface="+mn-cs"/>
              </a:rPr>
              <a:t>】</a:t>
            </a:r>
            <a:r>
              <a:rPr lang="zh-TW" altLang="en-US" sz="2000" u="sng" dirty="0">
                <a:solidFill>
                  <a:srgbClr val="0000FF"/>
                </a:solidFill>
                <a:latin typeface="Times New Roman" pitchFamily="18" charset="0"/>
                <a:ea typeface="標楷體" pitchFamily="65" charset="-120"/>
              </a:rPr>
              <a:t>一些新知</a:t>
            </a:r>
            <a:r>
              <a:rPr lang="zh-TW" altLang="en-US" sz="2000" dirty="0">
                <a:latin typeface="Times New Roman" pitchFamily="18" charset="0"/>
                <a:ea typeface="標楷體" pitchFamily="65" charset="-120"/>
              </a:rPr>
              <a:t>，</a:t>
            </a:r>
            <a:r>
              <a:rPr lang="zh-TW" altLang="en-US" sz="2000" dirty="0">
                <a:solidFill>
                  <a:srgbClr val="0000FF"/>
                </a:solidFill>
                <a:latin typeface="Times New Roman" pitchFamily="18" charset="0"/>
                <a:ea typeface="標楷體" pitchFamily="65" charset="-120"/>
              </a:rPr>
              <a:t>回饋給人類的知識體系</a:t>
            </a:r>
            <a:r>
              <a:rPr lang="zh-TW" altLang="en-US" sz="2000" dirty="0">
                <a:latin typeface="Times New Roman" pitchFamily="18" charset="0"/>
                <a:ea typeface="標楷體" pitchFamily="65" charset="-120"/>
              </a:rPr>
              <a:t>？</a:t>
            </a:r>
            <a:endParaRPr lang="en-US" altLang="zh-TW" sz="2000" dirty="0">
              <a:latin typeface="Times New Roman" pitchFamily="18" charset="0"/>
              <a:ea typeface="標楷體" pitchFamily="65" charset="-120"/>
            </a:endParaRPr>
          </a:p>
          <a:p>
            <a:pPr eaLnBrk="1" hangingPunct="1">
              <a:spcBef>
                <a:spcPts val="1800"/>
              </a:spcBef>
            </a:pPr>
            <a:r>
              <a:rPr lang="zh-TW" altLang="en-US" sz="2400" dirty="0">
                <a:latin typeface="Times New Roman" pitchFamily="18" charset="0"/>
                <a:ea typeface="標楷體" pitchFamily="65" charset="-120"/>
              </a:rPr>
              <a:t>從更宏觀來看，</a:t>
            </a:r>
            <a:r>
              <a:rPr lang="zh-TW" altLang="en-US" sz="2400" u="sng" dirty="0">
                <a:latin typeface="Times New Roman" pitchFamily="18" charset="0"/>
                <a:ea typeface="標楷體" pitchFamily="65" charset="-120"/>
              </a:rPr>
              <a:t>研究所</a:t>
            </a:r>
            <a:r>
              <a:rPr lang="zh-TW" altLang="en-US" sz="2400" dirty="0">
                <a:latin typeface="Times New Roman" pitchFamily="18" charset="0"/>
                <a:ea typeface="標楷體" pitchFamily="65" charset="-120"/>
              </a:rPr>
              <a:t>最重要的是</a:t>
            </a:r>
            <a:r>
              <a:rPr lang="en-US" altLang="zh-TW" sz="2000" dirty="0">
                <a:latin typeface="Times New Roman" pitchFamily="18" charset="0"/>
                <a:ea typeface="標楷體" pitchFamily="65" charset="-120"/>
              </a:rPr>
              <a:t>【</a:t>
            </a:r>
            <a:r>
              <a:rPr lang="zh-TW" altLang="en-US" sz="2000" dirty="0">
                <a:latin typeface="Times New Roman" pitchFamily="18" charset="0"/>
                <a:ea typeface="標楷體" pitchFamily="65" charset="-120"/>
              </a:rPr>
              <a:t>研究</a:t>
            </a:r>
            <a:r>
              <a:rPr lang="en-US" altLang="zh-TW" sz="2000" dirty="0">
                <a:latin typeface="Times New Roman" pitchFamily="18" charset="0"/>
                <a:ea typeface="標楷體" pitchFamily="65" charset="-120"/>
              </a:rPr>
              <a:t>】</a:t>
            </a:r>
          </a:p>
          <a:p>
            <a:pPr lvl="1" eaLnBrk="1" hangingPunct="1">
              <a:spcBef>
                <a:spcPts val="300"/>
              </a:spcBef>
            </a:pPr>
            <a:r>
              <a:rPr lang="zh-TW" altLang="en-US" sz="2000" dirty="0">
                <a:latin typeface="Times New Roman" pitchFamily="18" charset="0"/>
                <a:ea typeface="標楷體" pitchFamily="65" charset="-120"/>
              </a:rPr>
              <a:t>研究所</a:t>
            </a:r>
            <a:r>
              <a:rPr lang="en-US" altLang="zh-TW" sz="1800" dirty="0">
                <a:latin typeface="Times New Roman" pitchFamily="18" charset="0"/>
                <a:ea typeface="標楷體" pitchFamily="65" charset="-120"/>
              </a:rPr>
              <a:t>【</a:t>
            </a:r>
            <a:r>
              <a:rPr lang="zh-TW" altLang="en-US" sz="1800" dirty="0">
                <a:latin typeface="Times New Roman" pitchFamily="18" charset="0"/>
                <a:ea typeface="標楷體" pitchFamily="65" charset="-120"/>
              </a:rPr>
              <a:t>或大學</a:t>
            </a:r>
            <a:r>
              <a:rPr lang="en-US" altLang="zh-TW" sz="1800" dirty="0">
                <a:latin typeface="Times New Roman" pitchFamily="18" charset="0"/>
                <a:ea typeface="標楷體" pitchFamily="65" charset="-120"/>
              </a:rPr>
              <a:t>】</a:t>
            </a:r>
            <a:r>
              <a:rPr lang="zh-TW" altLang="en-US" sz="2000" dirty="0">
                <a:latin typeface="Times New Roman" pitchFamily="18" charset="0"/>
                <a:ea typeface="標楷體" pitchFamily="65" charset="-120"/>
              </a:rPr>
              <a:t>是人類</a:t>
            </a:r>
            <a:r>
              <a:rPr lang="zh-TW" altLang="en-US" sz="2000" u="sng" dirty="0">
                <a:latin typeface="Times New Roman" pitchFamily="18" charset="0"/>
                <a:ea typeface="標楷體" pitchFamily="65" charset="-120"/>
              </a:rPr>
              <a:t>發展新知</a:t>
            </a:r>
            <a:r>
              <a:rPr lang="zh-TW" altLang="en-US" sz="2000" dirty="0">
                <a:latin typeface="Times New Roman" pitchFamily="18" charset="0"/>
                <a:ea typeface="標楷體" pitchFamily="65" charset="-120"/>
              </a:rPr>
              <a:t>最重要的基地</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前人種樹，後人乘涼；現在，該我們種樹了</a:t>
            </a:r>
            <a:r>
              <a:rPr lang="en-US" altLang="zh-TW" sz="1800" dirty="0">
                <a:solidFill>
                  <a:srgbClr val="0000FF"/>
                </a:solidFill>
                <a:latin typeface="Times New Roman" pitchFamily="18" charset="0"/>
                <a:ea typeface="標楷體" pitchFamily="65" charset="-120"/>
              </a:rPr>
              <a:t>【</a:t>
            </a:r>
            <a:r>
              <a:rPr lang="zh-TW" altLang="en-US" sz="1800" u="sng" dirty="0">
                <a:solidFill>
                  <a:srgbClr val="0000FF"/>
                </a:solidFill>
                <a:latin typeface="Times New Roman" pitchFamily="18" charset="0"/>
                <a:ea typeface="標楷體" pitchFamily="65" charset="-120"/>
              </a:rPr>
              <a:t>發展新知</a:t>
            </a:r>
            <a:r>
              <a:rPr lang="en-US" altLang="zh-TW" sz="1800" dirty="0">
                <a:solidFill>
                  <a:srgbClr val="0000FF"/>
                </a:solidFill>
                <a:latin typeface="Times New Roman" pitchFamily="18" charset="0"/>
                <a:ea typeface="標楷體" pitchFamily="65" charset="-120"/>
              </a:rPr>
              <a:t>】</a:t>
            </a:r>
            <a:r>
              <a:rPr lang="zh-TW" altLang="en-US" sz="2000" dirty="0">
                <a:latin typeface="Times New Roman" pitchFamily="18" charset="0"/>
                <a:ea typeface="標楷體" pitchFamily="65" charset="-120"/>
              </a:rPr>
              <a:t>！</a:t>
            </a:r>
            <a:endParaRPr lang="en-US" altLang="zh-TW" sz="2000" dirty="0">
              <a:latin typeface="Times New Roman" pitchFamily="18" charset="0"/>
              <a:ea typeface="標楷體" pitchFamily="65" charset="-120"/>
            </a:endParaRPr>
          </a:p>
          <a:p>
            <a:pPr lvl="1" eaLnBrk="1" hangingPunct="1">
              <a:spcBef>
                <a:spcPts val="300"/>
              </a:spcBef>
            </a:pPr>
            <a:r>
              <a:rPr lang="en-US" altLang="zh-TW" sz="2000" dirty="0">
                <a:latin typeface="Times New Roman" pitchFamily="18" charset="0"/>
                <a:ea typeface="標楷體" pitchFamily="65" charset="-120"/>
              </a:rPr>
              <a:t>With the </a:t>
            </a:r>
            <a:r>
              <a:rPr lang="en-US" altLang="zh-TW" sz="2000" u="sng" dirty="0">
                <a:latin typeface="Times New Roman" pitchFamily="18" charset="0"/>
                <a:ea typeface="標楷體" pitchFamily="65" charset="-120"/>
              </a:rPr>
              <a:t>advance</a:t>
            </a:r>
            <a:r>
              <a:rPr lang="en-US" altLang="zh-TW" sz="2000" dirty="0">
                <a:latin typeface="Times New Roman" pitchFamily="18" charset="0"/>
                <a:ea typeface="標楷體" pitchFamily="65" charset="-120"/>
              </a:rPr>
              <a:t> in science, the boundaries of human </a:t>
            </a:r>
            <a:r>
              <a:rPr lang="en-US" altLang="zh-TW" sz="2000" u="sng" dirty="0">
                <a:latin typeface="Times New Roman" pitchFamily="18" charset="0"/>
                <a:ea typeface="標楷體" pitchFamily="65" charset="-120"/>
              </a:rPr>
              <a:t>knowledge</a:t>
            </a:r>
            <a:r>
              <a:rPr lang="en-US" altLang="zh-TW" sz="2000" dirty="0">
                <a:latin typeface="Times New Roman" pitchFamily="18" charset="0"/>
                <a:ea typeface="標楷體" pitchFamily="65" charset="-120"/>
              </a:rPr>
              <a:t> are being pushed further out. 【</a:t>
            </a:r>
            <a:r>
              <a:rPr lang="en-US" altLang="zh-TW" sz="2000" b="1" i="1" dirty="0">
                <a:solidFill>
                  <a:srgbClr val="FF0000"/>
                </a:solidFill>
                <a:latin typeface="Times New Roman" pitchFamily="18" charset="0"/>
                <a:ea typeface="標楷體" pitchFamily="65" charset="-120"/>
              </a:rPr>
              <a:t>knowledge advancement;</a:t>
            </a:r>
            <a:r>
              <a:rPr lang="zh-TW" altLang="en-US" sz="2000" dirty="0">
                <a:solidFill>
                  <a:srgbClr val="FF0000"/>
                </a:solidFill>
                <a:latin typeface="Times New Roman" pitchFamily="18" charset="0"/>
                <a:ea typeface="標楷體" pitchFamily="65" charset="-120"/>
              </a:rPr>
              <a:t> 知識疆界的拓展</a:t>
            </a:r>
            <a:r>
              <a:rPr lang="en-US" altLang="zh-TW" sz="2000" dirty="0">
                <a:latin typeface="Times New Roman" pitchFamily="18" charset="0"/>
                <a:ea typeface="標楷體" pitchFamily="65" charset="-120"/>
              </a:rPr>
              <a:t>】</a:t>
            </a:r>
            <a:br>
              <a:rPr lang="en-US" altLang="zh-TW" sz="2000" dirty="0">
                <a:latin typeface="Times New Roman" pitchFamily="18" charset="0"/>
                <a:ea typeface="標楷體" pitchFamily="65" charset="-120"/>
              </a:rPr>
            </a:br>
            <a:r>
              <a:rPr lang="zh-TW" altLang="en-US" sz="2000" dirty="0">
                <a:latin typeface="Times New Roman" pitchFamily="18" charset="0"/>
                <a:ea typeface="標楷體" pitchFamily="65" charset="-120"/>
              </a:rPr>
              <a:t>隨</a:t>
            </a:r>
            <a:r>
              <a:rPr lang="zh-CN" altLang="en-US" sz="2000" dirty="0">
                <a:latin typeface="Times New Roman" pitchFamily="18" charset="0"/>
                <a:ea typeface="標楷體" pitchFamily="65" charset="-120"/>
              </a:rPr>
              <a:t>著科</a:t>
            </a:r>
            <a:r>
              <a:rPr lang="zh-TW" altLang="en-US" sz="2000" dirty="0">
                <a:latin typeface="Times New Roman" pitchFamily="18" charset="0"/>
                <a:ea typeface="標楷體" pitchFamily="65" charset="-120"/>
              </a:rPr>
              <a:t>學</a:t>
            </a:r>
            <a:r>
              <a:rPr lang="en-US" altLang="zh-TW" sz="1600" dirty="0">
                <a:latin typeface="Times New Roman" pitchFamily="18" charset="0"/>
                <a:ea typeface="標楷體" pitchFamily="65" charset="-120"/>
              </a:rPr>
              <a:t>【</a:t>
            </a:r>
            <a:r>
              <a:rPr lang="zh-TW" altLang="en-US" sz="1600" dirty="0">
                <a:latin typeface="Times New Roman" pitchFamily="18" charset="0"/>
                <a:ea typeface="標楷體" pitchFamily="65" charset="-120"/>
              </a:rPr>
              <a:t>研究</a:t>
            </a:r>
            <a:r>
              <a:rPr lang="en-US" altLang="zh-TW" sz="1600" dirty="0">
                <a:latin typeface="Times New Roman" pitchFamily="18" charset="0"/>
                <a:ea typeface="標楷體" pitchFamily="65" charset="-120"/>
              </a:rPr>
              <a:t>】</a:t>
            </a:r>
            <a:r>
              <a:rPr lang="zh-TW" altLang="en-US" sz="2000" dirty="0">
                <a:latin typeface="Times New Roman" pitchFamily="18" charset="0"/>
                <a:ea typeface="標楷體" pitchFamily="65" charset="-120"/>
              </a:rPr>
              <a:t>的發展，</a:t>
            </a:r>
            <a:r>
              <a:rPr lang="zh-CN" altLang="en-US" sz="2000" dirty="0">
                <a:latin typeface="Times New Roman" pitchFamily="18" charset="0"/>
                <a:ea typeface="標楷體" pitchFamily="65" charset="-120"/>
              </a:rPr>
              <a:t>人</a:t>
            </a:r>
            <a:r>
              <a:rPr lang="zh-TW" altLang="en-US" sz="2000" dirty="0">
                <a:latin typeface="Times New Roman" pitchFamily="18" charset="0"/>
                <a:ea typeface="標楷體" pitchFamily="65" charset="-120"/>
              </a:rPr>
              <a:t>類知識疆界的範圍得以不斷拓展</a:t>
            </a:r>
            <a:endParaRPr lang="en-US" altLang="zh-TW" sz="2000" dirty="0">
              <a:latin typeface="Times New Roman" pitchFamily="18" charset="0"/>
              <a:ea typeface="標楷體" pitchFamily="65" charset="-120"/>
            </a:endParaRPr>
          </a:p>
          <a:p>
            <a:pPr marL="342900" lvl="1" indent="-342900" eaLnBrk="1" hangingPunct="1">
              <a:spcBef>
                <a:spcPts val="1200"/>
              </a:spcBef>
              <a:buClr>
                <a:schemeClr val="folHlink"/>
              </a:buClr>
              <a:buSzPct val="60000"/>
              <a:buFont typeface="Wingdings" pitchFamily="2" charset="2"/>
              <a:buChar char="l"/>
            </a:pPr>
            <a:r>
              <a:rPr lang="zh-TW" altLang="en-US" sz="2400" dirty="0">
                <a:latin typeface="Times New Roman" pitchFamily="18" charset="0"/>
                <a:ea typeface="標楷體" pitchFamily="65" charset="-120"/>
                <a:cs typeface="+mn-cs"/>
              </a:rPr>
              <a:t>這，就是研究生要</a:t>
            </a:r>
            <a:r>
              <a:rPr lang="zh-TW" altLang="en-US" sz="2400" b="1" u="sng" dirty="0">
                <a:latin typeface="Times New Roman" pitchFamily="18" charset="0"/>
                <a:ea typeface="標楷體" pitchFamily="65" charset="-120"/>
                <a:cs typeface="+mn-cs"/>
              </a:rPr>
              <a:t>做研究</a:t>
            </a:r>
            <a:r>
              <a:rPr lang="zh-TW" altLang="en-US" sz="2400" dirty="0">
                <a:latin typeface="Times New Roman" pitchFamily="18" charset="0"/>
                <a:ea typeface="標楷體" pitchFamily="65" charset="-120"/>
                <a:cs typeface="+mn-cs"/>
              </a:rPr>
              <a:t>、</a:t>
            </a:r>
            <a:r>
              <a:rPr lang="zh-TW" altLang="en-US" sz="2400" b="1" u="sng" dirty="0">
                <a:latin typeface="Times New Roman" pitchFamily="18" charset="0"/>
                <a:ea typeface="標楷體" pitchFamily="65" charset="-120"/>
                <a:cs typeface="+mn-cs"/>
              </a:rPr>
              <a:t>寫論文</a:t>
            </a:r>
            <a:r>
              <a:rPr lang="zh-TW" altLang="en-US" sz="2400" dirty="0">
                <a:latin typeface="Times New Roman" pitchFamily="18" charset="0"/>
                <a:ea typeface="標楷體" pitchFamily="65" charset="-120"/>
                <a:cs typeface="+mn-cs"/>
              </a:rPr>
              <a:t>最根本的原因</a:t>
            </a:r>
            <a:endParaRPr lang="en-US" altLang="zh-TW" sz="2400" dirty="0">
              <a:latin typeface="Times New Roman" pitchFamily="18" charset="0"/>
              <a:ea typeface="標楷體" pitchFamily="65" charset="-120"/>
              <a:cs typeface="+mn-cs"/>
            </a:endParaRPr>
          </a:p>
        </p:txBody>
      </p:sp>
      <p:sp>
        <p:nvSpPr>
          <p:cNvPr id="2" name="文字方塊 1">
            <a:extLst>
              <a:ext uri="{FF2B5EF4-FFF2-40B4-BE49-F238E27FC236}">
                <a16:creationId xmlns:a16="http://schemas.microsoft.com/office/drawing/2014/main" id="{1BE688DB-A998-4A04-B11F-E0AA81A7C061}"/>
              </a:ext>
            </a:extLst>
          </p:cNvPr>
          <p:cNvSpPr txBox="1"/>
          <p:nvPr/>
        </p:nvSpPr>
        <p:spPr>
          <a:xfrm>
            <a:off x="2635063" y="2436998"/>
            <a:ext cx="3704860" cy="369332"/>
          </a:xfrm>
          <a:prstGeom prst="rect">
            <a:avLst/>
          </a:prstGeom>
          <a:noFill/>
        </p:spPr>
        <p:txBody>
          <a:bodyPr wrap="none" rtlCol="0">
            <a:spAutoFit/>
          </a:bodyPr>
          <a:lstStyle/>
          <a:p>
            <a:r>
              <a:rPr lang="zh-TW" altLang="en-US" dirty="0">
                <a:highlight>
                  <a:srgbClr val="FFFF00"/>
                </a:highlight>
                <a:latin typeface="Times New Roman" pitchFamily="18" charset="0"/>
                <a:ea typeface="標楷體" pitchFamily="65" charset="-120"/>
              </a:rPr>
              <a:t>還是學不夠，到研究所繼續學習 </a:t>
            </a:r>
            <a:r>
              <a:rPr lang="en-US" altLang="zh-TW" dirty="0">
                <a:highlight>
                  <a:srgbClr val="FFFF00"/>
                </a:highlight>
                <a:latin typeface="Times New Roman" pitchFamily="18" charset="0"/>
                <a:ea typeface="標楷體" pitchFamily="65" charset="-120"/>
              </a:rPr>
              <a:t>…</a:t>
            </a:r>
            <a:endParaRPr lang="zh-TW" altLang="en-US" dirty="0">
              <a:highlight>
                <a:srgbClr val="FFFF00"/>
              </a:highlight>
              <a:latin typeface="Times New Roman" pitchFamily="18" charset="0"/>
              <a:ea typeface="標楷體" pitchFamily="65" charset="-120"/>
            </a:endParaRPr>
          </a:p>
        </p:txBody>
      </p:sp>
      <p:sp>
        <p:nvSpPr>
          <p:cNvPr id="7" name="文字方塊 6">
            <a:extLst>
              <a:ext uri="{FF2B5EF4-FFF2-40B4-BE49-F238E27FC236}">
                <a16:creationId xmlns:a16="http://schemas.microsoft.com/office/drawing/2014/main" id="{F5328B56-2E85-4E46-BEA5-BFCECC35DA25}"/>
              </a:ext>
            </a:extLst>
          </p:cNvPr>
          <p:cNvSpPr txBox="1"/>
          <p:nvPr/>
        </p:nvSpPr>
        <p:spPr>
          <a:xfrm>
            <a:off x="6256834" y="2436998"/>
            <a:ext cx="3474028" cy="369332"/>
          </a:xfrm>
          <a:prstGeom prst="rect">
            <a:avLst/>
          </a:prstGeom>
          <a:noFill/>
        </p:spPr>
        <p:txBody>
          <a:bodyPr wrap="none" rtlCol="0">
            <a:spAutoFit/>
          </a:bodyPr>
          <a:lstStyle/>
          <a:p>
            <a:r>
              <a:rPr lang="zh-TW" altLang="en-US" dirty="0">
                <a:highlight>
                  <a:srgbClr val="FFFF00"/>
                </a:highlight>
                <a:latin typeface="Times New Roman" pitchFamily="18" charset="0"/>
                <a:ea typeface="標楷體" pitchFamily="65" charset="-120"/>
              </a:rPr>
              <a:t>或許，是該</a:t>
            </a:r>
            <a:r>
              <a:rPr lang="en-US" altLang="zh-TW" sz="1600" dirty="0">
                <a:highlight>
                  <a:srgbClr val="FFFF00"/>
                </a:highlight>
                <a:latin typeface="Times New Roman" pitchFamily="18" charset="0"/>
                <a:ea typeface="標楷體" pitchFamily="65" charset="-120"/>
              </a:rPr>
              <a:t>【</a:t>
            </a:r>
            <a:r>
              <a:rPr lang="zh-TW" altLang="en-US" sz="1600" dirty="0">
                <a:highlight>
                  <a:srgbClr val="FFFF00"/>
                </a:highlight>
                <a:latin typeface="Times New Roman" pitchFamily="18" charset="0"/>
                <a:ea typeface="標楷體" pitchFamily="65" charset="-120"/>
              </a:rPr>
              <a:t>暫停</a:t>
            </a:r>
            <a:r>
              <a:rPr lang="en-US" altLang="zh-TW" sz="1600" dirty="0">
                <a:highlight>
                  <a:srgbClr val="FFFF00"/>
                </a:highlight>
                <a:latin typeface="Times New Roman" pitchFamily="18" charset="0"/>
                <a:ea typeface="標楷體" pitchFamily="65" charset="-120"/>
              </a:rPr>
              <a:t>】</a:t>
            </a:r>
            <a:r>
              <a:rPr lang="zh-TW" altLang="en-US" dirty="0">
                <a:highlight>
                  <a:srgbClr val="FFFF00"/>
                </a:highlight>
                <a:latin typeface="Times New Roman" pitchFamily="18" charset="0"/>
                <a:ea typeface="標楷體" pitchFamily="65" charset="-120"/>
              </a:rPr>
              <a:t>的時候？ </a:t>
            </a:r>
            <a:r>
              <a:rPr lang="en-US" altLang="zh-TW" dirty="0">
                <a:highlight>
                  <a:srgbClr val="FFFF00"/>
                </a:highlight>
                <a:latin typeface="Times New Roman" pitchFamily="18" charset="0"/>
                <a:ea typeface="標楷體" pitchFamily="65" charset="-120"/>
              </a:rPr>
              <a:t>…</a:t>
            </a:r>
            <a:endParaRPr lang="zh-TW" altLang="en-US" dirty="0">
              <a:highlight>
                <a:srgbClr val="FFFF00"/>
              </a:highlight>
              <a:latin typeface="Times New Roman" pitchFamily="18" charset="0"/>
              <a:ea typeface="標楷體" pitchFamily="65" charset="-120"/>
            </a:endParaRPr>
          </a:p>
        </p:txBody>
      </p:sp>
      <p:sp>
        <p:nvSpPr>
          <p:cNvPr id="10" name="文字方塊 9">
            <a:extLst>
              <a:ext uri="{FF2B5EF4-FFF2-40B4-BE49-F238E27FC236}">
                <a16:creationId xmlns:a16="http://schemas.microsoft.com/office/drawing/2014/main" id="{9D833631-8EEE-4313-98CF-73C5E6C8DB0C}"/>
              </a:ext>
            </a:extLst>
          </p:cNvPr>
          <p:cNvSpPr txBox="1"/>
          <p:nvPr/>
        </p:nvSpPr>
        <p:spPr>
          <a:xfrm>
            <a:off x="9667652" y="2436998"/>
            <a:ext cx="1858201" cy="369332"/>
          </a:xfrm>
          <a:prstGeom prst="rect">
            <a:avLst/>
          </a:prstGeom>
          <a:noFill/>
        </p:spPr>
        <p:txBody>
          <a:bodyPr wrap="none" rtlCol="0">
            <a:spAutoFit/>
          </a:bodyPr>
          <a:lstStyle/>
          <a:p>
            <a:r>
              <a:rPr lang="zh-TW" altLang="en-US" dirty="0">
                <a:highlight>
                  <a:srgbClr val="FFFF00"/>
                </a:highlight>
                <a:latin typeface="Times New Roman" pitchFamily="18" charset="0"/>
                <a:ea typeface="標楷體" pitchFamily="65" charset="-120"/>
              </a:rPr>
              <a:t>暫停，並思考 </a:t>
            </a:r>
            <a:r>
              <a:rPr lang="en-US" altLang="zh-TW" dirty="0">
                <a:highlight>
                  <a:srgbClr val="FFFF00"/>
                </a:highlight>
                <a:latin typeface="Times New Roman" pitchFamily="18" charset="0"/>
                <a:ea typeface="標楷體" pitchFamily="65" charset="-120"/>
              </a:rPr>
              <a:t>…</a:t>
            </a:r>
            <a:endParaRPr lang="zh-TW" altLang="en-US" dirty="0">
              <a:highlight>
                <a:srgbClr val="FFFF00"/>
              </a:highlight>
              <a:latin typeface="Times New Roman" pitchFamily="18" charset="0"/>
              <a:ea typeface="標楷體" pitchFamily="65" charset="-120"/>
            </a:endParaRPr>
          </a:p>
        </p:txBody>
      </p:sp>
      <p:pic>
        <p:nvPicPr>
          <p:cNvPr id="4" name="圖片 3">
            <a:extLst>
              <a:ext uri="{FF2B5EF4-FFF2-40B4-BE49-F238E27FC236}">
                <a16:creationId xmlns:a16="http://schemas.microsoft.com/office/drawing/2014/main" id="{BBFA2E21-67B5-44D6-90C7-7247A038619A}"/>
              </a:ext>
            </a:extLst>
          </p:cNvPr>
          <p:cNvPicPr>
            <a:picLocks noChangeAspect="1"/>
          </p:cNvPicPr>
          <p:nvPr/>
        </p:nvPicPr>
        <p:blipFill>
          <a:blip r:embed="rId3"/>
          <a:stretch>
            <a:fillRect/>
          </a:stretch>
        </p:blipFill>
        <p:spPr>
          <a:xfrm>
            <a:off x="8402011" y="122129"/>
            <a:ext cx="3585980" cy="2244222"/>
          </a:xfrm>
          <a:prstGeom prst="rect">
            <a:avLst/>
          </a:prstGeom>
          <a:ln w="28575">
            <a:solidFill>
              <a:srgbClr val="FF0000"/>
            </a:solidFill>
          </a:ln>
        </p:spPr>
      </p:pic>
    </p:spTree>
    <p:extLst>
      <p:ext uri="{BB962C8B-B14F-4D97-AF65-F5344CB8AC3E}">
        <p14:creationId xmlns:p14="http://schemas.microsoft.com/office/powerpoint/2010/main" val="2953249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fade">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fade">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1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123">
                                            <p:txEl>
                                              <p:pRg st="3" end="3"/>
                                            </p:txEl>
                                          </p:spTgt>
                                        </p:tgtEl>
                                        <p:attrNameLst>
                                          <p:attrName>style.visibility</p:attrName>
                                        </p:attrNameLst>
                                      </p:cBhvr>
                                      <p:to>
                                        <p:strVal val="visible"/>
                                      </p:to>
                                    </p:set>
                                    <p:animEffect transition="in" filter="fade">
                                      <p:cBhvr>
                                        <p:cTn id="37" dur="500"/>
                                        <p:tgtEl>
                                          <p:spTgt spid="512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123">
                                            <p:txEl>
                                              <p:pRg st="4" end="4"/>
                                            </p:txEl>
                                          </p:spTgt>
                                        </p:tgtEl>
                                        <p:attrNameLst>
                                          <p:attrName>style.visibility</p:attrName>
                                        </p:attrNameLst>
                                      </p:cBhvr>
                                      <p:to>
                                        <p:strVal val="visible"/>
                                      </p:to>
                                    </p:set>
                                    <p:animEffect transition="in" filter="fade">
                                      <p:cBhvr>
                                        <p:cTn id="42" dur="500"/>
                                        <p:tgtEl>
                                          <p:spTgt spid="512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123">
                                            <p:txEl>
                                              <p:pRg st="5" end="5"/>
                                            </p:txEl>
                                          </p:spTgt>
                                        </p:tgtEl>
                                        <p:attrNameLst>
                                          <p:attrName>style.visibility</p:attrName>
                                        </p:attrNameLst>
                                      </p:cBhvr>
                                      <p:to>
                                        <p:strVal val="visible"/>
                                      </p:to>
                                    </p:set>
                                    <p:animEffect transition="in" filter="fade">
                                      <p:cBhvr>
                                        <p:cTn id="47" dur="500"/>
                                        <p:tgtEl>
                                          <p:spTgt spid="5123">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123">
                                            <p:txEl>
                                              <p:pRg st="6" end="6"/>
                                            </p:txEl>
                                          </p:spTgt>
                                        </p:tgtEl>
                                        <p:attrNameLst>
                                          <p:attrName>style.visibility</p:attrName>
                                        </p:attrNameLst>
                                      </p:cBhvr>
                                      <p:to>
                                        <p:strVal val="visible"/>
                                      </p:to>
                                    </p:set>
                                    <p:animEffect transition="in" filter="fade">
                                      <p:cBhvr>
                                        <p:cTn id="52" dur="500"/>
                                        <p:tgtEl>
                                          <p:spTgt spid="5123">
                                            <p:txEl>
                                              <p:pRg st="6" end="6"/>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123">
                                            <p:txEl>
                                              <p:pRg st="7" end="7"/>
                                            </p:txEl>
                                          </p:spTgt>
                                        </p:tgtEl>
                                        <p:attrNameLst>
                                          <p:attrName>style.visibility</p:attrName>
                                        </p:attrNameLst>
                                      </p:cBhvr>
                                      <p:to>
                                        <p:strVal val="visible"/>
                                      </p:to>
                                    </p:set>
                                    <p:animEffect transition="in" filter="fade">
                                      <p:cBhvr>
                                        <p:cTn id="55" dur="500"/>
                                        <p:tgtEl>
                                          <p:spTgt spid="5123">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123">
                                            <p:txEl>
                                              <p:pRg st="8" end="8"/>
                                            </p:txEl>
                                          </p:spTgt>
                                        </p:tgtEl>
                                        <p:attrNameLst>
                                          <p:attrName>style.visibility</p:attrName>
                                        </p:attrNameLst>
                                      </p:cBhvr>
                                      <p:to>
                                        <p:strVal val="visible"/>
                                      </p:to>
                                    </p:set>
                                    <p:animEffect transition="in" filter="fade">
                                      <p:cBhvr>
                                        <p:cTn id="60" dur="500"/>
                                        <p:tgtEl>
                                          <p:spTgt spid="5123">
                                            <p:txEl>
                                              <p:pRg st="8" end="8"/>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fade">
                                      <p:cBhvr>
                                        <p:cTn id="6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2" grpId="0"/>
      <p:bldP spid="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277813E2-C42F-437F-AFC6-F3742B79E8D3}" type="slidenum">
              <a:rPr lang="zh-TW" altLang="en-US">
                <a:latin typeface="Times New Roman" panose="02020603050405020304" pitchFamily="18" charset="0"/>
                <a:ea typeface="標楷體" panose="03000509000000000000" pitchFamily="65" charset="-120"/>
                <a:cs typeface="Times New Roman" panose="02020603050405020304" pitchFamily="18" charset="0"/>
              </a:rPr>
              <a:pPr/>
              <a:t>8</a:t>
            </a:fld>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555" name="Rectangle 2"/>
          <p:cNvSpPr>
            <a:spLocks noGrp="1" noChangeArrowheads="1"/>
          </p:cNvSpPr>
          <p:nvPr>
            <p:ph type="title" idx="4294967295"/>
          </p:nvPr>
        </p:nvSpPr>
        <p:spPr>
          <a:xfrm>
            <a:off x="0" y="365125"/>
            <a:ext cx="10515600" cy="1325563"/>
          </a:xfrm>
        </p:spPr>
        <p:txBody>
          <a:bodyPr/>
          <a:lstStyle/>
          <a:p>
            <a:pPr eaLnBrk="1" hangingPunct="1"/>
            <a:r>
              <a:rPr lang="zh-TW" altLang="en-US" sz="3600" dirty="0">
                <a:latin typeface="Times New Roman" panose="02020603050405020304" pitchFamily="18" charset="0"/>
                <a:ea typeface="標楷體" panose="03000509000000000000" pitchFamily="65" charset="-120"/>
                <a:cs typeface="Times New Roman" panose="02020603050405020304" pitchFamily="18" charset="0"/>
              </a:rPr>
              <a:t>研究之目的</a:t>
            </a:r>
          </a:p>
        </p:txBody>
      </p:sp>
      <p:sp>
        <p:nvSpPr>
          <p:cNvPr id="23556" name="Rectangle 3"/>
          <p:cNvSpPr>
            <a:spLocks noGrp="1" noChangeArrowheads="1"/>
          </p:cNvSpPr>
          <p:nvPr>
            <p:ph type="body" idx="4294967295"/>
          </p:nvPr>
        </p:nvSpPr>
        <p:spPr>
          <a:xfrm>
            <a:off x="0" y="1658938"/>
            <a:ext cx="9702800" cy="4403725"/>
          </a:xfrm>
        </p:spPr>
        <p:txBody>
          <a:bodyPr/>
          <a:lstStyle/>
          <a:p>
            <a:pPr eaLnBrk="1" hangingPunct="1">
              <a:spcBef>
                <a:spcPts val="600"/>
              </a:spcBef>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研究的目的在</a:t>
            </a:r>
            <a:r>
              <a:rPr lang="zh-TW" altLang="en-US" sz="2400" u="sng" dirty="0">
                <a:latin typeface="Times New Roman" panose="02020603050405020304" pitchFamily="18" charset="0"/>
                <a:ea typeface="標楷體" panose="03000509000000000000" pitchFamily="65" charset="-120"/>
                <a:cs typeface="Times New Roman" panose="02020603050405020304" pitchFamily="18" charset="0"/>
              </a:rPr>
              <a:t>瞭解現象背後的原因</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，或</a:t>
            </a:r>
            <a:r>
              <a:rPr lang="zh-TW" altLang="en-US" sz="2400" u="sng" dirty="0">
                <a:latin typeface="Times New Roman" panose="02020603050405020304" pitchFamily="18" charset="0"/>
                <a:ea typeface="標楷體" panose="03000509000000000000" pitchFamily="65" charset="-120"/>
                <a:cs typeface="Times New Roman" panose="02020603050405020304" pitchFamily="18" charset="0"/>
              </a:rPr>
              <a:t>解決問題</a:t>
            </a:r>
            <a:r>
              <a:rPr lang="en-US" altLang="zh-TW" sz="2400" u="sng" dirty="0">
                <a:latin typeface="Times New Roman" panose="02020603050405020304" pitchFamily="18" charset="0"/>
                <a:ea typeface="標楷體" panose="03000509000000000000" pitchFamily="65" charset="-120"/>
                <a:cs typeface="Times New Roman" panose="02020603050405020304" pitchFamily="18" charset="0"/>
              </a:rPr>
              <a:t/>
            </a:r>
            <a:br>
              <a:rPr lang="en-US" altLang="zh-TW" sz="2400" u="sng"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800" dirty="0">
                <a:latin typeface="Times New Roman" panose="02020603050405020304" pitchFamily="18" charset="0"/>
                <a:ea typeface="標楷體" panose="03000509000000000000" pitchFamily="65" charset="-120"/>
                <a:cs typeface="Times New Roman" panose="02020603050405020304" pitchFamily="18" charset="0"/>
              </a:rPr>
              <a:t>以人類知識體系而言</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eaLnBrk="1" hangingPunct="1">
              <a:spcBef>
                <a:spcPts val="2400"/>
              </a:spcBef>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面對問題時，我們的思考或處理步驟</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pPr lvl="1" eaLnBrk="1" hangingPunct="1">
              <a:spcBef>
                <a:spcPts val="600"/>
              </a:spcBef>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首先，要覺察：</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現象</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或</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問題</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的存在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eaLnBrk="1" hangingPunct="1">
              <a:spcBef>
                <a:spcPts val="600"/>
              </a:spcBef>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其次，要思考：蘋果為何會落地？可能原因？</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eaLnBrk="1" hangingPunct="1">
              <a:spcBef>
                <a:spcPts val="600"/>
              </a:spcBef>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最後，要找出：</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落地</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的確切</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原因</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p:txBody>
      </p:sp>
      <p:pic>
        <p:nvPicPr>
          <p:cNvPr id="3" name="圖片 2"/>
          <p:cNvPicPr>
            <a:picLocks noChangeAspect="1"/>
          </p:cNvPicPr>
          <p:nvPr/>
        </p:nvPicPr>
        <p:blipFill>
          <a:blip r:embed="rId3"/>
          <a:stretch>
            <a:fillRect/>
          </a:stretch>
        </p:blipFill>
        <p:spPr>
          <a:xfrm rot="21434288">
            <a:off x="5914119" y="3965150"/>
            <a:ext cx="1828146" cy="1262507"/>
          </a:xfrm>
          <a:prstGeom prst="rect">
            <a:avLst/>
          </a:prstGeom>
          <a:ln>
            <a:solidFill>
              <a:schemeClr val="tx1">
                <a:lumMod val="65000"/>
                <a:lumOff val="35000"/>
              </a:schemeClr>
            </a:solidFill>
          </a:ln>
        </p:spPr>
      </p:pic>
      <p:sp>
        <p:nvSpPr>
          <p:cNvPr id="5" name="文字方塊 4"/>
          <p:cNvSpPr txBox="1"/>
          <p:nvPr/>
        </p:nvSpPr>
        <p:spPr>
          <a:xfrm>
            <a:off x="6382839" y="3078503"/>
            <a:ext cx="3296095" cy="307777"/>
          </a:xfrm>
          <a:prstGeom prst="rect">
            <a:avLst/>
          </a:prstGeom>
          <a:solidFill>
            <a:srgbClr val="FFFF00"/>
          </a:solidFill>
        </p:spPr>
        <p:txBody>
          <a:bodyPr wrap="none" rtlCol="0">
            <a:spAutoFit/>
          </a:bodyPr>
          <a:lstStyle/>
          <a:p>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蘋果落地－是問題？ </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or </a:t>
            </a:r>
            <a:r>
              <a:rPr lang="zh-TW" altLang="en-US" sz="1400" dirty="0">
                <a:latin typeface="Times New Roman" panose="02020603050405020304" pitchFamily="18" charset="0"/>
                <a:ea typeface="標楷體" panose="03000509000000000000" pitchFamily="65" charset="-120"/>
                <a:cs typeface="Times New Roman" panose="02020603050405020304" pitchFamily="18" charset="0"/>
              </a:rPr>
              <a:t>不是問題？</a:t>
            </a:r>
            <a:r>
              <a:rPr lang="en-US" altLang="zh-TW" sz="14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sz="1400" dirty="0"/>
          </a:p>
        </p:txBody>
      </p:sp>
      <p:pic>
        <p:nvPicPr>
          <p:cNvPr id="4" name="圖片 3">
            <a:extLst>
              <a:ext uri="{FF2B5EF4-FFF2-40B4-BE49-F238E27FC236}">
                <a16:creationId xmlns:a16="http://schemas.microsoft.com/office/drawing/2014/main" id="{92254CC4-65BB-423B-8E9C-34EB22F3B4DC}"/>
              </a:ext>
            </a:extLst>
          </p:cNvPr>
          <p:cNvPicPr>
            <a:picLocks noChangeAspect="1"/>
          </p:cNvPicPr>
          <p:nvPr/>
        </p:nvPicPr>
        <p:blipFill>
          <a:blip r:embed="rId4"/>
          <a:stretch>
            <a:fillRect/>
          </a:stretch>
        </p:blipFill>
        <p:spPr>
          <a:xfrm rot="21480000">
            <a:off x="4449619" y="460616"/>
            <a:ext cx="3854853" cy="1054101"/>
          </a:xfrm>
          <a:prstGeom prst="rect">
            <a:avLst/>
          </a:prstGeom>
          <a:ln>
            <a:solidFill>
              <a:srgbClr val="FF0000"/>
            </a:solidFill>
          </a:ln>
        </p:spPr>
      </p:pic>
      <p:sp>
        <p:nvSpPr>
          <p:cNvPr id="11" name="文字方塊 10">
            <a:extLst>
              <a:ext uri="{FF2B5EF4-FFF2-40B4-BE49-F238E27FC236}">
                <a16:creationId xmlns:a16="http://schemas.microsoft.com/office/drawing/2014/main" id="{3410BC64-906E-4153-A4AC-AA3E646A3F6C}"/>
              </a:ext>
            </a:extLst>
          </p:cNvPr>
          <p:cNvSpPr txBox="1"/>
          <p:nvPr/>
        </p:nvSpPr>
        <p:spPr>
          <a:xfrm rot="21480000">
            <a:off x="5698362" y="2357486"/>
            <a:ext cx="6401111" cy="480131"/>
          </a:xfrm>
          <a:prstGeom prst="rect">
            <a:avLst/>
          </a:prstGeom>
          <a:solidFill>
            <a:schemeClr val="accent6">
              <a:lumMod val="20000"/>
              <a:lumOff val="80000"/>
            </a:schemeClr>
          </a:solidFill>
          <a:ln w="28575">
            <a:solidFill>
              <a:srgbClr val="FF0000"/>
            </a:solidFill>
          </a:ln>
        </p:spPr>
        <p:txBody>
          <a:bodyPr wrap="none" rtlCol="0">
            <a:spAutoFit/>
          </a:bodyPr>
          <a:lstStyle/>
          <a:p>
            <a:pPr>
              <a:lnSpc>
                <a:spcPct val="90000"/>
              </a:lnSpc>
            </a:pPr>
            <a:r>
              <a:rPr lang="en-US" altLang="zh-TW" sz="1600" i="1" dirty="0">
                <a:latin typeface="Times New Roman" panose="02020603050405020304" pitchFamily="18" charset="0"/>
                <a:ea typeface="標楷體" panose="03000509000000000000" pitchFamily="65" charset="-120"/>
              </a:rPr>
              <a:t>No phenomenon is a real phenomenon until it is an observed phenomenon.</a:t>
            </a:r>
          </a:p>
          <a:p>
            <a:pPr algn="r">
              <a:lnSpc>
                <a:spcPct val="90000"/>
              </a:lnSpc>
            </a:pPr>
            <a:r>
              <a:rPr lang="en-US" altLang="zh-TW" sz="1200" dirty="0">
                <a:latin typeface="Times New Roman" panose="02020603050405020304" pitchFamily="18" charset="0"/>
                <a:ea typeface="標楷體" panose="03000509000000000000" pitchFamily="65" charset="-120"/>
              </a:rPr>
              <a:t>John Archibald Wheeler (1911-2008)</a:t>
            </a:r>
            <a:endParaRPr lang="zh-TW" altLang="en-US" sz="1200"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4887326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fade">
                                      <p:cBhvr>
                                        <p:cTn id="7" dur="500"/>
                                        <p:tgtEl>
                                          <p:spTgt spid="235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6">
                                            <p:txEl>
                                              <p:pRg st="1" end="1"/>
                                            </p:txEl>
                                          </p:spTgt>
                                        </p:tgtEl>
                                        <p:attrNameLst>
                                          <p:attrName>style.visibility</p:attrName>
                                        </p:attrNameLst>
                                      </p:cBhvr>
                                      <p:to>
                                        <p:strVal val="visible"/>
                                      </p:to>
                                    </p:set>
                                    <p:animEffect transition="in" filter="fade">
                                      <p:cBhvr>
                                        <p:cTn id="12" dur="500"/>
                                        <p:tgtEl>
                                          <p:spTgt spid="23556">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3556">
                                            <p:txEl>
                                              <p:pRg st="2" end="2"/>
                                            </p:txEl>
                                          </p:spTgt>
                                        </p:tgtEl>
                                        <p:attrNameLst>
                                          <p:attrName>style.visibility</p:attrName>
                                        </p:attrNameLst>
                                      </p:cBhvr>
                                      <p:to>
                                        <p:strVal val="visible"/>
                                      </p:to>
                                    </p:set>
                                    <p:animEffect transition="in" filter="fade">
                                      <p:cBhvr>
                                        <p:cTn id="16" dur="500"/>
                                        <p:tgtEl>
                                          <p:spTgt spid="2355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556">
                                            <p:txEl>
                                              <p:pRg st="3" end="3"/>
                                            </p:txEl>
                                          </p:spTgt>
                                        </p:tgtEl>
                                        <p:attrNameLst>
                                          <p:attrName>style.visibility</p:attrName>
                                        </p:attrNameLst>
                                      </p:cBhvr>
                                      <p:to>
                                        <p:strVal val="visible"/>
                                      </p:to>
                                    </p:set>
                                    <p:animEffect transition="in" filter="fade">
                                      <p:cBhvr>
                                        <p:cTn id="30" dur="500"/>
                                        <p:tgtEl>
                                          <p:spTgt spid="23556">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556">
                                            <p:txEl>
                                              <p:pRg st="4" end="4"/>
                                            </p:txEl>
                                          </p:spTgt>
                                        </p:tgtEl>
                                        <p:attrNameLst>
                                          <p:attrName>style.visibility</p:attrName>
                                        </p:attrNameLst>
                                      </p:cBhvr>
                                      <p:to>
                                        <p:strVal val="visible"/>
                                      </p:to>
                                    </p:set>
                                    <p:animEffect transition="in" filter="fade">
                                      <p:cBhvr>
                                        <p:cTn id="35" dur="500"/>
                                        <p:tgtEl>
                                          <p:spTgt spid="23556">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uiExpand="1" build="p"/>
      <p:bldP spid="5"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TW" altLang="en-US" sz="3600" dirty="0">
                <a:latin typeface="Times New Roman" pitchFamily="18" charset="0"/>
                <a:ea typeface="標楷體" pitchFamily="65" charset="-120"/>
              </a:rPr>
              <a:t>研究之目的</a:t>
            </a:r>
            <a:endParaRPr lang="en-US" altLang="zh-TW" sz="3600" dirty="0">
              <a:latin typeface="Times New Roman" pitchFamily="18" charset="0"/>
              <a:ea typeface="標楷體" pitchFamily="65" charset="-120"/>
            </a:endParaRPr>
          </a:p>
        </p:txBody>
      </p:sp>
      <p:sp>
        <p:nvSpPr>
          <p:cNvPr id="193539" name="Rectangle 3"/>
          <p:cNvSpPr>
            <a:spLocks noGrp="1" noChangeArrowheads="1"/>
          </p:cNvSpPr>
          <p:nvPr>
            <p:ph idx="1"/>
          </p:nvPr>
        </p:nvSpPr>
        <p:spPr>
          <a:xfrm>
            <a:off x="755377" y="1700213"/>
            <a:ext cx="10677695" cy="4543425"/>
          </a:xfrm>
        </p:spPr>
        <p:txBody>
          <a:bodyPr>
            <a:normAutofit/>
          </a:bodyPr>
          <a:lstStyle/>
          <a:p>
            <a:pPr eaLnBrk="1" hangingPunct="1"/>
            <a:r>
              <a:rPr lang="zh-TW" altLang="en-US" sz="2400" dirty="0">
                <a:latin typeface="Times New Roman" pitchFamily="18" charset="0"/>
                <a:ea typeface="標楷體" pitchFamily="65" charset="-120"/>
              </a:rPr>
              <a:t>發現：</a:t>
            </a:r>
            <a:r>
              <a:rPr lang="zh-TW" altLang="en-US" sz="2000" dirty="0">
                <a:latin typeface="Times New Roman" pitchFamily="18" charset="0"/>
                <a:ea typeface="標楷體" pitchFamily="65" charset="-120"/>
              </a:rPr>
              <a:t>覺察到</a:t>
            </a:r>
            <a:r>
              <a:rPr lang="zh-TW" altLang="en-US" sz="2000" b="1" u="sng" dirty="0">
                <a:latin typeface="Times New Roman" pitchFamily="18" charset="0"/>
                <a:ea typeface="標楷體" pitchFamily="65" charset="-120"/>
              </a:rPr>
              <a:t>某事物</a:t>
            </a:r>
            <a:r>
              <a:rPr lang="zh-TW" altLang="en-US" sz="2000" dirty="0">
                <a:latin typeface="Times New Roman" pitchFamily="18" charset="0"/>
                <a:ea typeface="標楷體" pitchFamily="65" charset="-120"/>
              </a:rPr>
              <a:t>、</a:t>
            </a:r>
            <a:r>
              <a:rPr lang="zh-TW" altLang="en-US" sz="2000" b="1" u="sng" dirty="0">
                <a:latin typeface="Times New Roman" pitchFamily="18" charset="0"/>
                <a:ea typeface="標楷體" pitchFamily="65" charset="-120"/>
              </a:rPr>
              <a:t>現象</a:t>
            </a:r>
            <a:r>
              <a:rPr lang="zh-TW" altLang="en-US" sz="2000" dirty="0">
                <a:latin typeface="Times New Roman" pitchFamily="18" charset="0"/>
                <a:ea typeface="標楷體" pitchFamily="65" charset="-120"/>
              </a:rPr>
              <a:t>或</a:t>
            </a:r>
            <a:r>
              <a:rPr lang="zh-TW" altLang="en-US" sz="2000" b="1" u="sng" dirty="0">
                <a:latin typeface="Times New Roman" pitchFamily="18" charset="0"/>
                <a:ea typeface="標楷體" pitchFamily="65" charset="-120"/>
              </a:rPr>
              <a:t>問題</a:t>
            </a:r>
            <a:r>
              <a:rPr lang="zh-TW" altLang="en-US" sz="2000" dirty="0">
                <a:latin typeface="Times New Roman" pitchFamily="18" charset="0"/>
                <a:ea typeface="標楷體" pitchFamily="65" charset="-120"/>
              </a:rPr>
              <a:t>的存在，並覺察到</a:t>
            </a:r>
            <a:r>
              <a:rPr lang="zh-TW" altLang="en-US" sz="2000" b="1" u="sng" dirty="0">
                <a:latin typeface="Times New Roman" pitchFamily="18" charset="0"/>
                <a:ea typeface="標楷體" pitchFamily="65" charset="-120"/>
              </a:rPr>
              <a:t>該事物</a:t>
            </a:r>
            <a:r>
              <a:rPr lang="zh-TW" altLang="en-US" sz="2000" dirty="0">
                <a:latin typeface="Times New Roman" pitchFamily="18" charset="0"/>
                <a:ea typeface="標楷體" pitchFamily="65" charset="-120"/>
              </a:rPr>
              <a:t>、</a:t>
            </a:r>
            <a:r>
              <a:rPr lang="zh-TW" altLang="en-US" sz="2000" b="1" u="sng" dirty="0">
                <a:latin typeface="Times New Roman" pitchFamily="18" charset="0"/>
                <a:ea typeface="標楷體" pitchFamily="65" charset="-120"/>
              </a:rPr>
              <a:t>現象</a:t>
            </a:r>
            <a:r>
              <a:rPr lang="zh-TW" altLang="en-US" sz="2000" dirty="0">
                <a:latin typeface="Times New Roman" pitchFamily="18" charset="0"/>
                <a:ea typeface="標楷體" pitchFamily="65" charset="-120"/>
              </a:rPr>
              <a:t>或</a:t>
            </a:r>
            <a:r>
              <a:rPr lang="zh-TW" altLang="en-US" sz="2000" b="1" u="sng" dirty="0">
                <a:latin typeface="Times New Roman" pitchFamily="18" charset="0"/>
                <a:ea typeface="標楷體" pitchFamily="65" charset="-120"/>
              </a:rPr>
              <a:t>問題</a:t>
            </a:r>
            <a:r>
              <a:rPr lang="zh-TW" altLang="en-US" sz="2000" dirty="0">
                <a:latin typeface="Times New Roman" pitchFamily="18" charset="0"/>
                <a:ea typeface="標楷體" pitchFamily="65" charset="-120"/>
              </a:rPr>
              <a:t>的重要性</a:t>
            </a:r>
            <a:r>
              <a:rPr lang="en-US" altLang="zh-TW" sz="1600" dirty="0">
                <a:solidFill>
                  <a:srgbClr val="FF0000"/>
                </a:solidFill>
                <a:latin typeface="Times New Roman" pitchFamily="18" charset="0"/>
                <a:ea typeface="標楷體" pitchFamily="65" charset="-120"/>
              </a:rPr>
              <a:t>【What】</a:t>
            </a:r>
          </a:p>
          <a:p>
            <a:pPr eaLnBrk="1" hangingPunct="1">
              <a:spcBef>
                <a:spcPts val="600"/>
              </a:spcBef>
            </a:pPr>
            <a:r>
              <a:rPr lang="zh-TW" altLang="en-US" sz="2400" dirty="0">
                <a:latin typeface="Times New Roman" pitchFamily="18" charset="0"/>
                <a:ea typeface="標楷體" pitchFamily="65" charset="-120"/>
              </a:rPr>
              <a:t>解釋：</a:t>
            </a:r>
            <a:r>
              <a:rPr lang="en-US" altLang="zh-TW" sz="1800" dirty="0">
                <a:solidFill>
                  <a:srgbClr val="FF0000"/>
                </a:solidFill>
                <a:latin typeface="Times New Roman" pitchFamily="18" charset="0"/>
                <a:ea typeface="標楷體" pitchFamily="65" charset="-120"/>
              </a:rPr>
              <a:t>【Why &amp; How】</a:t>
            </a:r>
            <a:endParaRPr lang="en-US" altLang="zh-TW" sz="18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透過科學研究，進一步瞭解事物發生的原因</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蘋果會落地是因為：</a:t>
            </a:r>
            <a:r>
              <a:rPr lang="zh-TW" altLang="en-US" sz="2000" u="sng" dirty="0">
                <a:latin typeface="Times New Roman" pitchFamily="18" charset="0"/>
                <a:ea typeface="標楷體" pitchFamily="65" charset="-120"/>
              </a:rPr>
              <a:t>蘋果</a:t>
            </a:r>
            <a:r>
              <a:rPr lang="zh-TW" altLang="en-US" sz="2000" dirty="0">
                <a:latin typeface="Times New Roman" pitchFamily="18" charset="0"/>
                <a:ea typeface="標楷體" pitchFamily="65" charset="-120"/>
              </a:rPr>
              <a:t>和</a:t>
            </a:r>
            <a:r>
              <a:rPr lang="zh-TW" altLang="en-US" sz="2000" u="sng" dirty="0">
                <a:latin typeface="Times New Roman" pitchFamily="18" charset="0"/>
                <a:ea typeface="標楷體" pitchFamily="65" charset="-120"/>
              </a:rPr>
              <a:t>地球</a:t>
            </a:r>
            <a:r>
              <a:rPr lang="zh-TW" altLang="en-US" sz="2000" dirty="0">
                <a:latin typeface="Times New Roman" pitchFamily="18" charset="0"/>
                <a:ea typeface="標楷體" pitchFamily="65" charset="-120"/>
              </a:rPr>
              <a:t>間存在一種肉眼看不見的</a:t>
            </a:r>
            <a:r>
              <a:rPr lang="zh-TW" altLang="en-US" sz="2000" u="sng" dirty="0">
                <a:latin typeface="Times New Roman" pitchFamily="18" charset="0"/>
                <a:ea typeface="標楷體" pitchFamily="65" charset="-120"/>
              </a:rPr>
              <a:t>引力</a:t>
            </a:r>
            <a:endParaRPr lang="en-US" altLang="zh-TW" sz="2000" u="sng"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這兩物體彼此相吸的引力 </a:t>
            </a:r>
            <a:r>
              <a:rPr lang="en-US" altLang="zh-TW" sz="2000" dirty="0">
                <a:latin typeface="Times New Roman" pitchFamily="18" charset="0"/>
                <a:ea typeface="標楷體" pitchFamily="65" charset="-120"/>
              </a:rPr>
              <a:t>F</a:t>
            </a:r>
            <a:r>
              <a:rPr lang="en-US" altLang="zh-TW" sz="2000" baseline="-25000" dirty="0">
                <a:latin typeface="Times New Roman" pitchFamily="18" charset="0"/>
                <a:ea typeface="標楷體" pitchFamily="65" charset="-120"/>
              </a:rPr>
              <a:t>1</a:t>
            </a:r>
            <a:r>
              <a:rPr lang="zh-TW" altLang="en-US" sz="2000" dirty="0">
                <a:latin typeface="Times New Roman" pitchFamily="18" charset="0"/>
                <a:ea typeface="標楷體" pitchFamily="65" charset="-120"/>
              </a:rPr>
              <a:t> </a:t>
            </a:r>
            <a:r>
              <a:rPr lang="en-US" altLang="zh-TW" sz="2000" dirty="0">
                <a:latin typeface="Times New Roman" pitchFamily="18" charset="0"/>
                <a:ea typeface="標楷體" pitchFamily="65" charset="-120"/>
              </a:rPr>
              <a:t>= F</a:t>
            </a:r>
            <a:r>
              <a:rPr lang="en-US" altLang="zh-TW" sz="2000" baseline="-25000" dirty="0">
                <a:latin typeface="Times New Roman" pitchFamily="18" charset="0"/>
                <a:ea typeface="標楷體" pitchFamily="65" charset="-120"/>
              </a:rPr>
              <a:t>2</a:t>
            </a:r>
          </a:p>
          <a:p>
            <a:pPr eaLnBrk="1" hangingPunct="1">
              <a:spcBef>
                <a:spcPts val="600"/>
              </a:spcBef>
            </a:pPr>
            <a:r>
              <a:rPr lang="zh-TW" altLang="en-US" sz="2400" dirty="0">
                <a:latin typeface="Times New Roman" pitchFamily="18" charset="0"/>
                <a:ea typeface="標楷體" pitchFamily="65" charset="-120"/>
              </a:rPr>
              <a:t>預測：</a:t>
            </a:r>
            <a:r>
              <a:rPr lang="en-US" altLang="zh-TW" sz="1800" dirty="0">
                <a:solidFill>
                  <a:srgbClr val="FF0000"/>
                </a:solidFill>
                <a:latin typeface="Times New Roman" pitchFamily="18" charset="0"/>
                <a:ea typeface="標楷體" pitchFamily="65" charset="-120"/>
              </a:rPr>
              <a:t>【</a:t>
            </a:r>
            <a:r>
              <a:rPr lang="zh-TW" altLang="en-US" sz="1800" dirty="0">
                <a:solidFill>
                  <a:srgbClr val="FF0000"/>
                </a:solidFill>
                <a:latin typeface="Times New Roman" pitchFamily="18" charset="0"/>
                <a:ea typeface="標楷體" pitchFamily="65" charset="-120"/>
              </a:rPr>
              <a:t>瞭解前因與後果 </a:t>
            </a:r>
            <a:r>
              <a:rPr lang="zh-TW" altLang="en-US" sz="1800" dirty="0">
                <a:solidFill>
                  <a:srgbClr val="FF0000"/>
                </a:solidFill>
                <a:latin typeface="Times New Roman" pitchFamily="18" charset="0"/>
                <a:ea typeface="標楷體" pitchFamily="65" charset="-120"/>
                <a:sym typeface="Wingdings" panose="05000000000000000000" pitchFamily="2" charset="2"/>
              </a:rPr>
              <a:t> 才有辦法預測</a:t>
            </a:r>
            <a:r>
              <a:rPr lang="en-US" altLang="zh-TW" sz="1800" dirty="0">
                <a:solidFill>
                  <a:srgbClr val="FF0000"/>
                </a:solidFill>
                <a:latin typeface="Times New Roman" pitchFamily="18" charset="0"/>
                <a:ea typeface="標楷體" pitchFamily="65" charset="-120"/>
              </a:rPr>
              <a:t>】</a:t>
            </a:r>
            <a:endParaRPr lang="en-US" altLang="zh-TW" sz="18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預測是對</a:t>
            </a:r>
            <a:r>
              <a:rPr lang="zh-TW" altLang="en-US" sz="2000" u="sng" dirty="0">
                <a:latin typeface="Times New Roman" pitchFamily="18" charset="0"/>
                <a:ea typeface="標楷體" pitchFamily="65" charset="-120"/>
              </a:rPr>
              <a:t>未發生</a:t>
            </a:r>
            <a:r>
              <a:rPr lang="zh-TW" altLang="en-US" sz="2000" dirty="0">
                <a:latin typeface="Times New Roman" pitchFamily="18" charset="0"/>
                <a:ea typeface="標楷體" pitchFamily="65" charset="-120"/>
              </a:rPr>
              <a:t>或</a:t>
            </a:r>
            <a:r>
              <a:rPr lang="zh-TW" altLang="en-US" sz="2000" u="sng" dirty="0">
                <a:latin typeface="Times New Roman" pitchFamily="18" charset="0"/>
                <a:ea typeface="標楷體" pitchFamily="65" charset="-120"/>
              </a:rPr>
              <a:t>未瞭解</a:t>
            </a:r>
            <a:r>
              <a:rPr lang="zh-TW" altLang="en-US" sz="2000" dirty="0">
                <a:latin typeface="Times New Roman" pitchFamily="18" charset="0"/>
                <a:ea typeface="標楷體" pitchFamily="65" charset="-120"/>
              </a:rPr>
              <a:t>事項所做的推論</a:t>
            </a:r>
            <a:endParaRPr lang="en-US" altLang="zh-TW" sz="16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推論地球和月球間存在類似的引力</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推論潮汐的存在，甚至是漲退潮的時間</a:t>
            </a:r>
            <a:endParaRPr lang="en-US" altLang="zh-TW" sz="2000" dirty="0">
              <a:latin typeface="Times New Roman" pitchFamily="18" charset="0"/>
              <a:ea typeface="標楷體" pitchFamily="65" charset="-120"/>
            </a:endParaRPr>
          </a:p>
          <a:p>
            <a:pPr eaLnBrk="1" hangingPunct="1">
              <a:spcBef>
                <a:spcPts val="600"/>
              </a:spcBef>
            </a:pPr>
            <a:r>
              <a:rPr lang="zh-TW" altLang="en-US" sz="2400" dirty="0">
                <a:latin typeface="Times New Roman" pitchFamily="18" charset="0"/>
                <a:ea typeface="標楷體" pitchFamily="65" charset="-120"/>
              </a:rPr>
              <a:t>控制：</a:t>
            </a:r>
            <a:r>
              <a:rPr lang="zh-TW" altLang="en-US" sz="2000" dirty="0">
                <a:latin typeface="Times New Roman" pitchFamily="18" charset="0"/>
                <a:ea typeface="標楷體" pitchFamily="65" charset="-120"/>
              </a:rPr>
              <a:t>透過理論的完善和強化，可相當程度控制某行為或現象的發生與否</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知道引力現象，就可知道如何產生無引力</a:t>
            </a:r>
            <a:r>
              <a:rPr lang="en-US" altLang="zh-TW" sz="1800" dirty="0">
                <a:latin typeface="Times New Roman" pitchFamily="18" charset="0"/>
                <a:ea typeface="標楷體" pitchFamily="65" charset="-120"/>
              </a:rPr>
              <a:t>【</a:t>
            </a:r>
            <a:r>
              <a:rPr lang="zh-TW" altLang="en-US" sz="1800" dirty="0">
                <a:latin typeface="Times New Roman" pitchFamily="18" charset="0"/>
                <a:ea typeface="標楷體" pitchFamily="65" charset="-120"/>
              </a:rPr>
              <a:t>無重力</a:t>
            </a:r>
            <a:r>
              <a:rPr lang="en-US" altLang="zh-TW" sz="1800" dirty="0">
                <a:latin typeface="Times New Roman" pitchFamily="18" charset="0"/>
                <a:ea typeface="標楷體" pitchFamily="65" charset="-120"/>
              </a:rPr>
              <a:t>】</a:t>
            </a:r>
            <a:r>
              <a:rPr lang="zh-TW" altLang="en-US" sz="2000" dirty="0">
                <a:latin typeface="Times New Roman" pitchFamily="18" charset="0"/>
                <a:ea typeface="標楷體" pitchFamily="65" charset="-120"/>
              </a:rPr>
              <a:t>的情境</a:t>
            </a:r>
            <a:endParaRPr lang="en-US" altLang="zh-TW" sz="2000" dirty="0">
              <a:latin typeface="Times New Roman" pitchFamily="18" charset="0"/>
              <a:ea typeface="標楷體" pitchFamily="65" charset="-120"/>
            </a:endParaRPr>
          </a:p>
        </p:txBody>
      </p:sp>
      <p:sp>
        <p:nvSpPr>
          <p:cNvPr id="47108"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0DD13C69-9BC8-43C0-AA5C-1A3835683969}" type="slidenum">
              <a:rPr kumimoji="0" lang="en-US" altLang="zh-TW" sz="1400">
                <a:latin typeface="Times New Roman" pitchFamily="18" charset="0"/>
              </a:rPr>
              <a:pPr/>
              <a:t>9</a:t>
            </a:fld>
            <a:endParaRPr kumimoji="0" lang="en-US" altLang="zh-TW" sz="1400">
              <a:latin typeface="Times New Roman" pitchFamily="18" charset="0"/>
            </a:endParaRPr>
          </a:p>
        </p:txBody>
      </p:sp>
      <p:pic>
        <p:nvPicPr>
          <p:cNvPr id="3" name="圖片 2">
            <a:extLst>
              <a:ext uri="{FF2B5EF4-FFF2-40B4-BE49-F238E27FC236}">
                <a16:creationId xmlns:a16="http://schemas.microsoft.com/office/drawing/2014/main" id="{B2B88FCB-E2D2-4473-B55E-6FBFE47C0BEA}"/>
              </a:ext>
            </a:extLst>
          </p:cNvPr>
          <p:cNvPicPr>
            <a:picLocks noChangeAspect="1"/>
          </p:cNvPicPr>
          <p:nvPr/>
        </p:nvPicPr>
        <p:blipFill>
          <a:blip r:embed="rId3"/>
          <a:stretch>
            <a:fillRect/>
          </a:stretch>
        </p:blipFill>
        <p:spPr>
          <a:xfrm rot="21420000">
            <a:off x="6729943" y="277515"/>
            <a:ext cx="4593875" cy="927695"/>
          </a:xfrm>
          <a:prstGeom prst="rect">
            <a:avLst/>
          </a:prstGeom>
          <a:ln>
            <a:solidFill>
              <a:srgbClr val="FF0000"/>
            </a:solidFill>
          </a:ln>
        </p:spPr>
      </p:pic>
      <p:pic>
        <p:nvPicPr>
          <p:cNvPr id="7" name="圖片 6">
            <a:extLst>
              <a:ext uri="{FF2B5EF4-FFF2-40B4-BE49-F238E27FC236}">
                <a16:creationId xmlns:a16="http://schemas.microsoft.com/office/drawing/2014/main" id="{2F04C8D8-39C9-4A7A-98AB-F88327E2D6FC}"/>
              </a:ext>
            </a:extLst>
          </p:cNvPr>
          <p:cNvPicPr>
            <a:picLocks noChangeAspect="1"/>
          </p:cNvPicPr>
          <p:nvPr/>
        </p:nvPicPr>
        <p:blipFill>
          <a:blip r:embed="rId4"/>
          <a:stretch>
            <a:fillRect/>
          </a:stretch>
        </p:blipFill>
        <p:spPr>
          <a:xfrm rot="21434288">
            <a:off x="6709603" y="3472311"/>
            <a:ext cx="1828146" cy="1262507"/>
          </a:xfrm>
          <a:prstGeom prst="rect">
            <a:avLst/>
          </a:prstGeom>
          <a:ln>
            <a:solidFill>
              <a:schemeClr val="tx1">
                <a:lumMod val="65000"/>
                <a:lumOff val="35000"/>
              </a:schemeClr>
            </a:solidFill>
          </a:ln>
        </p:spPr>
      </p:pic>
    </p:spTree>
    <p:extLst>
      <p:ext uri="{BB962C8B-B14F-4D97-AF65-F5344CB8AC3E}">
        <p14:creationId xmlns:p14="http://schemas.microsoft.com/office/powerpoint/2010/main" val="5214782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3539">
                                            <p:txEl>
                                              <p:pRg st="0" end="0"/>
                                            </p:txEl>
                                          </p:spTgt>
                                        </p:tgtEl>
                                        <p:attrNameLst>
                                          <p:attrName>style.visibility</p:attrName>
                                        </p:attrNameLst>
                                      </p:cBhvr>
                                      <p:to>
                                        <p:strVal val="visible"/>
                                      </p:to>
                                    </p:set>
                                    <p:animEffect transition="in" filter="fade">
                                      <p:cBhvr>
                                        <p:cTn id="7" dur="500"/>
                                        <p:tgtEl>
                                          <p:spTgt spid="193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3539">
                                            <p:txEl>
                                              <p:pRg st="1" end="1"/>
                                            </p:txEl>
                                          </p:spTgt>
                                        </p:tgtEl>
                                        <p:attrNameLst>
                                          <p:attrName>style.visibility</p:attrName>
                                        </p:attrNameLst>
                                      </p:cBhvr>
                                      <p:to>
                                        <p:strVal val="visible"/>
                                      </p:to>
                                    </p:set>
                                    <p:animEffect transition="in" filter="fade">
                                      <p:cBhvr>
                                        <p:cTn id="12" dur="500"/>
                                        <p:tgtEl>
                                          <p:spTgt spid="193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3539">
                                            <p:txEl>
                                              <p:pRg st="2" end="2"/>
                                            </p:txEl>
                                          </p:spTgt>
                                        </p:tgtEl>
                                        <p:attrNameLst>
                                          <p:attrName>style.visibility</p:attrName>
                                        </p:attrNameLst>
                                      </p:cBhvr>
                                      <p:to>
                                        <p:strVal val="visible"/>
                                      </p:to>
                                    </p:set>
                                    <p:animEffect transition="in" filter="fade">
                                      <p:cBhvr>
                                        <p:cTn id="17" dur="500"/>
                                        <p:tgtEl>
                                          <p:spTgt spid="1935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3539">
                                            <p:txEl>
                                              <p:pRg st="3" end="3"/>
                                            </p:txEl>
                                          </p:spTgt>
                                        </p:tgtEl>
                                        <p:attrNameLst>
                                          <p:attrName>style.visibility</p:attrName>
                                        </p:attrNameLst>
                                      </p:cBhvr>
                                      <p:to>
                                        <p:strVal val="visible"/>
                                      </p:to>
                                    </p:set>
                                    <p:animEffect transition="in" filter="fade">
                                      <p:cBhvr>
                                        <p:cTn id="22" dur="500"/>
                                        <p:tgtEl>
                                          <p:spTgt spid="193539">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3539">
                                            <p:txEl>
                                              <p:pRg st="4" end="4"/>
                                            </p:txEl>
                                          </p:spTgt>
                                        </p:tgtEl>
                                        <p:attrNameLst>
                                          <p:attrName>style.visibility</p:attrName>
                                        </p:attrNameLst>
                                      </p:cBhvr>
                                      <p:to>
                                        <p:strVal val="visible"/>
                                      </p:to>
                                    </p:set>
                                    <p:animEffect transition="in" filter="fade">
                                      <p:cBhvr>
                                        <p:cTn id="25" dur="500"/>
                                        <p:tgtEl>
                                          <p:spTgt spid="193539">
                                            <p:txEl>
                                              <p:pRg st="4" end="4"/>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3539">
                                            <p:txEl>
                                              <p:pRg st="5" end="5"/>
                                            </p:txEl>
                                          </p:spTgt>
                                        </p:tgtEl>
                                        <p:attrNameLst>
                                          <p:attrName>style.visibility</p:attrName>
                                        </p:attrNameLst>
                                      </p:cBhvr>
                                      <p:to>
                                        <p:strVal val="visible"/>
                                      </p:to>
                                    </p:set>
                                    <p:animEffect transition="in" filter="fade">
                                      <p:cBhvr>
                                        <p:cTn id="34" dur="500"/>
                                        <p:tgtEl>
                                          <p:spTgt spid="193539">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3539">
                                            <p:txEl>
                                              <p:pRg st="6" end="6"/>
                                            </p:txEl>
                                          </p:spTgt>
                                        </p:tgtEl>
                                        <p:attrNameLst>
                                          <p:attrName>style.visibility</p:attrName>
                                        </p:attrNameLst>
                                      </p:cBhvr>
                                      <p:to>
                                        <p:strVal val="visible"/>
                                      </p:to>
                                    </p:set>
                                    <p:animEffect transition="in" filter="fade">
                                      <p:cBhvr>
                                        <p:cTn id="39" dur="500"/>
                                        <p:tgtEl>
                                          <p:spTgt spid="19353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93539">
                                            <p:txEl>
                                              <p:pRg st="7" end="7"/>
                                            </p:txEl>
                                          </p:spTgt>
                                        </p:tgtEl>
                                        <p:attrNameLst>
                                          <p:attrName>style.visibility</p:attrName>
                                        </p:attrNameLst>
                                      </p:cBhvr>
                                      <p:to>
                                        <p:strVal val="visible"/>
                                      </p:to>
                                    </p:set>
                                    <p:animEffect transition="in" filter="fade">
                                      <p:cBhvr>
                                        <p:cTn id="44" dur="500"/>
                                        <p:tgtEl>
                                          <p:spTgt spid="193539">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93539">
                                            <p:txEl>
                                              <p:pRg st="8" end="8"/>
                                            </p:txEl>
                                          </p:spTgt>
                                        </p:tgtEl>
                                        <p:attrNameLst>
                                          <p:attrName>style.visibility</p:attrName>
                                        </p:attrNameLst>
                                      </p:cBhvr>
                                      <p:to>
                                        <p:strVal val="visible"/>
                                      </p:to>
                                    </p:set>
                                    <p:animEffect transition="in" filter="fade">
                                      <p:cBhvr>
                                        <p:cTn id="49" dur="500"/>
                                        <p:tgtEl>
                                          <p:spTgt spid="193539">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93539">
                                            <p:txEl>
                                              <p:pRg st="9" end="9"/>
                                            </p:txEl>
                                          </p:spTgt>
                                        </p:tgtEl>
                                        <p:attrNameLst>
                                          <p:attrName>style.visibility</p:attrName>
                                        </p:attrNameLst>
                                      </p:cBhvr>
                                      <p:to>
                                        <p:strVal val="visible"/>
                                      </p:to>
                                    </p:set>
                                    <p:animEffect transition="in" filter="fade">
                                      <p:cBhvr>
                                        <p:cTn id="54" dur="500"/>
                                        <p:tgtEl>
                                          <p:spTgt spid="193539">
                                            <p:txEl>
                                              <p:pRg st="9" end="9"/>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3539">
                                            <p:txEl>
                                              <p:pRg st="10" end="10"/>
                                            </p:txEl>
                                          </p:spTgt>
                                        </p:tgtEl>
                                        <p:attrNameLst>
                                          <p:attrName>style.visibility</p:attrName>
                                        </p:attrNameLst>
                                      </p:cBhvr>
                                      <p:to>
                                        <p:strVal val="visible"/>
                                      </p:to>
                                    </p:set>
                                    <p:animEffect transition="in" filter="fade">
                                      <p:cBhvr>
                                        <p:cTn id="57" dur="500"/>
                                        <p:tgtEl>
                                          <p:spTgt spid="19353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新細明體" panose="02020500000000000000" pitchFamily="18" charset="-120"/>
              </a:defRPr>
            </a:lvl1pPr>
            <a:lvl2pPr marL="742950" indent="-285750">
              <a:defRPr>
                <a:solidFill>
                  <a:schemeClr val="tx1"/>
                </a:solidFill>
                <a:latin typeface="Arial" panose="020B0604020202020204" pitchFamily="34" charset="0"/>
                <a:ea typeface="新細明體" panose="02020500000000000000" pitchFamily="18" charset="-120"/>
              </a:defRPr>
            </a:lvl2pPr>
            <a:lvl3pPr marL="1143000" indent="-228600">
              <a:defRPr>
                <a:solidFill>
                  <a:schemeClr val="tx1"/>
                </a:solidFill>
                <a:latin typeface="Arial" panose="020B0604020202020204" pitchFamily="34" charset="0"/>
                <a:ea typeface="新細明體" panose="02020500000000000000" pitchFamily="18" charset="-120"/>
              </a:defRPr>
            </a:lvl3pPr>
            <a:lvl4pPr marL="1600200" indent="-228600">
              <a:defRPr>
                <a:solidFill>
                  <a:schemeClr val="tx1"/>
                </a:solidFill>
                <a:latin typeface="Arial" panose="020B0604020202020204" pitchFamily="34" charset="0"/>
                <a:ea typeface="新細明體" panose="02020500000000000000" pitchFamily="18" charset="-120"/>
              </a:defRPr>
            </a:lvl4pPr>
            <a:lvl5pPr marL="2057400" indent="-228600">
              <a:defRPr>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Arial" panose="020B0604020202020204" pitchFamily="34" charset="0"/>
                <a:ea typeface="新細明體" panose="02020500000000000000" pitchFamily="18" charset="-120"/>
              </a:defRPr>
            </a:lvl9pPr>
          </a:lstStyle>
          <a:p>
            <a:fld id="{277813E2-C42F-437F-AFC6-F3742B79E8D3}" type="slidenum">
              <a:rPr lang="zh-TW" altLang="en-US">
                <a:latin typeface="Times New Roman" panose="02020603050405020304" pitchFamily="18" charset="0"/>
                <a:ea typeface="標楷體" panose="03000509000000000000" pitchFamily="65" charset="-120"/>
                <a:cs typeface="Times New Roman" panose="02020603050405020304" pitchFamily="18" charset="0"/>
              </a:rPr>
              <a:pPr/>
              <a:t>10</a:t>
            </a:fld>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555" name="Rectangle 2"/>
          <p:cNvSpPr>
            <a:spLocks noGrp="1" noChangeArrowheads="1"/>
          </p:cNvSpPr>
          <p:nvPr>
            <p:ph type="title" idx="4294967295"/>
          </p:nvPr>
        </p:nvSpPr>
        <p:spPr>
          <a:xfrm>
            <a:off x="0" y="365125"/>
            <a:ext cx="10515600" cy="1325563"/>
          </a:xfrm>
        </p:spPr>
        <p:txBody>
          <a:bodyPr/>
          <a:lstStyle/>
          <a:p>
            <a:pPr eaLnBrk="1" hangingPunct="1"/>
            <a:r>
              <a:rPr lang="zh-TW" altLang="en-US" sz="3600" dirty="0">
                <a:latin typeface="Times New Roman" panose="02020603050405020304" pitchFamily="18" charset="0"/>
                <a:ea typeface="標楷體" panose="03000509000000000000" pitchFamily="65" charset="-120"/>
                <a:cs typeface="Times New Roman" panose="02020603050405020304" pitchFamily="18" charset="0"/>
              </a:rPr>
              <a:t>研究進行之三步驟：</a:t>
            </a:r>
            <a:r>
              <a:rPr lang="en-US" altLang="zh-TW" sz="2000" dirty="0">
                <a:solidFill>
                  <a:schemeClr val="bg1">
                    <a:lumMod val="65000"/>
                  </a:schemeClr>
                </a:solidFill>
                <a:latin typeface="Times New Roman" panose="02020603050405020304" pitchFamily="18" charset="0"/>
                <a:ea typeface="標楷體" panose="03000509000000000000" pitchFamily="65" charset="-120"/>
              </a:rPr>
              <a:t>【</a:t>
            </a:r>
            <a:r>
              <a:rPr lang="zh-CN" altLang="en-US" sz="2000" dirty="0">
                <a:solidFill>
                  <a:schemeClr val="bg1">
                    <a:lumMod val="65000"/>
                  </a:schemeClr>
                </a:solidFill>
                <a:latin typeface="Times New Roman" panose="02020603050405020304" pitchFamily="18" charset="0"/>
                <a:ea typeface="標楷體" panose="03000509000000000000" pitchFamily="65" charset="-120"/>
              </a:rPr>
              <a:t>理論建構</a:t>
            </a:r>
            <a:r>
              <a:rPr lang="en-US" altLang="zh-TW" sz="2000" dirty="0">
                <a:solidFill>
                  <a:schemeClr val="bg1">
                    <a:lumMod val="65000"/>
                  </a:schemeClr>
                </a:solidFill>
                <a:latin typeface="Times New Roman" panose="02020603050405020304" pitchFamily="18" charset="0"/>
                <a:ea typeface="標楷體" panose="03000509000000000000" pitchFamily="65" charset="-120"/>
              </a:rPr>
              <a:t>】</a:t>
            </a:r>
            <a:endParaRPr lang="zh-TW" altLang="en-US" sz="3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556" name="Rectangle 3"/>
          <p:cNvSpPr>
            <a:spLocks noGrp="1" noChangeArrowheads="1"/>
          </p:cNvSpPr>
          <p:nvPr>
            <p:ph type="body" idx="4294967295"/>
          </p:nvPr>
        </p:nvSpPr>
        <p:spPr>
          <a:xfrm>
            <a:off x="1644650" y="1658938"/>
            <a:ext cx="10547350" cy="4114800"/>
          </a:xfrm>
        </p:spPr>
        <p:txBody>
          <a:bodyPr>
            <a:normAutofit/>
          </a:bodyPr>
          <a:lstStyle/>
          <a:p>
            <a:pPr eaLnBrk="1" hangingPunct="1">
              <a:spcBef>
                <a:spcPts val="1200"/>
              </a:spcBef>
            </a:pPr>
            <a:r>
              <a:rPr lang="en-US" altLang="zh-TW" sz="2200" b="1" dirty="0">
                <a:solidFill>
                  <a:srgbClr val="FF0000"/>
                </a:solidFill>
                <a:latin typeface="Times New Roman" panose="02020603050405020304" pitchFamily="18" charset="0"/>
                <a:ea typeface="標楷體" panose="03000509000000000000" pitchFamily="65" charset="-120"/>
              </a:rPr>
              <a:t>What</a:t>
            </a:r>
            <a:r>
              <a:rPr lang="en-US" altLang="zh-TW" sz="2200" dirty="0">
                <a:latin typeface="Times New Roman" panose="02020603050405020304" pitchFamily="18" charset="0"/>
                <a:ea typeface="標楷體" panose="03000509000000000000" pitchFamily="65" charset="-120"/>
              </a:rPr>
              <a:t>: </a:t>
            </a:r>
            <a:r>
              <a:rPr lang="zh-TW" altLang="en-US" sz="2200" dirty="0">
                <a:latin typeface="Times New Roman" panose="02020603050405020304" pitchFamily="18" charset="0"/>
                <a:ea typeface="標楷體" panose="03000509000000000000" pitchFamily="65" charset="-120"/>
              </a:rPr>
              <a:t>發現值得關切</a:t>
            </a:r>
            <a:r>
              <a:rPr lang="en-US" altLang="zh-TW" sz="1800" dirty="0">
                <a:latin typeface="Times New Roman" panose="02020603050405020304" pitchFamily="18" charset="0"/>
                <a:ea typeface="標楷體" panose="03000509000000000000" pitchFamily="65" charset="-120"/>
              </a:rPr>
              <a:t>【</a:t>
            </a:r>
            <a:r>
              <a:rPr lang="zh-TW" altLang="en-US" sz="1800" dirty="0">
                <a:latin typeface="Times New Roman" panose="02020603050405020304" pitchFamily="18" charset="0"/>
                <a:ea typeface="標楷體" panose="03000509000000000000" pitchFamily="65" charset="-120"/>
              </a:rPr>
              <a:t>或有趣</a:t>
            </a:r>
            <a:r>
              <a:rPr lang="en-US" altLang="zh-TW" sz="1800" dirty="0">
                <a:latin typeface="Times New Roman" panose="02020603050405020304" pitchFamily="18" charset="0"/>
                <a:ea typeface="標楷體" panose="03000509000000000000" pitchFamily="65" charset="-120"/>
              </a:rPr>
              <a:t>】</a:t>
            </a:r>
            <a:r>
              <a:rPr lang="zh-TW" altLang="en-US" sz="2200" dirty="0">
                <a:latin typeface="Times New Roman" panose="02020603050405020304" pitchFamily="18" charset="0"/>
                <a:ea typeface="標楷體" panose="03000509000000000000" pitchFamily="65" charset="-120"/>
              </a:rPr>
              <a:t>的問題或現象</a:t>
            </a:r>
            <a:r>
              <a:rPr lang="en-US" altLang="zh-TW" sz="1800" dirty="0">
                <a:latin typeface="Times New Roman" panose="02020603050405020304" pitchFamily="18" charset="0"/>
                <a:ea typeface="標楷體" panose="03000509000000000000" pitchFamily="65" charset="-120"/>
              </a:rPr>
              <a:t>【</a:t>
            </a:r>
            <a:r>
              <a:rPr lang="en-GB" altLang="zh-TW" sz="1800" dirty="0">
                <a:latin typeface="Times New Roman" panose="02020603050405020304" pitchFamily="18" charset="0"/>
                <a:ea typeface="標楷體" panose="03000509000000000000" pitchFamily="65" charset="-120"/>
              </a:rPr>
              <a:t>phenomena</a:t>
            </a:r>
            <a:r>
              <a:rPr lang="zh-TW" altLang="en-US" sz="1800" dirty="0">
                <a:latin typeface="Times New Roman" panose="02020603050405020304" pitchFamily="18" charset="0"/>
                <a:ea typeface="標楷體" panose="03000509000000000000" pitchFamily="65" charset="-120"/>
              </a:rPr>
              <a:t> </a:t>
            </a:r>
            <a:r>
              <a:rPr lang="zh-TW" altLang="en-US" sz="1800" dirty="0">
                <a:solidFill>
                  <a:schemeClr val="bg1">
                    <a:lumMod val="65000"/>
                  </a:schemeClr>
                </a:solidFill>
                <a:latin typeface="Times New Roman" panose="02020603050405020304" pitchFamily="18" charset="0"/>
                <a:ea typeface="標楷體" panose="03000509000000000000" pitchFamily="65" charset="-120"/>
              </a:rPr>
              <a:t>複數</a:t>
            </a:r>
            <a:r>
              <a:rPr lang="en-US" altLang="zh-TW" sz="1800" dirty="0">
                <a:latin typeface="Times New Roman" panose="02020603050405020304" pitchFamily="18" charset="0"/>
                <a:ea typeface="標楷體" panose="03000509000000000000" pitchFamily="65" charset="-120"/>
              </a:rPr>
              <a:t>】</a:t>
            </a:r>
            <a:r>
              <a:rPr lang="zh-TW" altLang="en-GB" sz="2200" dirty="0">
                <a:latin typeface="Times New Roman" panose="02020603050405020304" pitchFamily="18" charset="0"/>
                <a:ea typeface="標楷體" panose="03000509000000000000" pitchFamily="65" charset="-120"/>
              </a:rPr>
              <a:t>？</a:t>
            </a:r>
            <a:endParaRPr lang="en-US" altLang="zh-TW" sz="2200" dirty="0">
              <a:latin typeface="Times New Roman" panose="02020603050405020304" pitchFamily="18" charset="0"/>
              <a:ea typeface="標楷體" panose="03000509000000000000" pitchFamily="65" charset="-120"/>
            </a:endParaRPr>
          </a:p>
          <a:p>
            <a:pPr marL="342000" indent="0" eaLnBrk="1" hangingPunct="1">
              <a:spcBef>
                <a:spcPts val="0"/>
              </a:spcBef>
              <a:buNone/>
            </a:pPr>
            <a:r>
              <a:rPr lang="en-US" altLang="zh-TW" sz="2200" dirty="0">
                <a:latin typeface="Times New Roman" panose="02020603050405020304" pitchFamily="18" charset="0"/>
                <a:ea typeface="標楷體" panose="03000509000000000000" pitchFamily="65" charset="-120"/>
              </a:rPr>
              <a:t>What question? What happened?</a:t>
            </a:r>
          </a:p>
          <a:p>
            <a:pPr eaLnBrk="1" hangingPunct="1">
              <a:spcBef>
                <a:spcPts val="1800"/>
              </a:spcBef>
            </a:pPr>
            <a:r>
              <a:rPr lang="en-US" altLang="zh-TW" sz="2200" b="1" dirty="0">
                <a:solidFill>
                  <a:srgbClr val="FF0000"/>
                </a:solidFill>
                <a:latin typeface="Times New Roman" panose="02020603050405020304" pitchFamily="18" charset="0"/>
                <a:ea typeface="標楷體" panose="03000509000000000000" pitchFamily="65" charset="-120"/>
              </a:rPr>
              <a:t>Why</a:t>
            </a:r>
            <a:r>
              <a:rPr lang="en-US" altLang="zh-TW" sz="2200" dirty="0">
                <a:latin typeface="Times New Roman" panose="02020603050405020304" pitchFamily="18" charset="0"/>
                <a:ea typeface="標楷體" panose="03000509000000000000" pitchFamily="65" charset="-120"/>
              </a:rPr>
              <a:t>: </a:t>
            </a:r>
            <a:r>
              <a:rPr lang="zh-TW" altLang="en-US" sz="2200" dirty="0">
                <a:latin typeface="Times New Roman" panose="02020603050405020304" pitchFamily="18" charset="0"/>
                <a:ea typeface="標楷體" panose="03000509000000000000" pitchFamily="65" charset="-120"/>
              </a:rPr>
              <a:t>為何會發生這問題</a:t>
            </a:r>
            <a:r>
              <a:rPr lang="en-US" altLang="zh-TW" sz="1800" dirty="0">
                <a:latin typeface="Times New Roman" panose="02020603050405020304" pitchFamily="18" charset="0"/>
                <a:ea typeface="標楷體" panose="03000509000000000000" pitchFamily="65" charset="-120"/>
              </a:rPr>
              <a:t>【</a:t>
            </a:r>
            <a:r>
              <a:rPr lang="zh-TW" altLang="en-US" sz="1800" dirty="0">
                <a:latin typeface="Times New Roman" panose="02020603050405020304" pitchFamily="18" charset="0"/>
                <a:ea typeface="標楷體" panose="03000509000000000000" pitchFamily="65" charset="-120"/>
              </a:rPr>
              <a:t>或現象</a:t>
            </a:r>
            <a:r>
              <a:rPr lang="en-US" altLang="zh-TW" sz="1800" dirty="0">
                <a:latin typeface="Times New Roman" panose="02020603050405020304" pitchFamily="18" charset="0"/>
                <a:ea typeface="標楷體" panose="03000509000000000000" pitchFamily="65" charset="-120"/>
              </a:rPr>
              <a:t>】</a:t>
            </a:r>
            <a:r>
              <a:rPr lang="zh-TW" altLang="en-US" sz="2200" dirty="0">
                <a:latin typeface="Times New Roman" panose="02020603050405020304" pitchFamily="18" charset="0"/>
                <a:ea typeface="標楷體" panose="03000509000000000000" pitchFamily="65" charset="-120"/>
              </a:rPr>
              <a:t>？可能是什麼原因</a:t>
            </a:r>
            <a:r>
              <a:rPr lang="en-US" altLang="zh-TW" sz="1800" dirty="0">
                <a:latin typeface="Times New Roman" panose="02020603050405020304" pitchFamily="18" charset="0"/>
                <a:ea typeface="標楷體" panose="03000509000000000000" pitchFamily="65" charset="-120"/>
              </a:rPr>
              <a:t>【</a:t>
            </a:r>
            <a:r>
              <a:rPr lang="zh-TW" altLang="en-US" sz="1800" dirty="0">
                <a:latin typeface="Times New Roman" panose="02020603050405020304" pitchFamily="18" charset="0"/>
                <a:ea typeface="標楷體" panose="03000509000000000000" pitchFamily="65" charset="-120"/>
              </a:rPr>
              <a:t>變數</a:t>
            </a:r>
            <a:r>
              <a:rPr lang="en-US" altLang="zh-TW" sz="1800" dirty="0">
                <a:latin typeface="Times New Roman" panose="02020603050405020304" pitchFamily="18" charset="0"/>
                <a:ea typeface="標楷體" panose="03000509000000000000" pitchFamily="65" charset="-120"/>
              </a:rPr>
              <a:t>】</a:t>
            </a:r>
            <a:r>
              <a:rPr lang="zh-TW" altLang="en-US" sz="2200" dirty="0">
                <a:latin typeface="Times New Roman" panose="02020603050405020304" pitchFamily="18" charset="0"/>
                <a:ea typeface="標楷體" panose="03000509000000000000" pitchFamily="65" charset="-120"/>
              </a:rPr>
              <a:t>造成的</a:t>
            </a:r>
            <a:r>
              <a:rPr lang="zh-TW" altLang="en-GB" sz="2200" dirty="0">
                <a:latin typeface="Times New Roman" panose="02020603050405020304" pitchFamily="18" charset="0"/>
                <a:ea typeface="標楷體" panose="03000509000000000000" pitchFamily="65" charset="-120"/>
              </a:rPr>
              <a:t>？</a:t>
            </a:r>
            <a:endParaRPr lang="en-US" altLang="zh-TW" sz="2200" dirty="0">
              <a:latin typeface="Times New Roman" panose="02020603050405020304" pitchFamily="18" charset="0"/>
              <a:ea typeface="標楷體" panose="03000509000000000000" pitchFamily="65" charset="-120"/>
            </a:endParaRPr>
          </a:p>
          <a:p>
            <a:pPr marL="342000" indent="0" eaLnBrk="1" hangingPunct="1">
              <a:spcBef>
                <a:spcPts val="0"/>
              </a:spcBef>
              <a:buNone/>
            </a:pPr>
            <a:r>
              <a:rPr lang="en-US" altLang="zh-TW" sz="2200" dirty="0">
                <a:latin typeface="Times New Roman" panose="02020603050405020304" pitchFamily="18" charset="0"/>
                <a:ea typeface="標楷體" panose="03000509000000000000" pitchFamily="65" charset="-120"/>
              </a:rPr>
              <a:t>Why does it happen? What may be the causes? What are the variables involved?</a:t>
            </a:r>
          </a:p>
          <a:p>
            <a:pPr marL="342000" indent="0" eaLnBrk="1" hangingPunct="1">
              <a:spcBef>
                <a:spcPts val="0"/>
              </a:spcBef>
              <a:buNone/>
            </a:pPr>
            <a:r>
              <a:rPr lang="zh-TW" altLang="en-US" sz="2200" dirty="0">
                <a:latin typeface="Times New Roman" panose="02020603050405020304" pitchFamily="18" charset="0"/>
                <a:ea typeface="標楷體" panose="03000509000000000000" pitchFamily="65" charset="-120"/>
              </a:rPr>
              <a:t>這時，我們開始</a:t>
            </a:r>
            <a:r>
              <a:rPr lang="en-US" altLang="zh-TW" sz="2000" dirty="0">
                <a:latin typeface="Times New Roman" panose="02020603050405020304" pitchFamily="18" charset="0"/>
                <a:ea typeface="標楷體" panose="03000509000000000000" pitchFamily="65" charset="-120"/>
              </a:rPr>
              <a:t>【</a:t>
            </a:r>
            <a:r>
              <a:rPr lang="zh-TW" altLang="en-US" sz="2000" dirty="0">
                <a:latin typeface="Times New Roman" panose="02020603050405020304" pitchFamily="18" charset="0"/>
                <a:ea typeface="標楷體" panose="03000509000000000000" pitchFamily="65" charset="-120"/>
              </a:rPr>
              <a:t>猜測</a:t>
            </a:r>
            <a:r>
              <a:rPr lang="en-US" altLang="zh-TW" sz="2000" dirty="0">
                <a:latin typeface="Times New Roman" panose="02020603050405020304" pitchFamily="18" charset="0"/>
                <a:ea typeface="標楷體" panose="03000509000000000000" pitchFamily="65" charset="-120"/>
              </a:rPr>
              <a:t>】</a:t>
            </a:r>
            <a:r>
              <a:rPr lang="zh-TW" altLang="en-US" sz="2200" dirty="0">
                <a:latin typeface="Times New Roman" panose="02020603050405020304" pitchFamily="18" charset="0"/>
                <a:ea typeface="標楷體" panose="03000509000000000000" pitchFamily="65" charset="-120"/>
              </a:rPr>
              <a:t>原因－提出假說 </a:t>
            </a:r>
            <a:r>
              <a:rPr lang="en-US" altLang="zh-TW" sz="2200" dirty="0">
                <a:latin typeface="Times New Roman" panose="02020603050405020304" pitchFamily="18" charset="0"/>
                <a:ea typeface="標楷體" panose="03000509000000000000" pitchFamily="65" charset="-120"/>
              </a:rPr>
              <a:t>hypothesis</a:t>
            </a:r>
            <a:r>
              <a:rPr lang="en-US" altLang="zh-TW" sz="2000" dirty="0">
                <a:latin typeface="Times New Roman" panose="02020603050405020304" pitchFamily="18" charset="0"/>
                <a:ea typeface="標楷體" panose="03000509000000000000" pitchFamily="65" charset="-120"/>
              </a:rPr>
              <a:t>【</a:t>
            </a:r>
            <a:r>
              <a:rPr lang="zh-TW" altLang="en-US" sz="2000" dirty="0">
                <a:latin typeface="Times New Roman" panose="02020603050405020304" pitchFamily="18" charset="0"/>
                <a:ea typeface="標楷體" panose="03000509000000000000" pitchFamily="65" charset="-120"/>
              </a:rPr>
              <a:t>概念或變數間關係的猜測</a:t>
            </a:r>
            <a:r>
              <a:rPr lang="en-US" altLang="zh-TW" sz="2000" dirty="0">
                <a:latin typeface="Times New Roman" panose="02020603050405020304" pitchFamily="18" charset="0"/>
                <a:ea typeface="標楷體" panose="03000509000000000000" pitchFamily="65" charset="-120"/>
              </a:rPr>
              <a:t>】</a:t>
            </a:r>
            <a:endParaRPr lang="en-US" altLang="zh-TW" sz="2200" dirty="0">
              <a:latin typeface="Times New Roman" panose="02020603050405020304" pitchFamily="18" charset="0"/>
              <a:ea typeface="標楷體" panose="03000509000000000000" pitchFamily="65" charset="-120"/>
            </a:endParaRPr>
          </a:p>
          <a:p>
            <a:pPr eaLnBrk="1" hangingPunct="1">
              <a:lnSpc>
                <a:spcPct val="110000"/>
              </a:lnSpc>
              <a:spcBef>
                <a:spcPts val="1800"/>
              </a:spcBef>
            </a:pPr>
            <a:r>
              <a:rPr lang="en-US" altLang="zh-TW" sz="2200" b="1" dirty="0">
                <a:solidFill>
                  <a:srgbClr val="FF0000"/>
                </a:solidFill>
                <a:latin typeface="Times New Roman" panose="02020603050405020304" pitchFamily="18" charset="0"/>
                <a:ea typeface="標楷體" panose="03000509000000000000" pitchFamily="65" charset="-120"/>
              </a:rPr>
              <a:t>How</a:t>
            </a:r>
            <a:r>
              <a:rPr lang="en-US" altLang="zh-TW" sz="2200" dirty="0">
                <a:latin typeface="Times New Roman" panose="02020603050405020304" pitchFamily="18" charset="0"/>
                <a:ea typeface="標楷體" panose="03000509000000000000" pitchFamily="65" charset="-120"/>
              </a:rPr>
              <a:t>:</a:t>
            </a:r>
            <a:r>
              <a:rPr lang="zh-TW" altLang="en-US" sz="2200" dirty="0">
                <a:latin typeface="Times New Roman" panose="02020603050405020304" pitchFamily="18" charset="0"/>
                <a:ea typeface="標楷體" panose="03000509000000000000" pitchFamily="65" charset="-120"/>
              </a:rPr>
              <a:t> 這問題</a:t>
            </a:r>
            <a:r>
              <a:rPr lang="en-US" altLang="zh-TW" sz="1800" dirty="0">
                <a:latin typeface="Times New Roman" panose="02020603050405020304" pitchFamily="18" charset="0"/>
                <a:ea typeface="標楷體" panose="03000509000000000000" pitchFamily="65" charset="-120"/>
              </a:rPr>
              <a:t>【</a:t>
            </a:r>
            <a:r>
              <a:rPr lang="zh-TW" altLang="en-US" sz="1800" dirty="0">
                <a:latin typeface="Times New Roman" panose="02020603050405020304" pitchFamily="18" charset="0"/>
                <a:ea typeface="標楷體" panose="03000509000000000000" pitchFamily="65" charset="-120"/>
              </a:rPr>
              <a:t>或現象</a:t>
            </a:r>
            <a:r>
              <a:rPr lang="en-US" altLang="zh-TW" sz="1800" dirty="0">
                <a:latin typeface="Times New Roman" panose="02020603050405020304" pitchFamily="18" charset="0"/>
                <a:ea typeface="標楷體" panose="03000509000000000000" pitchFamily="65" charset="-120"/>
              </a:rPr>
              <a:t>】</a:t>
            </a:r>
            <a:r>
              <a:rPr lang="zh-TW" altLang="en-US" sz="2200" dirty="0">
                <a:latin typeface="Times New Roman" panose="02020603050405020304" pitchFamily="18" charset="0"/>
                <a:ea typeface="標楷體" panose="03000509000000000000" pitchFamily="65" charset="-120"/>
              </a:rPr>
              <a:t>是怎麼發生的？</a:t>
            </a:r>
            <a:r>
              <a:rPr lang="en-US" altLang="zh-TW" sz="1800" dirty="0">
                <a:latin typeface="Times New Roman" panose="02020603050405020304" pitchFamily="18" charset="0"/>
                <a:ea typeface="標楷體" panose="03000509000000000000" pitchFamily="65" charset="-120"/>
              </a:rPr>
              <a:t>【</a:t>
            </a:r>
            <a:r>
              <a:rPr lang="zh-TW" altLang="en-US" sz="1800" dirty="0">
                <a:latin typeface="Times New Roman" panose="02020603050405020304" pitchFamily="18" charset="0"/>
                <a:ea typeface="標楷體" panose="03000509000000000000" pitchFamily="65" charset="-120"/>
              </a:rPr>
              <a:t>原因和結果間的關係為何？</a:t>
            </a:r>
            <a:r>
              <a:rPr lang="en-US" altLang="zh-TW" sz="1800" dirty="0">
                <a:latin typeface="Times New Roman" panose="02020603050405020304" pitchFamily="18" charset="0"/>
                <a:ea typeface="標楷體" panose="03000509000000000000" pitchFamily="65" charset="-120"/>
              </a:rPr>
              <a:t>】</a:t>
            </a:r>
          </a:p>
          <a:p>
            <a:pPr marL="342000" indent="0" eaLnBrk="1" hangingPunct="1">
              <a:lnSpc>
                <a:spcPct val="110000"/>
              </a:lnSpc>
              <a:spcBef>
                <a:spcPts val="0"/>
              </a:spcBef>
              <a:buNone/>
            </a:pPr>
            <a:r>
              <a:rPr lang="en-US" altLang="zh-TW" sz="2200" dirty="0">
                <a:latin typeface="Times New Roman" panose="02020603050405020304" pitchFamily="18" charset="0"/>
                <a:ea typeface="標楷體" panose="03000509000000000000" pitchFamily="65" charset="-120"/>
              </a:rPr>
              <a:t>How are the variables related to each other 【one another】?</a:t>
            </a:r>
          </a:p>
          <a:p>
            <a:pPr marL="342000" indent="0" eaLnBrk="1" hangingPunct="1">
              <a:lnSpc>
                <a:spcPct val="110000"/>
              </a:lnSpc>
              <a:spcBef>
                <a:spcPts val="0"/>
              </a:spcBef>
              <a:buNone/>
            </a:pPr>
            <a:r>
              <a:rPr lang="zh-TW" altLang="en-US" sz="2200" dirty="0">
                <a:latin typeface="Times New Roman" panose="02020603050405020304" pitchFamily="18" charset="0"/>
                <a:ea typeface="標楷體" panose="03000509000000000000" pitchFamily="65" charset="-120"/>
              </a:rPr>
              <a:t>所考量的</a:t>
            </a:r>
            <a:r>
              <a:rPr lang="zh-TW" altLang="en-US" sz="2200" u="sng" dirty="0">
                <a:latin typeface="Times New Roman" panose="02020603050405020304" pitchFamily="18" charset="0"/>
                <a:ea typeface="標楷體" panose="03000509000000000000" pitchFamily="65" charset="-120"/>
              </a:rPr>
              <a:t>變數間存在何種關係</a:t>
            </a:r>
            <a:r>
              <a:rPr lang="zh-TW" altLang="en-GB" sz="2200" dirty="0">
                <a:latin typeface="Times New Roman" panose="02020603050405020304" pitchFamily="18" charset="0"/>
                <a:ea typeface="標楷體" panose="03000509000000000000" pitchFamily="65" charset="-120"/>
              </a:rPr>
              <a:t>？</a:t>
            </a:r>
            <a:endParaRPr lang="en-US" altLang="zh-TW" sz="2200" dirty="0">
              <a:latin typeface="Times New Roman" panose="02020603050405020304" pitchFamily="18" charset="0"/>
              <a:ea typeface="標楷體" panose="03000509000000000000" pitchFamily="65" charset="-120"/>
            </a:endParaRPr>
          </a:p>
          <a:p>
            <a:pPr marL="342000" indent="0" eaLnBrk="1" hangingPunct="1">
              <a:lnSpc>
                <a:spcPct val="110000"/>
              </a:lnSpc>
              <a:spcBef>
                <a:spcPts val="0"/>
              </a:spcBef>
              <a:buNone/>
            </a:pPr>
            <a:r>
              <a:rPr lang="zh-TW" altLang="en-US" sz="2200" u="sng" dirty="0">
                <a:latin typeface="Times New Roman" panose="02020603050405020304" pitchFamily="18" charset="0"/>
                <a:ea typeface="標楷體" panose="03000509000000000000" pitchFamily="65" charset="-120"/>
              </a:rPr>
              <a:t>自變數</a:t>
            </a:r>
            <a:r>
              <a:rPr lang="zh-TW" altLang="en-US" sz="2200" dirty="0">
                <a:latin typeface="Times New Roman" panose="02020603050405020304" pitchFamily="18" charset="0"/>
                <a:ea typeface="標楷體" panose="03000509000000000000" pitchFamily="65" charset="-120"/>
              </a:rPr>
              <a:t>如何影響到</a:t>
            </a:r>
            <a:r>
              <a:rPr lang="zh-TW" altLang="en-US" sz="2200" u="sng" dirty="0">
                <a:latin typeface="Times New Roman" panose="02020603050405020304" pitchFamily="18" charset="0"/>
                <a:ea typeface="標楷體" panose="03000509000000000000" pitchFamily="65" charset="-120"/>
              </a:rPr>
              <a:t>應變數</a:t>
            </a:r>
            <a:r>
              <a:rPr lang="zh-TW" altLang="en-US" sz="2200" dirty="0">
                <a:latin typeface="Times New Roman" panose="02020603050405020304" pitchFamily="18" charset="0"/>
                <a:ea typeface="標楷體" panose="03000509000000000000" pitchFamily="65" charset="-120"/>
              </a:rPr>
              <a:t>？兩者間的因果關係為何？</a:t>
            </a:r>
            <a:endParaRPr lang="en-US" altLang="zh-TW" sz="2200" dirty="0">
              <a:latin typeface="Times New Roman" panose="02020603050405020304" pitchFamily="18" charset="0"/>
              <a:ea typeface="標楷體" panose="03000509000000000000" pitchFamily="65" charset="-120"/>
            </a:endParaRPr>
          </a:p>
          <a:p>
            <a:pPr marL="342000" indent="0" eaLnBrk="1" hangingPunct="1">
              <a:lnSpc>
                <a:spcPct val="110000"/>
              </a:lnSpc>
              <a:spcBef>
                <a:spcPts val="0"/>
              </a:spcBef>
              <a:buNone/>
            </a:pPr>
            <a:r>
              <a:rPr lang="en-US" altLang="zh-TW" sz="2200" dirty="0">
                <a:latin typeface="Times New Roman" panose="02020603050405020304" pitchFamily="18" charset="0"/>
                <a:ea typeface="標楷體" panose="03000509000000000000" pitchFamily="65" charset="-120"/>
              </a:rPr>
              <a:t>【m1, m2, r </a:t>
            </a:r>
            <a:r>
              <a:rPr lang="zh-TW" altLang="en-US" sz="2200" dirty="0">
                <a:latin typeface="Times New Roman" panose="02020603050405020304" pitchFamily="18" charset="0"/>
                <a:ea typeface="標楷體" panose="03000509000000000000" pitchFamily="65" charset="-120"/>
              </a:rPr>
              <a:t>如何影響到 </a:t>
            </a:r>
            <a:r>
              <a:rPr lang="en-US" altLang="zh-TW" sz="2200" dirty="0">
                <a:latin typeface="Times New Roman" panose="02020603050405020304" pitchFamily="18" charset="0"/>
                <a:ea typeface="標楷體" panose="03000509000000000000" pitchFamily="65" charset="-120"/>
              </a:rPr>
              <a:t>F1,</a:t>
            </a:r>
            <a:r>
              <a:rPr lang="zh-TW" altLang="en-US" sz="2200" dirty="0">
                <a:latin typeface="Times New Roman" panose="02020603050405020304" pitchFamily="18" charset="0"/>
                <a:ea typeface="標楷體" panose="03000509000000000000" pitchFamily="65" charset="-120"/>
              </a:rPr>
              <a:t> </a:t>
            </a:r>
            <a:r>
              <a:rPr lang="en-US" altLang="zh-TW" sz="2200" dirty="0">
                <a:latin typeface="Times New Roman" panose="02020603050405020304" pitchFamily="18" charset="0"/>
                <a:ea typeface="標楷體" panose="03000509000000000000" pitchFamily="65" charset="-120"/>
              </a:rPr>
              <a:t>F2?】</a:t>
            </a:r>
          </a:p>
        </p:txBody>
      </p:sp>
      <p:pic>
        <p:nvPicPr>
          <p:cNvPr id="6" name="圖片 5"/>
          <p:cNvPicPr>
            <a:picLocks noChangeAspect="1"/>
          </p:cNvPicPr>
          <p:nvPr/>
        </p:nvPicPr>
        <p:blipFill>
          <a:blip r:embed="rId3"/>
          <a:stretch>
            <a:fillRect/>
          </a:stretch>
        </p:blipFill>
        <p:spPr>
          <a:xfrm rot="21434288">
            <a:off x="8701448" y="5214939"/>
            <a:ext cx="1828146" cy="1262507"/>
          </a:xfrm>
          <a:prstGeom prst="rect">
            <a:avLst/>
          </a:prstGeom>
        </p:spPr>
      </p:pic>
      <p:sp>
        <p:nvSpPr>
          <p:cNvPr id="3" name="文字方塊 2">
            <a:extLst>
              <a:ext uri="{FF2B5EF4-FFF2-40B4-BE49-F238E27FC236}">
                <a16:creationId xmlns:a16="http://schemas.microsoft.com/office/drawing/2014/main" id="{96054273-6C75-4478-BB83-64A5FE9192AA}"/>
              </a:ext>
            </a:extLst>
          </p:cNvPr>
          <p:cNvSpPr txBox="1"/>
          <p:nvPr/>
        </p:nvSpPr>
        <p:spPr>
          <a:xfrm rot="21360000">
            <a:off x="8133089" y="475532"/>
            <a:ext cx="3467616" cy="830997"/>
          </a:xfrm>
          <a:prstGeom prst="rect">
            <a:avLst/>
          </a:prstGeom>
          <a:solidFill>
            <a:srgbClr val="FFFF00"/>
          </a:solidFill>
        </p:spPr>
        <p:txBody>
          <a:bodyPr wrap="none" rtlCol="0">
            <a:spAutoFit/>
          </a:bodyPr>
          <a:lstStyle/>
          <a:p>
            <a:r>
              <a:rPr lang="zh-TW" altLang="en-US" sz="1600" dirty="0">
                <a:latin typeface="Times New Roman" panose="02020603050405020304" pitchFamily="18" charset="0"/>
                <a:ea typeface="標楷體" panose="03000509000000000000" pitchFamily="65" charset="-120"/>
              </a:rPr>
              <a:t>為何某家企業的</a:t>
            </a:r>
            <a:r>
              <a:rPr lang="zh-TW" altLang="en-US" sz="1600" u="sng" dirty="0">
                <a:latin typeface="Times New Roman" panose="02020603050405020304" pitchFamily="18" charset="0"/>
                <a:ea typeface="標楷體" panose="03000509000000000000" pitchFamily="65" charset="-120"/>
              </a:rPr>
              <a:t>員工離職率</a:t>
            </a:r>
            <a:r>
              <a:rPr lang="zh-TW" altLang="en-US" sz="1600" dirty="0">
                <a:latin typeface="Times New Roman" panose="02020603050405020304" pitchFamily="18" charset="0"/>
                <a:ea typeface="標楷體" panose="03000509000000000000" pitchFamily="65" charset="-120"/>
              </a:rPr>
              <a:t>特別低？</a:t>
            </a:r>
            <a:endParaRPr lang="en-US" altLang="zh-TW" sz="1600" dirty="0">
              <a:latin typeface="Times New Roman" panose="02020603050405020304" pitchFamily="18" charset="0"/>
              <a:ea typeface="標楷體" panose="03000509000000000000" pitchFamily="65" charset="-120"/>
            </a:endParaRPr>
          </a:p>
          <a:p>
            <a:r>
              <a:rPr lang="zh-TW" altLang="en-US" sz="1600" dirty="0">
                <a:latin typeface="Times New Roman" panose="02020603050405020304" pitchFamily="18" charset="0"/>
                <a:ea typeface="標楷體" panose="03000509000000000000" pitchFamily="65" charset="-120"/>
              </a:rPr>
              <a:t>什麼原因</a:t>
            </a:r>
            <a:r>
              <a:rPr lang="en-US" altLang="zh-TW" sz="1200" dirty="0">
                <a:latin typeface="Times New Roman" panose="02020603050405020304" pitchFamily="18" charset="0"/>
                <a:ea typeface="標楷體" panose="03000509000000000000" pitchFamily="65" charset="-120"/>
              </a:rPr>
              <a:t>【</a:t>
            </a:r>
            <a:r>
              <a:rPr lang="zh-TW" altLang="en-US" sz="1200" dirty="0">
                <a:latin typeface="Times New Roman" panose="02020603050405020304" pitchFamily="18" charset="0"/>
                <a:ea typeface="標楷體" panose="03000509000000000000" pitchFamily="65" charset="-120"/>
              </a:rPr>
              <a:t>變數</a:t>
            </a:r>
            <a:r>
              <a:rPr lang="en-US" altLang="zh-TW" sz="1200" dirty="0">
                <a:latin typeface="Times New Roman" panose="02020603050405020304" pitchFamily="18" charset="0"/>
                <a:ea typeface="標楷體" panose="03000509000000000000" pitchFamily="65" charset="-120"/>
              </a:rPr>
              <a:t>】</a:t>
            </a:r>
            <a:r>
              <a:rPr lang="zh-TW" altLang="en-US" sz="1600" dirty="0">
                <a:latin typeface="Times New Roman" panose="02020603050405020304" pitchFamily="18" charset="0"/>
                <a:ea typeface="標楷體" panose="03000509000000000000" pitchFamily="65" charset="-120"/>
              </a:rPr>
              <a:t>造成這結果？</a:t>
            </a:r>
            <a:endParaRPr lang="en-US" altLang="zh-TW" sz="1600" dirty="0">
              <a:latin typeface="Times New Roman" panose="02020603050405020304" pitchFamily="18" charset="0"/>
              <a:ea typeface="標楷體" panose="03000509000000000000" pitchFamily="65" charset="-120"/>
            </a:endParaRPr>
          </a:p>
          <a:p>
            <a:r>
              <a:rPr lang="zh-TW" altLang="en-US" sz="1600" dirty="0">
                <a:latin typeface="Times New Roman" panose="02020603050405020304" pitchFamily="18" charset="0"/>
                <a:ea typeface="標楷體" panose="03000509000000000000" pitchFamily="65" charset="-120"/>
              </a:rPr>
              <a:t>原因和結果間的關係為何？</a:t>
            </a:r>
          </a:p>
        </p:txBody>
      </p:sp>
    </p:spTree>
    <p:extLst>
      <p:ext uri="{BB962C8B-B14F-4D97-AF65-F5344CB8AC3E}">
        <p14:creationId xmlns:p14="http://schemas.microsoft.com/office/powerpoint/2010/main" val="25425699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fade">
                                      <p:cBhvr>
                                        <p:cTn id="7" dur="500"/>
                                        <p:tgtEl>
                                          <p:spTgt spid="2355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556">
                                            <p:txEl>
                                              <p:pRg st="1" end="1"/>
                                            </p:txEl>
                                          </p:spTgt>
                                        </p:tgtEl>
                                        <p:attrNameLst>
                                          <p:attrName>style.visibility</p:attrName>
                                        </p:attrNameLst>
                                      </p:cBhvr>
                                      <p:to>
                                        <p:strVal val="visible"/>
                                      </p:to>
                                    </p:set>
                                    <p:animEffect transition="in" filter="fade">
                                      <p:cBhvr>
                                        <p:cTn id="11" dur="500"/>
                                        <p:tgtEl>
                                          <p:spTgt spid="2355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3556">
                                            <p:txEl>
                                              <p:pRg st="2" end="2"/>
                                            </p:txEl>
                                          </p:spTgt>
                                        </p:tgtEl>
                                        <p:attrNameLst>
                                          <p:attrName>style.visibility</p:attrName>
                                        </p:attrNameLst>
                                      </p:cBhvr>
                                      <p:to>
                                        <p:strVal val="visible"/>
                                      </p:to>
                                    </p:set>
                                    <p:animEffect transition="in" filter="fade">
                                      <p:cBhvr>
                                        <p:cTn id="16" dur="500"/>
                                        <p:tgtEl>
                                          <p:spTgt spid="2355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556">
                                            <p:txEl>
                                              <p:pRg st="3" end="3"/>
                                            </p:txEl>
                                          </p:spTgt>
                                        </p:tgtEl>
                                        <p:attrNameLst>
                                          <p:attrName>style.visibility</p:attrName>
                                        </p:attrNameLst>
                                      </p:cBhvr>
                                      <p:to>
                                        <p:strVal val="visible"/>
                                      </p:to>
                                    </p:set>
                                    <p:animEffect transition="in" filter="fade">
                                      <p:cBhvr>
                                        <p:cTn id="21" dur="500"/>
                                        <p:tgtEl>
                                          <p:spTgt spid="23556">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3556">
                                            <p:txEl>
                                              <p:pRg st="4" end="4"/>
                                            </p:txEl>
                                          </p:spTgt>
                                        </p:tgtEl>
                                        <p:attrNameLst>
                                          <p:attrName>style.visibility</p:attrName>
                                        </p:attrNameLst>
                                      </p:cBhvr>
                                      <p:to>
                                        <p:strVal val="visible"/>
                                      </p:to>
                                    </p:set>
                                    <p:animEffect transition="in" filter="fade">
                                      <p:cBhvr>
                                        <p:cTn id="26" dur="500"/>
                                        <p:tgtEl>
                                          <p:spTgt spid="2355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556">
                                            <p:txEl>
                                              <p:pRg st="5" end="5"/>
                                            </p:txEl>
                                          </p:spTgt>
                                        </p:tgtEl>
                                        <p:attrNameLst>
                                          <p:attrName>style.visibility</p:attrName>
                                        </p:attrNameLst>
                                      </p:cBhvr>
                                      <p:to>
                                        <p:strVal val="visible"/>
                                      </p:to>
                                    </p:set>
                                    <p:animEffect transition="in" filter="fade">
                                      <p:cBhvr>
                                        <p:cTn id="31" dur="500"/>
                                        <p:tgtEl>
                                          <p:spTgt spid="23556">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3556">
                                            <p:txEl>
                                              <p:pRg st="6" end="6"/>
                                            </p:txEl>
                                          </p:spTgt>
                                        </p:tgtEl>
                                        <p:attrNameLst>
                                          <p:attrName>style.visibility</p:attrName>
                                        </p:attrNameLst>
                                      </p:cBhvr>
                                      <p:to>
                                        <p:strVal val="visible"/>
                                      </p:to>
                                    </p:set>
                                    <p:animEffect transition="in" filter="fade">
                                      <p:cBhvr>
                                        <p:cTn id="36" dur="500"/>
                                        <p:tgtEl>
                                          <p:spTgt spid="23556">
                                            <p:txEl>
                                              <p:pRg st="6" end="6"/>
                                            </p:txEl>
                                          </p:spTgt>
                                        </p:tgtEl>
                                      </p:cBhvr>
                                    </p:animEffec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23556">
                                            <p:txEl>
                                              <p:pRg st="7" end="7"/>
                                            </p:txEl>
                                          </p:spTgt>
                                        </p:tgtEl>
                                        <p:attrNameLst>
                                          <p:attrName>style.visibility</p:attrName>
                                        </p:attrNameLst>
                                      </p:cBhvr>
                                      <p:to>
                                        <p:strVal val="visible"/>
                                      </p:to>
                                    </p:set>
                                    <p:animEffect transition="in" filter="fade">
                                      <p:cBhvr>
                                        <p:cTn id="40" dur="500"/>
                                        <p:tgtEl>
                                          <p:spTgt spid="23556">
                                            <p:txEl>
                                              <p:pRg st="7" end="7"/>
                                            </p:txEl>
                                          </p:spTgt>
                                        </p:tgtEl>
                                      </p:cBhvr>
                                    </p:animEffect>
                                  </p:childTnLst>
                                </p:cTn>
                              </p:par>
                            </p:childTnLst>
                          </p:cTn>
                        </p:par>
                        <p:par>
                          <p:cTn id="41" fill="hold">
                            <p:stCondLst>
                              <p:cond delay="1000"/>
                            </p:stCondLst>
                            <p:childTnLst>
                              <p:par>
                                <p:cTn id="42" presetID="10" presetClass="entr" presetSubtype="0" fill="hold" grpId="0" nodeType="afterEffect">
                                  <p:stCondLst>
                                    <p:cond delay="0"/>
                                  </p:stCondLst>
                                  <p:childTnLst>
                                    <p:set>
                                      <p:cBhvr>
                                        <p:cTn id="43" dur="1" fill="hold">
                                          <p:stCondLst>
                                            <p:cond delay="0"/>
                                          </p:stCondLst>
                                        </p:cTn>
                                        <p:tgtEl>
                                          <p:spTgt spid="23556">
                                            <p:txEl>
                                              <p:pRg st="8" end="8"/>
                                            </p:txEl>
                                          </p:spTgt>
                                        </p:tgtEl>
                                        <p:attrNameLst>
                                          <p:attrName>style.visibility</p:attrName>
                                        </p:attrNameLst>
                                      </p:cBhvr>
                                      <p:to>
                                        <p:strVal val="visible"/>
                                      </p:to>
                                    </p:set>
                                    <p:animEffect transition="in" filter="fade">
                                      <p:cBhvr>
                                        <p:cTn id="44" dur="500"/>
                                        <p:tgtEl>
                                          <p:spTgt spid="23556">
                                            <p:txEl>
                                              <p:pRg st="8" end="8"/>
                                            </p:txEl>
                                          </p:spTgt>
                                        </p:tgtEl>
                                      </p:cBhvr>
                                    </p:animEffect>
                                  </p:childTnLst>
                                </p:cTn>
                              </p:par>
                            </p:childTnLst>
                          </p:cTn>
                        </p:par>
                        <p:par>
                          <p:cTn id="45" fill="hold">
                            <p:stCondLst>
                              <p:cond delay="1500"/>
                            </p:stCondLst>
                            <p:childTnLst>
                              <p:par>
                                <p:cTn id="46" presetID="10" presetClass="entr" presetSubtype="0" fill="hold" grpId="0" nodeType="afterEffect">
                                  <p:stCondLst>
                                    <p:cond delay="0"/>
                                  </p:stCondLst>
                                  <p:childTnLst>
                                    <p:set>
                                      <p:cBhvr>
                                        <p:cTn id="47" dur="1" fill="hold">
                                          <p:stCondLst>
                                            <p:cond delay="0"/>
                                          </p:stCondLst>
                                        </p:cTn>
                                        <p:tgtEl>
                                          <p:spTgt spid="23556">
                                            <p:txEl>
                                              <p:pRg st="9" end="9"/>
                                            </p:txEl>
                                          </p:spTgt>
                                        </p:tgtEl>
                                        <p:attrNameLst>
                                          <p:attrName>style.visibility</p:attrName>
                                        </p:attrNameLst>
                                      </p:cBhvr>
                                      <p:to>
                                        <p:strVal val="visible"/>
                                      </p:to>
                                    </p:set>
                                    <p:animEffect transition="in" filter="fade">
                                      <p:cBhvr>
                                        <p:cTn id="48" dur="500"/>
                                        <p:tgtEl>
                                          <p:spTgt spid="23556">
                                            <p:txEl>
                                              <p:pRg st="9" end="9"/>
                                            </p:txEl>
                                          </p:spTgt>
                                        </p:tgtEl>
                                      </p:cBhvr>
                                    </p:animEffect>
                                  </p:childTnLst>
                                </p:cTn>
                              </p:par>
                            </p:childTnLst>
                          </p:cTn>
                        </p:par>
                        <p:par>
                          <p:cTn id="49" fill="hold">
                            <p:stCondLst>
                              <p:cond delay="2000"/>
                            </p:stCondLst>
                            <p:childTnLst>
                              <p:par>
                                <p:cTn id="50" presetID="10" presetClass="entr" presetSubtype="0" fill="hold" nodeType="after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0" end="0"/>
                                            </p:txEl>
                                          </p:spTgt>
                                        </p:tgtEl>
                                        <p:attrNameLst>
                                          <p:attrName>style.visibility</p:attrName>
                                        </p:attrNameLst>
                                      </p:cBhvr>
                                      <p:to>
                                        <p:strVal val="visible"/>
                                      </p:to>
                                    </p:set>
                                    <p:animEffect transition="in" filter="fade">
                                      <p:cBhvr>
                                        <p:cTn id="60" dur="500"/>
                                        <p:tgtEl>
                                          <p:spTgt spid="3">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animEffect transition="in" filter="fade">
                                      <p:cBhvr>
                                        <p:cTn id="65" dur="500"/>
                                        <p:tgtEl>
                                          <p:spTgt spid="3">
                                            <p:txEl>
                                              <p:pRg st="1" end="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
                                            <p:txEl>
                                              <p:pRg st="2" end="2"/>
                                            </p:txEl>
                                          </p:spTgt>
                                        </p:tgtEl>
                                        <p:attrNameLst>
                                          <p:attrName>style.visibility</p:attrName>
                                        </p:attrNameLst>
                                      </p:cBhvr>
                                      <p:to>
                                        <p:strVal val="visible"/>
                                      </p:to>
                                    </p:set>
                                    <p:animEffect transition="in" filter="fade">
                                      <p:cBhvr>
                                        <p:cTn id="7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uiExpand="1" build="p"/>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CCDE1C57-5180-408E-9570-3364F561DE52}" type="slidenum">
              <a:rPr kumimoji="0" lang="en-US" altLang="zh-TW" sz="1400">
                <a:latin typeface="Times New Roman" pitchFamily="18" charset="0"/>
              </a:rPr>
              <a:pPr/>
              <a:t>11</a:t>
            </a:fld>
            <a:endParaRPr kumimoji="0" lang="en-US" altLang="zh-TW" sz="1400" dirty="0">
              <a:latin typeface="Times New Roman" pitchFamily="18" charset="0"/>
            </a:endParaRPr>
          </a:p>
        </p:txBody>
      </p:sp>
      <p:sp>
        <p:nvSpPr>
          <p:cNvPr id="10242" name="Rectangle 2"/>
          <p:cNvSpPr>
            <a:spLocks noGrp="1" noChangeArrowheads="1"/>
          </p:cNvSpPr>
          <p:nvPr>
            <p:ph type="title" idx="4294967295"/>
          </p:nvPr>
        </p:nvSpPr>
        <p:spPr>
          <a:xfrm>
            <a:off x="0" y="365125"/>
            <a:ext cx="10515600" cy="1325563"/>
          </a:xfrm>
        </p:spPr>
        <p:txBody>
          <a:bodyPr/>
          <a:lstStyle/>
          <a:p>
            <a:pPr eaLnBrk="1" hangingPunct="1"/>
            <a:r>
              <a:rPr lang="zh-TW" altLang="en-US" sz="3600" dirty="0">
                <a:ea typeface="標楷體" panose="03000509000000000000" pitchFamily="65" charset="-120"/>
              </a:rPr>
              <a:t>好研究：</a:t>
            </a:r>
            <a:r>
              <a:rPr lang="zh-TW" altLang="en-US" sz="2800" dirty="0">
                <a:ea typeface="標楷體" panose="03000509000000000000" pitchFamily="65" charset="-120"/>
              </a:rPr>
              <a:t>如何做的？</a:t>
            </a:r>
            <a:endParaRPr lang="zh-TW" altLang="en-US" sz="2800" dirty="0">
              <a:latin typeface="Times New Roman" pitchFamily="18" charset="0"/>
              <a:ea typeface="標楷體" pitchFamily="65" charset="-120"/>
            </a:endParaRPr>
          </a:p>
        </p:txBody>
      </p:sp>
      <p:sp>
        <p:nvSpPr>
          <p:cNvPr id="5123" name="Rectangle 3"/>
          <p:cNvSpPr>
            <a:spLocks noGrp="1" noChangeArrowheads="1"/>
          </p:cNvSpPr>
          <p:nvPr>
            <p:ph type="body" idx="4294967295"/>
          </p:nvPr>
        </p:nvSpPr>
        <p:spPr>
          <a:xfrm>
            <a:off x="0" y="1585913"/>
            <a:ext cx="10496550" cy="4910137"/>
          </a:xfrm>
        </p:spPr>
        <p:txBody>
          <a:bodyPr>
            <a:normAutofit/>
          </a:bodyPr>
          <a:lstStyle/>
          <a:p>
            <a:pPr>
              <a:spcBef>
                <a:spcPts val="900"/>
              </a:spcBef>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取自</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JM-</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MacInnis</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et al., 2020, p.3</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0">
              <a:lnSpc>
                <a:spcPct val="80000"/>
              </a:lnSpc>
              <a:spcBef>
                <a:spcPts val="900"/>
              </a:spcBef>
            </a:pPr>
            <a:r>
              <a:rPr lang="en-US" altLang="zh-TW" sz="2200" dirty="0">
                <a:solidFill>
                  <a:schemeClr val="bg1">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Consumer</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 researchers often aim to provide </a:t>
            </a:r>
            <a:r>
              <a:rPr lang="en-US" altLang="zh-TW" sz="2200" i="1" dirty="0">
                <a:latin typeface="Times New Roman" panose="02020603050405020304" pitchFamily="18" charset="0"/>
                <a:ea typeface="標楷體" panose="03000509000000000000" pitchFamily="65" charset="-120"/>
                <a:cs typeface="Times New Roman" panose="02020603050405020304" pitchFamily="18" charset="0"/>
              </a:rPr>
              <a:t>theoretical contributions</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a:t>
            </a:r>
          </a:p>
          <a:p>
            <a:pPr marL="342000" lvl="1" indent="0">
              <a:spcBef>
                <a:spcPts val="100"/>
              </a:spcBef>
              <a:buNone/>
            </a:pP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研究者都希望能做出有</a:t>
            </a:r>
            <a:r>
              <a:rPr lang="zh-TW" altLang="zh-TW" sz="2400" i="1" dirty="0">
                <a:latin typeface="Times New Roman" panose="02020603050405020304" pitchFamily="18" charset="0"/>
                <a:ea typeface="標楷體" panose="03000509000000000000" pitchFamily="65" charset="-120"/>
                <a:cs typeface="Times New Roman" panose="02020603050405020304" pitchFamily="18" charset="0"/>
              </a:rPr>
              <a:t>理論貢獻</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的</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好</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研究</a:t>
            </a:r>
          </a:p>
          <a:p>
            <a:pPr lvl="0">
              <a:lnSpc>
                <a:spcPct val="80000"/>
              </a:lnSpc>
              <a:spcBef>
                <a:spcPts val="1200"/>
              </a:spcBef>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An implicit rule is that this contribution is based on mapping relationships between constructs.</a:t>
            </a:r>
          </a:p>
          <a:p>
            <a:pPr marL="342000" lvl="1" indent="0">
              <a:spcBef>
                <a:spcPts val="100"/>
              </a:spcBef>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要有理論</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貢獻</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潛在</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作法，</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常</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是</a:t>
            </a:r>
            <a:r>
              <a:rPr lang="zh-TW" altLang="zh-TW" sz="2400" u="sng" dirty="0">
                <a:latin typeface="Times New Roman" panose="02020603050405020304" pitchFamily="18" charset="0"/>
                <a:ea typeface="標楷體" panose="03000509000000000000" pitchFamily="65" charset="-120"/>
                <a:cs typeface="Times New Roman" panose="02020603050405020304" pitchFamily="18" charset="0"/>
              </a:rPr>
              <a:t>在兩個構念間建立起彼此的關係或規則</a:t>
            </a:r>
          </a:p>
          <a:p>
            <a:pPr lvl="0">
              <a:lnSpc>
                <a:spcPct val="80000"/>
              </a:lnSpc>
              <a:spcBef>
                <a:spcPts val="1200"/>
              </a:spcBef>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Boundary-breaking opportunities can emerge when we use our conceptual skills to add structure to real-world, messy, and often disorganized phenomena (Lynch et al., 2012; </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MacInnis</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 2011).</a:t>
            </a:r>
          </a:p>
          <a:p>
            <a:pPr marL="342000" lvl="1" indent="0">
              <a:spcBef>
                <a:spcPts val="100"/>
              </a:spcBef>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透過</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我們的概念化能力，</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將</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真實世界中，似乎</a:t>
            </a:r>
            <a:r>
              <a:rPr lang="zh-TW" altLang="zh-TW" sz="2400" u="sng" dirty="0">
                <a:latin typeface="Times New Roman" panose="02020603050405020304" pitchFamily="18" charset="0"/>
                <a:ea typeface="標楷體" panose="03000509000000000000" pitchFamily="65" charset="-120"/>
                <a:cs typeface="Times New Roman" panose="02020603050405020304" pitchFamily="18" charset="0"/>
              </a:rPr>
              <a:t>混亂而無序</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的現象，建立起</a:t>
            </a:r>
            <a:r>
              <a:rPr lang="zh-TW" altLang="zh-TW" sz="2400" u="sng" dirty="0">
                <a:latin typeface="Times New Roman" panose="02020603050405020304" pitchFamily="18" charset="0"/>
                <a:ea typeface="標楷體" panose="03000509000000000000" pitchFamily="65" charset="-120"/>
                <a:cs typeface="Times New Roman" panose="02020603050405020304" pitchFamily="18" charset="0"/>
              </a:rPr>
              <a:t>清楚的架構或規則</a:t>
            </a:r>
            <a:endParaRPr lang="en-US" altLang="zh-TW" sz="2400" u="sng" dirty="0">
              <a:latin typeface="Times New Roman" panose="02020603050405020304" pitchFamily="18" charset="0"/>
              <a:ea typeface="標楷體" panose="03000509000000000000" pitchFamily="65" charset="-120"/>
              <a:cs typeface="Times New Roman" panose="02020603050405020304" pitchFamily="18" charset="0"/>
            </a:endParaRPr>
          </a:p>
          <a:p>
            <a:pPr marL="342000" lvl="1" indent="0">
              <a:spcBef>
                <a:spcPts val="100"/>
              </a:spcBef>
              <a:buNone/>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就會是</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好研究</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，甚至是</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很好</a:t>
            </a:r>
            <a:r>
              <a:rPr lang="zh-TW" altLang="zh-TW" sz="2400" dirty="0">
                <a:latin typeface="Times New Roman" panose="02020603050405020304" pitchFamily="18" charset="0"/>
                <a:ea typeface="標楷體" panose="03000509000000000000" pitchFamily="65" charset="-120"/>
                <a:cs typeface="Times New Roman" panose="02020603050405020304" pitchFamily="18" charset="0"/>
              </a:rPr>
              <a:t>的</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研究</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endParaRPr lang="zh-TW"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文字方塊 4">
            <a:extLst>
              <a:ext uri="{FF2B5EF4-FFF2-40B4-BE49-F238E27FC236}">
                <a16:creationId xmlns:a16="http://schemas.microsoft.com/office/drawing/2014/main" id="{B41D8BE3-F20B-4457-AA2F-CE46300C6930}"/>
              </a:ext>
            </a:extLst>
          </p:cNvPr>
          <p:cNvSpPr txBox="1"/>
          <p:nvPr/>
        </p:nvSpPr>
        <p:spPr>
          <a:xfrm>
            <a:off x="6829842" y="2346570"/>
            <a:ext cx="1826141" cy="338554"/>
          </a:xfrm>
          <a:prstGeom prst="rect">
            <a:avLst/>
          </a:prstGeom>
          <a:solidFill>
            <a:srgbClr val="FFFF00"/>
          </a:solidFill>
        </p:spPr>
        <p:txBody>
          <a:bodyPr wrap="none" rtlCol="0">
            <a:spAutoFit/>
          </a:bodyPr>
          <a:lstStyle/>
          <a:p>
            <a:r>
              <a:rPr lang="zh-TW" altLang="en-US" sz="1600" dirty="0">
                <a:latin typeface="Times New Roman" pitchFamily="18" charset="0"/>
                <a:ea typeface="標楷體" pitchFamily="65" charset="-120"/>
              </a:rPr>
              <a:t>但，要如何進行？</a:t>
            </a:r>
          </a:p>
        </p:txBody>
      </p:sp>
    </p:spTree>
    <p:extLst>
      <p:ext uri="{BB962C8B-B14F-4D97-AF65-F5344CB8AC3E}">
        <p14:creationId xmlns:p14="http://schemas.microsoft.com/office/powerpoint/2010/main" val="310889281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500"/>
                                        <p:tgtEl>
                                          <p:spTgt spid="512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Effect transition="in" filter="fade">
                                      <p:cBhvr>
                                        <p:cTn id="11" dur="500"/>
                                        <p:tgtEl>
                                          <p:spTgt spid="512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animEffect transition="in" filter="fade">
                                      <p:cBhvr>
                                        <p:cTn id="15" dur="500"/>
                                        <p:tgtEl>
                                          <p:spTgt spid="512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Effect transition="in" filter="fade">
                                      <p:cBhvr>
                                        <p:cTn id="25" dur="500"/>
                                        <p:tgtEl>
                                          <p:spTgt spid="512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123">
                                            <p:txEl>
                                              <p:pRg st="4" end="4"/>
                                            </p:txEl>
                                          </p:spTgt>
                                        </p:tgtEl>
                                        <p:attrNameLst>
                                          <p:attrName>style.visibility</p:attrName>
                                        </p:attrNameLst>
                                      </p:cBhvr>
                                      <p:to>
                                        <p:strVal val="visible"/>
                                      </p:to>
                                    </p:set>
                                    <p:animEffect transition="in" filter="fade">
                                      <p:cBhvr>
                                        <p:cTn id="30" dur="500"/>
                                        <p:tgtEl>
                                          <p:spTgt spid="512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123">
                                            <p:txEl>
                                              <p:pRg st="5" end="5"/>
                                            </p:txEl>
                                          </p:spTgt>
                                        </p:tgtEl>
                                        <p:attrNameLst>
                                          <p:attrName>style.visibility</p:attrName>
                                        </p:attrNameLst>
                                      </p:cBhvr>
                                      <p:to>
                                        <p:strVal val="visible"/>
                                      </p:to>
                                    </p:set>
                                    <p:animEffect transition="in" filter="fade">
                                      <p:cBhvr>
                                        <p:cTn id="35" dur="500"/>
                                        <p:tgtEl>
                                          <p:spTgt spid="512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123">
                                            <p:txEl>
                                              <p:pRg st="6" end="6"/>
                                            </p:txEl>
                                          </p:spTgt>
                                        </p:tgtEl>
                                        <p:attrNameLst>
                                          <p:attrName>style.visibility</p:attrName>
                                        </p:attrNameLst>
                                      </p:cBhvr>
                                      <p:to>
                                        <p:strVal val="visible"/>
                                      </p:to>
                                    </p:set>
                                    <p:animEffect transition="in" filter="fade">
                                      <p:cBhvr>
                                        <p:cTn id="40" dur="500"/>
                                        <p:tgtEl>
                                          <p:spTgt spid="512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123">
                                            <p:txEl>
                                              <p:pRg st="7" end="7"/>
                                            </p:txEl>
                                          </p:spTgt>
                                        </p:tgtEl>
                                        <p:attrNameLst>
                                          <p:attrName>style.visibility</p:attrName>
                                        </p:attrNameLst>
                                      </p:cBhvr>
                                      <p:to>
                                        <p:strVal val="visible"/>
                                      </p:to>
                                    </p:set>
                                    <p:animEffect transition="in" filter="fade">
                                      <p:cBhvr>
                                        <p:cTn id="45" dur="500"/>
                                        <p:tgtEl>
                                          <p:spTgt spid="51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CCDE1C57-5180-408E-9570-3364F561DE52}" type="slidenum">
              <a:rPr kumimoji="0" lang="en-US" altLang="zh-TW" sz="1400">
                <a:latin typeface="Times New Roman" pitchFamily="18" charset="0"/>
              </a:rPr>
              <a:pPr/>
              <a:t>12</a:t>
            </a:fld>
            <a:endParaRPr kumimoji="0" lang="en-US" altLang="zh-TW" sz="1400" dirty="0">
              <a:latin typeface="Times New Roman" pitchFamily="18" charset="0"/>
            </a:endParaRPr>
          </a:p>
        </p:txBody>
      </p:sp>
      <p:sp>
        <p:nvSpPr>
          <p:cNvPr id="10242" name="Rectangle 2"/>
          <p:cNvSpPr>
            <a:spLocks noGrp="1" noChangeArrowheads="1"/>
          </p:cNvSpPr>
          <p:nvPr>
            <p:ph type="title" idx="4294967295"/>
          </p:nvPr>
        </p:nvSpPr>
        <p:spPr>
          <a:xfrm>
            <a:off x="0" y="365125"/>
            <a:ext cx="10515600" cy="1325563"/>
          </a:xfrm>
        </p:spPr>
        <p:txBody>
          <a:bodyPr/>
          <a:lstStyle/>
          <a:p>
            <a:pPr eaLnBrk="1" hangingPunct="1"/>
            <a:r>
              <a:rPr lang="zh-TW" altLang="en-US" sz="3600" dirty="0">
                <a:ea typeface="標楷體" panose="03000509000000000000" pitchFamily="65" charset="-120"/>
              </a:rPr>
              <a:t>好研究：</a:t>
            </a:r>
            <a:r>
              <a:rPr lang="zh-TW" altLang="en-US" sz="2800" dirty="0">
                <a:ea typeface="標楷體" panose="03000509000000000000" pitchFamily="65" charset="-120"/>
              </a:rPr>
              <a:t>如何做的？</a:t>
            </a:r>
            <a:endParaRPr lang="zh-TW" altLang="en-US" sz="2800" dirty="0">
              <a:latin typeface="Times New Roman" pitchFamily="18" charset="0"/>
              <a:ea typeface="標楷體" pitchFamily="65" charset="-120"/>
            </a:endParaRPr>
          </a:p>
        </p:txBody>
      </p:sp>
      <p:sp>
        <p:nvSpPr>
          <p:cNvPr id="5123" name="Rectangle 3"/>
          <p:cNvSpPr>
            <a:spLocks noGrp="1" noChangeArrowheads="1"/>
          </p:cNvSpPr>
          <p:nvPr>
            <p:ph type="body" idx="4294967295"/>
          </p:nvPr>
        </p:nvSpPr>
        <p:spPr>
          <a:xfrm>
            <a:off x="541338" y="1585913"/>
            <a:ext cx="11650662" cy="4910137"/>
          </a:xfrm>
        </p:spPr>
        <p:txBody>
          <a:bodyPr/>
          <a:lstStyle/>
          <a:p>
            <a:pPr>
              <a:spcBef>
                <a:spcPts val="400"/>
              </a:spcBef>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JM-</a:t>
            </a:r>
            <a:r>
              <a:rPr lang="en-US" altLang="zh-TW" sz="1600" dirty="0" err="1">
                <a:latin typeface="Times New Roman" panose="02020603050405020304" pitchFamily="18" charset="0"/>
                <a:ea typeface="標楷體" panose="03000509000000000000" pitchFamily="65" charset="-120"/>
                <a:cs typeface="Times New Roman" panose="02020603050405020304" pitchFamily="18" charset="0"/>
              </a:rPr>
              <a:t>MacInnis</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et al., 2020, p.3</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0">
              <a:lnSpc>
                <a:spcPct val="90000"/>
              </a:lnSpc>
              <a:spcBef>
                <a:spcPts val="900"/>
              </a:spcBef>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One way to do so is by engaging in phenomenon–construct mapping. Here, researchers start with observations of real-world marketing-relevant phenomena and then identify constructs and relationships that can explain them.</a:t>
            </a:r>
          </a:p>
          <a:p>
            <a:pPr marL="342000" lvl="1" indent="0">
              <a:spcBef>
                <a:spcPts val="300"/>
              </a:spcBef>
              <a:buNone/>
            </a:pP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將現象和構念間，做一個好的匹配。</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
            </a:r>
            <a:b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b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作法</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觀察現實世界現象，找到合理構念，</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嘗試</a:t>
            </a: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將兩者連結，以合理解釋</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該</a:t>
            </a: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現象的存在</a:t>
            </a:r>
          </a:p>
          <a:p>
            <a:pPr lvl="0">
              <a:lnSpc>
                <a:spcPct val="90000"/>
              </a:lnSpc>
              <a:spcBef>
                <a:spcPts val="900"/>
              </a:spcBef>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Qualitative research approaches tend to focus on the holistic qualities of complex phenomena. Thus, we tend to see more phenomenon– construct mapping in qualitative empirical research than in quantitative empirical research.</a:t>
            </a:r>
          </a:p>
          <a:p>
            <a:pPr marL="342000" lvl="1" indent="0">
              <a:spcBef>
                <a:spcPts val="300"/>
              </a:spcBef>
              <a:buNone/>
            </a:pP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質化研究較能以宏觀角度探討問題本質，</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故</a:t>
            </a: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有關現象和構念間匹配的研究，多</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用</a:t>
            </a:r>
            <a:r>
              <a:rPr lang="zh-TW" altLang="zh-TW" sz="2200" dirty="0">
                <a:latin typeface="Times New Roman" panose="02020603050405020304" pitchFamily="18" charset="0"/>
                <a:ea typeface="標楷體" panose="03000509000000000000" pitchFamily="65" charset="-120"/>
                <a:cs typeface="Times New Roman" panose="02020603050405020304" pitchFamily="18" charset="0"/>
              </a:rPr>
              <a:t>質化研究</a:t>
            </a: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a:spcBef>
                <a:spcPts val="900"/>
              </a:spcBef>
            </a:pPr>
            <a:r>
              <a:rPr lang="zh-TW" altLang="en-US" sz="2200" dirty="0">
                <a:solidFill>
                  <a:srgbClr val="0000FF"/>
                </a:solidFill>
                <a:latin typeface="Times New Roman" panose="02020603050405020304" pitchFamily="18" charset="0"/>
                <a:ea typeface="標楷體" panose="03000509000000000000" pitchFamily="65" charset="-120"/>
                <a:cs typeface="Times New Roman" panose="02020603050405020304" pitchFamily="18" charset="0"/>
              </a:rPr>
              <a:t>好研究，理論貢獻？上述講法都很文謅謅，有無更簡單的講法？</a:t>
            </a:r>
            <a:endParaRPr lang="en-US" altLang="zh-TW" sz="2200" dirty="0">
              <a:solidFill>
                <a:srgbClr val="0000FF"/>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文字方塊 2"/>
          <p:cNvSpPr txBox="1"/>
          <p:nvPr/>
        </p:nvSpPr>
        <p:spPr>
          <a:xfrm>
            <a:off x="8580920" y="4933844"/>
            <a:ext cx="877163" cy="369332"/>
          </a:xfrm>
          <a:prstGeom prst="rect">
            <a:avLst/>
          </a:prstGeom>
          <a:solidFill>
            <a:srgbClr val="FFFF00"/>
          </a:solidFill>
        </p:spPr>
        <p:txBody>
          <a:bodyPr wrap="none" rtlCol="0">
            <a:spAutoFit/>
          </a:bodyPr>
          <a:lstStyle/>
          <a:p>
            <a:r>
              <a:rPr lang="zh-TW" altLang="en-US" dirty="0">
                <a:latin typeface="標楷體" panose="03000509000000000000" pitchFamily="65" charset="-120"/>
                <a:ea typeface="標楷體" panose="03000509000000000000" pitchFamily="65" charset="-120"/>
              </a:rPr>
              <a:t>有趣！</a:t>
            </a:r>
          </a:p>
        </p:txBody>
      </p:sp>
      <p:pic>
        <p:nvPicPr>
          <p:cNvPr id="7" name="圖片 6">
            <a:extLst>
              <a:ext uri="{FF2B5EF4-FFF2-40B4-BE49-F238E27FC236}">
                <a16:creationId xmlns:a16="http://schemas.microsoft.com/office/drawing/2014/main" id="{B94BCC41-3CBE-481E-A75C-BC2DE5B86D0F}"/>
              </a:ext>
            </a:extLst>
          </p:cNvPr>
          <p:cNvPicPr>
            <a:picLocks noChangeAspect="1"/>
          </p:cNvPicPr>
          <p:nvPr/>
        </p:nvPicPr>
        <p:blipFill>
          <a:blip r:embed="rId3"/>
          <a:stretch>
            <a:fillRect/>
          </a:stretch>
        </p:blipFill>
        <p:spPr>
          <a:xfrm rot="21480000">
            <a:off x="4357779" y="5464011"/>
            <a:ext cx="7271591" cy="977326"/>
          </a:xfrm>
          <a:prstGeom prst="rect">
            <a:avLst/>
          </a:prstGeom>
          <a:ln>
            <a:solidFill>
              <a:srgbClr val="FF0000"/>
            </a:solidFill>
          </a:ln>
        </p:spPr>
      </p:pic>
      <p:pic>
        <p:nvPicPr>
          <p:cNvPr id="4" name="圖片 3">
            <a:extLst>
              <a:ext uri="{FF2B5EF4-FFF2-40B4-BE49-F238E27FC236}">
                <a16:creationId xmlns:a16="http://schemas.microsoft.com/office/drawing/2014/main" id="{EEC89091-8857-4697-A1B3-BF76706A8CA9}"/>
              </a:ext>
            </a:extLst>
          </p:cNvPr>
          <p:cNvPicPr>
            <a:picLocks noChangeAspect="1"/>
          </p:cNvPicPr>
          <p:nvPr/>
        </p:nvPicPr>
        <p:blipFill>
          <a:blip r:embed="rId4"/>
          <a:stretch>
            <a:fillRect/>
          </a:stretch>
        </p:blipFill>
        <p:spPr>
          <a:xfrm rot="21540000">
            <a:off x="6400798" y="175607"/>
            <a:ext cx="5614927" cy="1686054"/>
          </a:xfrm>
          <a:prstGeom prst="rect">
            <a:avLst/>
          </a:prstGeom>
          <a:ln>
            <a:solidFill>
              <a:srgbClr val="FF0000"/>
            </a:solidFill>
          </a:ln>
        </p:spPr>
      </p:pic>
    </p:spTree>
    <p:extLst>
      <p:ext uri="{BB962C8B-B14F-4D97-AF65-F5344CB8AC3E}">
        <p14:creationId xmlns:p14="http://schemas.microsoft.com/office/powerpoint/2010/main" val="2628742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500"/>
                                        <p:tgtEl>
                                          <p:spTgt spid="512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animEffect transition="in" filter="fade">
                                      <p:cBhvr>
                                        <p:cTn id="11" dur="500"/>
                                        <p:tgtEl>
                                          <p:spTgt spid="512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123">
                                            <p:txEl>
                                              <p:pRg st="2" end="2"/>
                                            </p:txEl>
                                          </p:spTgt>
                                        </p:tgtEl>
                                        <p:attrNameLst>
                                          <p:attrName>style.visibility</p:attrName>
                                        </p:attrNameLst>
                                      </p:cBhvr>
                                      <p:to>
                                        <p:strVal val="visible"/>
                                      </p:to>
                                    </p:set>
                                    <p:animEffect transition="in" filter="fade">
                                      <p:cBhvr>
                                        <p:cTn id="16" dur="500"/>
                                        <p:tgtEl>
                                          <p:spTgt spid="512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123">
                                            <p:txEl>
                                              <p:pRg st="3" end="3"/>
                                            </p:txEl>
                                          </p:spTgt>
                                        </p:tgtEl>
                                        <p:attrNameLst>
                                          <p:attrName>style.visibility</p:attrName>
                                        </p:attrNameLst>
                                      </p:cBhvr>
                                      <p:to>
                                        <p:strVal val="visible"/>
                                      </p:to>
                                    </p:set>
                                    <p:animEffect transition="in" filter="fade">
                                      <p:cBhvr>
                                        <p:cTn id="21" dur="500"/>
                                        <p:tgtEl>
                                          <p:spTgt spid="512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123">
                                            <p:txEl>
                                              <p:pRg st="4" end="4"/>
                                            </p:txEl>
                                          </p:spTgt>
                                        </p:tgtEl>
                                        <p:attrNameLst>
                                          <p:attrName>style.visibility</p:attrName>
                                        </p:attrNameLst>
                                      </p:cBhvr>
                                      <p:to>
                                        <p:strVal val="visible"/>
                                      </p:to>
                                    </p:set>
                                    <p:animEffect transition="in" filter="fade">
                                      <p:cBhvr>
                                        <p:cTn id="26" dur="500"/>
                                        <p:tgtEl>
                                          <p:spTgt spid="512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123">
                                            <p:txEl>
                                              <p:pRg st="5" end="5"/>
                                            </p:txEl>
                                          </p:spTgt>
                                        </p:tgtEl>
                                        <p:attrNameLst>
                                          <p:attrName>style.visibility</p:attrName>
                                        </p:attrNameLst>
                                      </p:cBhvr>
                                      <p:to>
                                        <p:strVal val="visible"/>
                                      </p:to>
                                    </p:set>
                                    <p:animEffect transition="in" filter="fade">
                                      <p:cBhvr>
                                        <p:cTn id="31" dur="500"/>
                                        <p:tgtEl>
                                          <p:spTgt spid="512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TW" altLang="en-US" sz="3600" b="1" dirty="0">
                <a:solidFill>
                  <a:srgbClr val="0000FF"/>
                </a:solidFill>
                <a:latin typeface="Times New Roman" pitchFamily="18" charset="0"/>
                <a:ea typeface="標楷體" pitchFamily="65" charset="-120"/>
                <a:cs typeface="+mn-cs"/>
              </a:rPr>
              <a:t>科學研究</a:t>
            </a:r>
            <a:r>
              <a:rPr lang="zh-TW" altLang="en-US" sz="3600" dirty="0">
                <a:latin typeface="Times New Roman" pitchFamily="18" charset="0"/>
                <a:ea typeface="標楷體" pitchFamily="65" charset="-120"/>
              </a:rPr>
              <a:t>定義</a:t>
            </a:r>
          </a:p>
        </p:txBody>
      </p:sp>
      <p:sp>
        <p:nvSpPr>
          <p:cNvPr id="23555" name="Rectangle 3"/>
          <p:cNvSpPr>
            <a:spLocks noGrp="1" noChangeArrowheads="1"/>
          </p:cNvSpPr>
          <p:nvPr>
            <p:ph idx="1"/>
          </p:nvPr>
        </p:nvSpPr>
        <p:spPr>
          <a:xfrm>
            <a:off x="447472" y="1808063"/>
            <a:ext cx="11587740" cy="4735902"/>
          </a:xfrm>
        </p:spPr>
        <p:txBody>
          <a:bodyPr>
            <a:normAutofit/>
          </a:bodyPr>
          <a:lstStyle/>
          <a:p>
            <a:pPr eaLnBrk="1" hangingPunct="1">
              <a:lnSpc>
                <a:spcPct val="90000"/>
              </a:lnSpc>
            </a:pPr>
            <a:r>
              <a:rPr lang="zh-TW" altLang="en-US" sz="2400" dirty="0">
                <a:solidFill>
                  <a:srgbClr val="0000FF"/>
                </a:solidFill>
                <a:latin typeface="Times New Roman" pitchFamily="18" charset="0"/>
                <a:ea typeface="標楷體" pitchFamily="65" charset="-120"/>
              </a:rPr>
              <a:t>科學研究</a:t>
            </a:r>
            <a:r>
              <a:rPr lang="zh-TW" altLang="en-US" sz="2000" dirty="0">
                <a:latin typeface="Times New Roman" pitchFamily="18" charset="0"/>
                <a:ea typeface="標楷體" pitchFamily="65" charset="-120"/>
              </a:rPr>
              <a:t>（</a:t>
            </a:r>
            <a:r>
              <a:rPr lang="en-US" altLang="zh-TW" sz="2000" dirty="0">
                <a:latin typeface="Times New Roman" pitchFamily="18" charset="0"/>
                <a:ea typeface="標楷體" pitchFamily="65" charset="-120"/>
              </a:rPr>
              <a:t>scientific research</a:t>
            </a:r>
            <a:r>
              <a:rPr lang="zh-TW" altLang="en-US" sz="2000" dirty="0">
                <a:latin typeface="Times New Roman" pitchFamily="18" charset="0"/>
                <a:ea typeface="標楷體" pitchFamily="65" charset="-120"/>
              </a:rPr>
              <a:t>）</a:t>
            </a:r>
            <a:r>
              <a:rPr lang="en-US" altLang="zh-TW" sz="1800" dirty="0">
                <a:latin typeface="Times New Roman" pitchFamily="18" charset="0"/>
                <a:ea typeface="標楷體" pitchFamily="65" charset="-120"/>
              </a:rPr>
              <a:t>【</a:t>
            </a:r>
            <a:r>
              <a:rPr lang="zh-TW" altLang="en-US" sz="1800" dirty="0">
                <a:latin typeface="Times New Roman" pitchFamily="18" charset="0"/>
                <a:ea typeface="標楷體" pitchFamily="65" charset="-120"/>
              </a:rPr>
              <a:t>或</a:t>
            </a:r>
            <a:r>
              <a:rPr lang="zh-TW" altLang="en-US" sz="1800" b="1" u="sng" dirty="0">
                <a:latin typeface="Times New Roman" pitchFamily="18" charset="0"/>
                <a:ea typeface="標楷體" pitchFamily="65" charset="-120"/>
              </a:rPr>
              <a:t>研究</a:t>
            </a:r>
            <a:r>
              <a:rPr lang="en-US" altLang="zh-TW" sz="1800" dirty="0">
                <a:latin typeface="Times New Roman" pitchFamily="18" charset="0"/>
                <a:ea typeface="標楷體" pitchFamily="65" charset="-120"/>
              </a:rPr>
              <a:t>】</a:t>
            </a:r>
            <a:endParaRPr lang="en-US" altLang="zh-TW" sz="2400" dirty="0">
              <a:latin typeface="Times New Roman" pitchFamily="18" charset="0"/>
              <a:ea typeface="標楷體" pitchFamily="65" charset="-120"/>
            </a:endParaRPr>
          </a:p>
          <a:p>
            <a:pPr lvl="1" eaLnBrk="1" hangingPunct="1">
              <a:lnSpc>
                <a:spcPct val="90000"/>
              </a:lnSpc>
              <a:spcBef>
                <a:spcPts val="600"/>
              </a:spcBef>
            </a:pPr>
            <a:r>
              <a:rPr lang="en-US" altLang="zh-TW" sz="2000" dirty="0">
                <a:latin typeface="Times New Roman" pitchFamily="18" charset="0"/>
                <a:ea typeface="標楷體" pitchFamily="65" charset="-120"/>
              </a:rPr>
              <a:t>Scientific research</a:t>
            </a:r>
            <a:r>
              <a:rPr lang="zh-TW" altLang="en-US" sz="2000" dirty="0">
                <a:latin typeface="Times New Roman" pitchFamily="18" charset="0"/>
                <a:ea typeface="標楷體" pitchFamily="65" charset="-120"/>
              </a:rPr>
              <a:t> </a:t>
            </a:r>
            <a:r>
              <a:rPr lang="en-US" altLang="zh-TW" sz="2000" dirty="0">
                <a:latin typeface="Times New Roman" pitchFamily="18" charset="0"/>
                <a:ea typeface="標楷體" pitchFamily="65" charset="-120"/>
              </a:rPr>
              <a:t>is systematic, controlled, empirical, amoral, public, and critical investigation of natural phenomena. It is guided by theory and hypotheses about the presumed relations among such phenomena.</a:t>
            </a:r>
            <a:r>
              <a:rPr lang="zh-TW" altLang="en-US" sz="2000" dirty="0">
                <a:latin typeface="Times New Roman" pitchFamily="18" charset="0"/>
                <a:ea typeface="標楷體" pitchFamily="65" charset="-120"/>
              </a:rPr>
              <a:t> （</a:t>
            </a:r>
            <a:r>
              <a:rPr lang="en-US" altLang="zh-TW" sz="2000" dirty="0" err="1">
                <a:latin typeface="Times New Roman" pitchFamily="18" charset="0"/>
                <a:ea typeface="標楷體" pitchFamily="65" charset="-120"/>
              </a:rPr>
              <a:t>Kerlinger</a:t>
            </a:r>
            <a:r>
              <a:rPr lang="en-US" altLang="zh-TW" sz="2000" dirty="0">
                <a:latin typeface="Times New Roman" pitchFamily="18" charset="0"/>
                <a:ea typeface="標楷體" pitchFamily="65" charset="-120"/>
              </a:rPr>
              <a:t> &amp; Lee, 2000: 14</a:t>
            </a:r>
            <a:r>
              <a:rPr lang="zh-TW" altLang="en-US" sz="2000" dirty="0">
                <a:latin typeface="Times New Roman" pitchFamily="18" charset="0"/>
                <a:ea typeface="標楷體" pitchFamily="65" charset="-120"/>
              </a:rPr>
              <a:t>）</a:t>
            </a:r>
            <a:endParaRPr lang="en-US" altLang="zh-TW" sz="2000" dirty="0">
              <a:solidFill>
                <a:srgbClr val="0000FF"/>
              </a:solidFill>
              <a:latin typeface="Times New Roman" pitchFamily="18" charset="0"/>
              <a:ea typeface="標楷體" pitchFamily="65" charset="-120"/>
            </a:endParaRPr>
          </a:p>
          <a:p>
            <a:pPr marL="741600" lvl="1" indent="0" eaLnBrk="1" hangingPunct="1">
              <a:spcBef>
                <a:spcPts val="0"/>
              </a:spcBef>
              <a:buNone/>
            </a:pPr>
            <a:r>
              <a:rPr lang="zh-TW" altLang="en-US" sz="2000" dirty="0">
                <a:solidFill>
                  <a:srgbClr val="0000FF"/>
                </a:solidFill>
                <a:latin typeface="Times New Roman" pitchFamily="18" charset="0"/>
                <a:ea typeface="標楷體" pitchFamily="65" charset="-120"/>
              </a:rPr>
              <a:t>對自然（或社會）現象進行系統、控制、實證、無關道德、公開以及批判性的調查。</a:t>
            </a:r>
            <a:endParaRPr lang="en-US" altLang="zh-TW" sz="2000" dirty="0">
              <a:solidFill>
                <a:srgbClr val="0000FF"/>
              </a:solidFill>
              <a:latin typeface="Times New Roman" pitchFamily="18" charset="0"/>
              <a:ea typeface="標楷體" pitchFamily="65" charset="-120"/>
            </a:endParaRPr>
          </a:p>
          <a:p>
            <a:pPr marL="741600" lvl="1" indent="0" eaLnBrk="1" hangingPunct="1">
              <a:spcBef>
                <a:spcPts val="0"/>
              </a:spcBef>
              <a:buNone/>
            </a:pPr>
            <a:r>
              <a:rPr lang="zh-TW" altLang="en-US" sz="2000" dirty="0">
                <a:solidFill>
                  <a:srgbClr val="0000FF"/>
                </a:solidFill>
                <a:latin typeface="Times New Roman" pitchFamily="18" charset="0"/>
                <a:ea typeface="標楷體" pitchFamily="65" charset="-120"/>
              </a:rPr>
              <a:t>此調查的進行係在</a:t>
            </a:r>
            <a:r>
              <a:rPr lang="zh-TW" altLang="en-US" sz="2000" u="sng" dirty="0">
                <a:solidFill>
                  <a:srgbClr val="0000FF"/>
                </a:solidFill>
                <a:latin typeface="Times New Roman" pitchFamily="18" charset="0"/>
                <a:ea typeface="標楷體" pitchFamily="65" charset="-120"/>
              </a:rPr>
              <a:t>理論及假說的指引</a:t>
            </a:r>
            <a:r>
              <a:rPr lang="zh-TW" altLang="en-US" sz="2000" dirty="0">
                <a:solidFill>
                  <a:srgbClr val="0000FF"/>
                </a:solidFill>
                <a:latin typeface="Times New Roman" pitchFamily="18" charset="0"/>
                <a:ea typeface="標楷體" pitchFamily="65" charset="-120"/>
              </a:rPr>
              <a:t>下，針對某一現象所預設</a:t>
            </a:r>
            <a:r>
              <a:rPr lang="en-US" altLang="zh-TW" sz="2000" dirty="0">
                <a:solidFill>
                  <a:srgbClr val="0000FF"/>
                </a:solidFill>
                <a:latin typeface="Times New Roman" pitchFamily="18" charset="0"/>
                <a:ea typeface="標楷體" pitchFamily="65" charset="-120"/>
              </a:rPr>
              <a:t>【</a:t>
            </a:r>
            <a:r>
              <a:rPr lang="zh-TW" altLang="en-US" sz="2000" dirty="0">
                <a:solidFill>
                  <a:srgbClr val="0000FF"/>
                </a:solidFill>
                <a:latin typeface="Times New Roman" pitchFamily="18" charset="0"/>
                <a:ea typeface="標楷體" pitchFamily="65" charset="-120"/>
              </a:rPr>
              <a:t>猜測</a:t>
            </a:r>
            <a:r>
              <a:rPr lang="en-US" altLang="zh-TW" sz="2000" dirty="0">
                <a:solidFill>
                  <a:srgbClr val="0000FF"/>
                </a:solidFill>
                <a:latin typeface="Times New Roman" pitchFamily="18" charset="0"/>
                <a:ea typeface="標楷體" pitchFamily="65" charset="-120"/>
              </a:rPr>
              <a:t>】</a:t>
            </a:r>
            <a:r>
              <a:rPr lang="zh-TW" altLang="en-US" sz="2000" dirty="0">
                <a:solidFill>
                  <a:srgbClr val="0000FF"/>
                </a:solidFill>
                <a:latin typeface="Times New Roman" pitchFamily="18" charset="0"/>
                <a:ea typeface="標楷體" pitchFamily="65" charset="-120"/>
              </a:rPr>
              <a:t>的變數關係，進行</a:t>
            </a:r>
            <a:r>
              <a:rPr lang="zh-TW" altLang="en-US" sz="2000" u="sng" dirty="0">
                <a:solidFill>
                  <a:srgbClr val="0000FF"/>
                </a:solidFill>
                <a:latin typeface="Times New Roman" pitchFamily="18" charset="0"/>
                <a:ea typeface="標楷體" pitchFamily="65" charset="-120"/>
              </a:rPr>
              <a:t>資料蒐集與分析</a:t>
            </a:r>
            <a:r>
              <a:rPr lang="zh-TW" altLang="en-US" sz="2000" dirty="0">
                <a:solidFill>
                  <a:srgbClr val="0000FF"/>
                </a:solidFill>
                <a:latin typeface="Times New Roman" pitchFamily="18" charset="0"/>
                <a:ea typeface="標楷體" pitchFamily="65" charset="-120"/>
              </a:rPr>
              <a:t>的工作，以發現</a:t>
            </a:r>
            <a:r>
              <a:rPr lang="zh-TW" altLang="en-US" sz="2000" u="sng" dirty="0">
                <a:solidFill>
                  <a:srgbClr val="0000FF"/>
                </a:solidFill>
                <a:latin typeface="Times New Roman" pitchFamily="18" charset="0"/>
                <a:ea typeface="標楷體" pitchFamily="65" charset="-120"/>
              </a:rPr>
              <a:t>事實的真相</a:t>
            </a:r>
            <a:r>
              <a:rPr lang="zh-TW" altLang="en-US" sz="1600" dirty="0">
                <a:latin typeface="Times New Roman" pitchFamily="18" charset="0"/>
                <a:ea typeface="標楷體" pitchFamily="65" charset="-120"/>
              </a:rPr>
              <a:t>（</a:t>
            </a:r>
            <a:r>
              <a:rPr lang="en-US" altLang="zh-TW" sz="1600" dirty="0">
                <a:latin typeface="Times New Roman" pitchFamily="18" charset="0"/>
                <a:ea typeface="標楷體" pitchFamily="65" charset="-120"/>
              </a:rPr>
              <a:t>Kerlinger &amp; Lee, 2000: 14</a:t>
            </a:r>
            <a:r>
              <a:rPr lang="zh-TW" altLang="en-US" sz="1600" dirty="0">
                <a:latin typeface="Times New Roman" pitchFamily="18" charset="0"/>
                <a:ea typeface="標楷體" pitchFamily="65" charset="-120"/>
              </a:rPr>
              <a:t>）</a:t>
            </a:r>
            <a:endParaRPr lang="zh-TW" altLang="en-US" sz="1800" dirty="0">
              <a:latin typeface="Times New Roman" pitchFamily="18" charset="0"/>
              <a:ea typeface="標楷體" pitchFamily="65" charset="-120"/>
            </a:endParaRPr>
          </a:p>
          <a:p>
            <a:pPr eaLnBrk="1" hangingPunct="1">
              <a:spcBef>
                <a:spcPts val="1800"/>
              </a:spcBef>
            </a:pPr>
            <a:r>
              <a:rPr lang="zh-TW" altLang="en-US" sz="2400" dirty="0">
                <a:solidFill>
                  <a:srgbClr val="0000FF"/>
                </a:solidFill>
                <a:latin typeface="Times New Roman" pitchFamily="18" charset="0"/>
                <a:ea typeface="標楷體" pitchFamily="65" charset="-120"/>
              </a:rPr>
              <a:t>特性：</a:t>
            </a:r>
            <a:endParaRPr lang="en-US" altLang="zh-TW" sz="2400" dirty="0">
              <a:solidFill>
                <a:srgbClr val="0000FF"/>
              </a:solidFill>
              <a:latin typeface="Times New Roman" pitchFamily="18" charset="0"/>
              <a:ea typeface="標楷體" pitchFamily="65" charset="-120"/>
            </a:endParaRPr>
          </a:p>
          <a:p>
            <a:pPr lvl="1" eaLnBrk="1" hangingPunct="1">
              <a:spcBef>
                <a:spcPts val="0"/>
              </a:spcBef>
            </a:pPr>
            <a:r>
              <a:rPr lang="zh-TW" altLang="en-US" sz="2000" u="sng" dirty="0">
                <a:latin typeface="Times New Roman" pitchFamily="18" charset="0"/>
                <a:ea typeface="標楷體" pitchFamily="65" charset="-120"/>
              </a:rPr>
              <a:t>系統</a:t>
            </a:r>
            <a:r>
              <a:rPr lang="zh-TW" altLang="en-US" sz="2000" dirty="0">
                <a:latin typeface="Times New Roman" pitchFamily="18" charset="0"/>
                <a:ea typeface="標楷體" pitchFamily="65" charset="-120"/>
              </a:rPr>
              <a:t>與</a:t>
            </a:r>
            <a:r>
              <a:rPr lang="zh-TW" altLang="en-US" sz="2000" u="sng" dirty="0">
                <a:latin typeface="Times New Roman" pitchFamily="18" charset="0"/>
                <a:ea typeface="標楷體" pitchFamily="65" charset="-120"/>
              </a:rPr>
              <a:t>控制</a:t>
            </a:r>
            <a:r>
              <a:rPr lang="zh-TW" altLang="en-US" sz="2000" dirty="0">
                <a:latin typeface="Times New Roman" pitchFamily="18" charset="0"/>
                <a:ea typeface="標楷體" pitchFamily="65" charset="-120"/>
              </a:rPr>
              <a:t>：合於秩序與嚴謹，因而研究結果是可信的</a:t>
            </a:r>
            <a:r>
              <a:rPr lang="en-US" altLang="zh-TW" sz="2000" dirty="0">
                <a:latin typeface="Times New Roman" pitchFamily="18" charset="0"/>
                <a:ea typeface="標楷體" pitchFamily="65" charset="-120"/>
              </a:rPr>
              <a:t/>
            </a:r>
            <a:br>
              <a:rPr lang="en-US" altLang="zh-TW" sz="2000" dirty="0">
                <a:latin typeface="Times New Roman" pitchFamily="18" charset="0"/>
                <a:ea typeface="標楷體" pitchFamily="65" charset="-120"/>
              </a:rPr>
            </a:br>
            <a:r>
              <a:rPr lang="en-US" altLang="zh-TW" sz="1800" dirty="0">
                <a:latin typeface="Times New Roman" pitchFamily="18" charset="0"/>
                <a:ea typeface="標楷體" pitchFamily="65" charset="-120"/>
              </a:rPr>
              <a:t>【</a:t>
            </a:r>
            <a:r>
              <a:rPr lang="zh-TW" altLang="en-US" sz="1800" dirty="0">
                <a:latin typeface="Times New Roman" pitchFamily="18" charset="0"/>
                <a:ea typeface="標楷體" pitchFamily="65" charset="-120"/>
              </a:rPr>
              <a:t>可能影響結果的其他原因，被事先系統化地排除了</a:t>
            </a:r>
            <a:r>
              <a:rPr lang="en-US" altLang="zh-TW" sz="1800" dirty="0">
                <a:latin typeface="Times New Roman" pitchFamily="18" charset="0"/>
                <a:ea typeface="標楷體" pitchFamily="65" charset="-120"/>
              </a:rPr>
              <a:t>】</a:t>
            </a:r>
          </a:p>
          <a:p>
            <a:pPr lvl="1" eaLnBrk="1" hangingPunct="1">
              <a:spcBef>
                <a:spcPts val="600"/>
              </a:spcBef>
            </a:pPr>
            <a:r>
              <a:rPr lang="zh-TW" altLang="en-US" sz="2000" u="sng" dirty="0">
                <a:latin typeface="Times New Roman" pitchFamily="18" charset="0"/>
                <a:ea typeface="標楷體" pitchFamily="65" charset="-120"/>
              </a:rPr>
              <a:t>實證</a:t>
            </a:r>
            <a:r>
              <a:rPr lang="zh-TW" altLang="en-US" sz="2000" dirty="0">
                <a:latin typeface="Times New Roman" pitchFamily="18" charset="0"/>
                <a:ea typeface="標楷體" pitchFamily="65" charset="-120"/>
              </a:rPr>
              <a:t>：研究者的主觀認定，必須經得起他人的客觀測試。研究結果可被重複驗證</a:t>
            </a:r>
            <a:endParaRPr lang="en-US" altLang="zh-TW" sz="2000" dirty="0">
              <a:latin typeface="Times New Roman" pitchFamily="18" charset="0"/>
              <a:ea typeface="標楷體" pitchFamily="65" charset="-120"/>
            </a:endParaRPr>
          </a:p>
          <a:p>
            <a:pPr lvl="1" eaLnBrk="1" hangingPunct="1">
              <a:spcBef>
                <a:spcPts val="600"/>
              </a:spcBef>
            </a:pPr>
            <a:r>
              <a:rPr lang="zh-TW" altLang="en-US" sz="2000" u="sng" dirty="0">
                <a:latin typeface="Times New Roman" pitchFamily="18" charset="0"/>
                <a:ea typeface="標楷體" pitchFamily="65" charset="-120"/>
              </a:rPr>
              <a:t>無關道德</a:t>
            </a:r>
            <a:r>
              <a:rPr lang="zh-TW" altLang="en-US" sz="2000" dirty="0">
                <a:latin typeface="Times New Roman" pitchFamily="18" charset="0"/>
                <a:ea typeface="標楷體" pitchFamily="65" charset="-120"/>
              </a:rPr>
              <a:t>、</a:t>
            </a:r>
            <a:r>
              <a:rPr lang="zh-TW" altLang="en-US" sz="2000" u="sng" dirty="0">
                <a:latin typeface="Times New Roman" pitchFamily="18" charset="0"/>
                <a:ea typeface="標楷體" pitchFamily="65" charset="-120"/>
              </a:rPr>
              <a:t>公開</a:t>
            </a:r>
            <a:r>
              <a:rPr lang="zh-TW" altLang="en-US" sz="2000" dirty="0">
                <a:latin typeface="Times New Roman" pitchFamily="18" charset="0"/>
                <a:ea typeface="標楷體" pitchFamily="65" charset="-120"/>
              </a:rPr>
              <a:t>與</a:t>
            </a:r>
            <a:r>
              <a:rPr lang="zh-TW" altLang="en-US" sz="2000" u="sng" dirty="0">
                <a:latin typeface="Times New Roman" pitchFamily="18" charset="0"/>
                <a:ea typeface="標楷體" pitchFamily="65" charset="-120"/>
              </a:rPr>
              <a:t>批判性</a:t>
            </a:r>
            <a:r>
              <a:rPr lang="zh-TW" altLang="en-US" sz="2000" dirty="0">
                <a:latin typeface="Times New Roman" pitchFamily="18" charset="0"/>
                <a:ea typeface="標楷體" pitchFamily="65" charset="-120"/>
              </a:rPr>
              <a:t>：好壞的議題都有必要研究；過程須透明而經得起質疑和考驗</a:t>
            </a:r>
          </a:p>
        </p:txBody>
      </p:sp>
      <p:sp>
        <p:nvSpPr>
          <p:cNvPr id="36868"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EC4FCAF4-8D50-4605-B808-780876438BB8}" type="slidenum">
              <a:rPr kumimoji="0" lang="en-US" altLang="zh-TW" sz="1400">
                <a:latin typeface="Times New Roman" pitchFamily="18" charset="0"/>
              </a:rPr>
              <a:pPr/>
              <a:t>13</a:t>
            </a:fld>
            <a:endParaRPr kumimoji="0" lang="en-US" altLang="zh-TW" sz="1400">
              <a:latin typeface="Times New Roman" pitchFamily="18" charset="0"/>
            </a:endParaRPr>
          </a:p>
        </p:txBody>
      </p:sp>
      <p:pic>
        <p:nvPicPr>
          <p:cNvPr id="6" name="圖片 5">
            <a:extLst>
              <a:ext uri="{FF2B5EF4-FFF2-40B4-BE49-F238E27FC236}">
                <a16:creationId xmlns:a16="http://schemas.microsoft.com/office/drawing/2014/main" id="{E1AF2AC2-419A-48A7-96D6-ABF93153FE99}"/>
              </a:ext>
            </a:extLst>
          </p:cNvPr>
          <p:cNvPicPr>
            <a:picLocks noChangeAspect="1"/>
          </p:cNvPicPr>
          <p:nvPr/>
        </p:nvPicPr>
        <p:blipFill>
          <a:blip r:embed="rId3"/>
          <a:stretch>
            <a:fillRect/>
          </a:stretch>
        </p:blipFill>
        <p:spPr>
          <a:xfrm rot="21480000">
            <a:off x="8658135" y="104775"/>
            <a:ext cx="2792271" cy="2076450"/>
          </a:xfrm>
          <a:prstGeom prst="rect">
            <a:avLst/>
          </a:prstGeom>
          <a:ln w="19050">
            <a:solidFill>
              <a:srgbClr val="FF0000"/>
            </a:solidFill>
          </a:ln>
        </p:spPr>
      </p:pic>
    </p:spTree>
    <p:extLst>
      <p:ext uri="{BB962C8B-B14F-4D97-AF65-F5344CB8AC3E}">
        <p14:creationId xmlns:p14="http://schemas.microsoft.com/office/powerpoint/2010/main" val="15435003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fade">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fade">
                                      <p:cBhvr>
                                        <p:cTn id="17" dur="500"/>
                                        <p:tgtEl>
                                          <p:spTgt spid="23555">
                                            <p:txEl>
                                              <p:pRg st="2" end="2"/>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23555">
                                            <p:txEl>
                                              <p:pRg st="3" end="3"/>
                                            </p:txEl>
                                          </p:spTgt>
                                        </p:tgtEl>
                                        <p:attrNameLst>
                                          <p:attrName>style.visibility</p:attrName>
                                        </p:attrNameLst>
                                      </p:cBhvr>
                                      <p:to>
                                        <p:strVal val="visible"/>
                                      </p:to>
                                    </p:set>
                                    <p:animEffect transition="in" filter="fade">
                                      <p:cBhvr>
                                        <p:cTn id="21" dur="500"/>
                                        <p:tgtEl>
                                          <p:spTgt spid="2355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3555">
                                            <p:txEl>
                                              <p:pRg st="4" end="4"/>
                                            </p:txEl>
                                          </p:spTgt>
                                        </p:tgtEl>
                                        <p:attrNameLst>
                                          <p:attrName>style.visibility</p:attrName>
                                        </p:attrNameLst>
                                      </p:cBhvr>
                                      <p:to>
                                        <p:strVal val="visible"/>
                                      </p:to>
                                    </p:set>
                                    <p:animEffect transition="in" filter="fade">
                                      <p:cBhvr>
                                        <p:cTn id="26" dur="500"/>
                                        <p:tgtEl>
                                          <p:spTgt spid="2355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555">
                                            <p:txEl>
                                              <p:pRg st="5" end="5"/>
                                            </p:txEl>
                                          </p:spTgt>
                                        </p:tgtEl>
                                        <p:attrNameLst>
                                          <p:attrName>style.visibility</p:attrName>
                                        </p:attrNameLst>
                                      </p:cBhvr>
                                      <p:to>
                                        <p:strVal val="visible"/>
                                      </p:to>
                                    </p:set>
                                    <p:animEffect transition="in" filter="fade">
                                      <p:cBhvr>
                                        <p:cTn id="31" dur="500"/>
                                        <p:tgtEl>
                                          <p:spTgt spid="2355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3555">
                                            <p:txEl>
                                              <p:pRg st="6" end="6"/>
                                            </p:txEl>
                                          </p:spTgt>
                                        </p:tgtEl>
                                        <p:attrNameLst>
                                          <p:attrName>style.visibility</p:attrName>
                                        </p:attrNameLst>
                                      </p:cBhvr>
                                      <p:to>
                                        <p:strVal val="visible"/>
                                      </p:to>
                                    </p:set>
                                    <p:animEffect transition="in" filter="fade">
                                      <p:cBhvr>
                                        <p:cTn id="36" dur="500"/>
                                        <p:tgtEl>
                                          <p:spTgt spid="23555">
                                            <p:txEl>
                                              <p:pRg st="6" end="6"/>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555">
                                            <p:txEl>
                                              <p:pRg st="7" end="7"/>
                                            </p:txEl>
                                          </p:spTgt>
                                        </p:tgtEl>
                                        <p:attrNameLst>
                                          <p:attrName>style.visibility</p:attrName>
                                        </p:attrNameLst>
                                      </p:cBhvr>
                                      <p:to>
                                        <p:strVal val="visible"/>
                                      </p:to>
                                    </p:set>
                                    <p:animEffect transition="in" filter="fade">
                                      <p:cBhvr>
                                        <p:cTn id="39" dur="5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504768" y="214313"/>
            <a:ext cx="10390716" cy="1054100"/>
          </a:xfrm>
        </p:spPr>
        <p:txBody>
          <a:bodyPr/>
          <a:lstStyle/>
          <a:p>
            <a:pPr eaLnBrk="1" hangingPunct="1"/>
            <a:r>
              <a:rPr lang="zh-TW" altLang="en-US" sz="3600" dirty="0">
                <a:latin typeface="Times New Roman" pitchFamily="18" charset="0"/>
                <a:ea typeface="標楷體" pitchFamily="65" charset="-120"/>
              </a:rPr>
              <a:t>理論及假說</a:t>
            </a:r>
            <a:r>
              <a:rPr lang="zh-TW" altLang="en-US" sz="3600">
                <a:latin typeface="Times New Roman" pitchFamily="18" charset="0"/>
                <a:ea typeface="標楷體" pitchFamily="65" charset="-120"/>
              </a:rPr>
              <a:t>的指引？</a:t>
            </a:r>
            <a:endParaRPr lang="en-US" altLang="zh-TW" sz="3600" dirty="0">
              <a:latin typeface="Times New Roman" pitchFamily="18" charset="0"/>
              <a:ea typeface="標楷體" pitchFamily="65" charset="-120"/>
            </a:endParaRPr>
          </a:p>
        </p:txBody>
      </p:sp>
      <p:sp>
        <p:nvSpPr>
          <p:cNvPr id="74755" name="Rectangle 3"/>
          <p:cNvSpPr>
            <a:spLocks noGrp="1" noChangeArrowheads="1"/>
          </p:cNvSpPr>
          <p:nvPr>
            <p:ph idx="1"/>
          </p:nvPr>
        </p:nvSpPr>
        <p:spPr>
          <a:xfrm>
            <a:off x="278025" y="1620078"/>
            <a:ext cx="11328400" cy="4816936"/>
          </a:xfrm>
        </p:spPr>
        <p:txBody>
          <a:bodyPr/>
          <a:lstStyle/>
          <a:p>
            <a:pPr eaLnBrk="1" hangingPunct="1"/>
            <a:r>
              <a:rPr lang="en-US" altLang="zh-TW" sz="2200" dirty="0">
                <a:latin typeface="Times New Roman" pitchFamily="18" charset="0"/>
                <a:ea typeface="標楷體" pitchFamily="65" charset="-120"/>
              </a:rPr>
              <a:t>… </a:t>
            </a:r>
            <a:r>
              <a:rPr lang="zh-TW" altLang="en-US" sz="2000" dirty="0">
                <a:solidFill>
                  <a:srgbClr val="0000FF"/>
                </a:solidFill>
                <a:latin typeface="Times New Roman" pitchFamily="18" charset="0"/>
                <a:ea typeface="標楷體" pitchFamily="65" charset="-120"/>
              </a:rPr>
              <a:t>調查的進行係在</a:t>
            </a:r>
            <a:r>
              <a:rPr lang="zh-TW" altLang="en-US" sz="2000" u="sng" dirty="0">
                <a:solidFill>
                  <a:srgbClr val="0000FF"/>
                </a:solidFill>
                <a:latin typeface="Times New Roman" pitchFamily="18" charset="0"/>
                <a:ea typeface="標楷體" pitchFamily="65" charset="-120"/>
              </a:rPr>
              <a:t>理論及假說的指引</a:t>
            </a:r>
            <a:r>
              <a:rPr lang="zh-TW" altLang="en-US" sz="2000" dirty="0">
                <a:solidFill>
                  <a:srgbClr val="0000FF"/>
                </a:solidFill>
                <a:latin typeface="Times New Roman" pitchFamily="18" charset="0"/>
                <a:ea typeface="標楷體" pitchFamily="65" charset="-120"/>
              </a:rPr>
              <a:t>下，針對某一現象所預設</a:t>
            </a:r>
            <a:r>
              <a:rPr lang="en-US" altLang="zh-TW" sz="2000" dirty="0">
                <a:solidFill>
                  <a:srgbClr val="0000FF"/>
                </a:solidFill>
                <a:latin typeface="Times New Roman" pitchFamily="18" charset="0"/>
                <a:ea typeface="標楷體" pitchFamily="65" charset="-120"/>
              </a:rPr>
              <a:t>【</a:t>
            </a:r>
            <a:r>
              <a:rPr lang="zh-TW" altLang="en-US" sz="2000" dirty="0">
                <a:solidFill>
                  <a:srgbClr val="0000FF"/>
                </a:solidFill>
                <a:latin typeface="Times New Roman" pitchFamily="18" charset="0"/>
                <a:ea typeface="標楷體" pitchFamily="65" charset="-120"/>
              </a:rPr>
              <a:t>猜測</a:t>
            </a:r>
            <a:r>
              <a:rPr lang="en-US" altLang="zh-TW" sz="2000" dirty="0">
                <a:solidFill>
                  <a:srgbClr val="0000FF"/>
                </a:solidFill>
                <a:latin typeface="Times New Roman" pitchFamily="18" charset="0"/>
                <a:ea typeface="標楷體" pitchFamily="65" charset="-120"/>
              </a:rPr>
              <a:t>】</a:t>
            </a:r>
            <a:r>
              <a:rPr lang="zh-TW" altLang="en-US" sz="2000" dirty="0">
                <a:solidFill>
                  <a:srgbClr val="0000FF"/>
                </a:solidFill>
                <a:latin typeface="Times New Roman" pitchFamily="18" charset="0"/>
                <a:ea typeface="標楷體" pitchFamily="65" charset="-120"/>
              </a:rPr>
              <a:t>的變數關係，進行</a:t>
            </a:r>
            <a:r>
              <a:rPr lang="zh-TW" altLang="en-US" sz="2000" u="sng" dirty="0">
                <a:solidFill>
                  <a:srgbClr val="0000FF"/>
                </a:solidFill>
                <a:latin typeface="Times New Roman" pitchFamily="18" charset="0"/>
                <a:ea typeface="標楷體" pitchFamily="65" charset="-120"/>
              </a:rPr>
              <a:t>資料蒐集與分析</a:t>
            </a:r>
            <a:r>
              <a:rPr lang="zh-TW" altLang="en-US" sz="2000" dirty="0">
                <a:solidFill>
                  <a:srgbClr val="0000FF"/>
                </a:solidFill>
                <a:latin typeface="Times New Roman" pitchFamily="18" charset="0"/>
                <a:ea typeface="標楷體" pitchFamily="65" charset="-120"/>
              </a:rPr>
              <a:t>的工作 </a:t>
            </a:r>
            <a:r>
              <a:rPr lang="en-US" altLang="zh-TW" sz="2000" dirty="0">
                <a:solidFill>
                  <a:srgbClr val="0000FF"/>
                </a:solidFill>
                <a:latin typeface="Times New Roman" pitchFamily="18" charset="0"/>
                <a:ea typeface="標楷體" pitchFamily="65" charset="-120"/>
              </a:rPr>
              <a:t>…</a:t>
            </a:r>
            <a:endParaRPr lang="en-US" altLang="zh-TW" sz="2200" dirty="0">
              <a:latin typeface="Times New Roman" pitchFamily="18" charset="0"/>
              <a:ea typeface="標楷體" pitchFamily="65" charset="-120"/>
            </a:endParaRPr>
          </a:p>
          <a:p>
            <a:pPr eaLnBrk="1" hangingPunct="1">
              <a:lnSpc>
                <a:spcPct val="90000"/>
              </a:lnSpc>
              <a:spcBef>
                <a:spcPts val="1200"/>
              </a:spcBef>
            </a:pPr>
            <a:r>
              <a:rPr lang="zh-TW" altLang="en-US" sz="2400" dirty="0">
                <a:latin typeface="Times New Roman" pitchFamily="18" charset="0"/>
                <a:ea typeface="標楷體" pitchFamily="65" charset="-120"/>
              </a:rPr>
              <a:t>理論是什麼？</a:t>
            </a:r>
            <a:r>
              <a:rPr lang="en-US" altLang="zh-TW" sz="2000" dirty="0">
                <a:latin typeface="Times New Roman" pitchFamily="18" charset="0"/>
                <a:ea typeface="標楷體" pitchFamily="65" charset="-120"/>
              </a:rPr>
              <a:t>【</a:t>
            </a:r>
            <a:r>
              <a:rPr lang="zh-TW" altLang="en-US" sz="2000" u="sng" dirty="0">
                <a:latin typeface="Times New Roman" pitchFamily="18" charset="0"/>
                <a:ea typeface="標楷體" pitchFamily="65" charset="-120"/>
              </a:rPr>
              <a:t>名詞</a:t>
            </a:r>
            <a:r>
              <a:rPr lang="zh-TW" altLang="en-US" sz="2000" dirty="0">
                <a:latin typeface="Times New Roman" pitchFamily="18" charset="0"/>
                <a:ea typeface="標楷體" pitchFamily="65" charset="-120"/>
              </a:rPr>
              <a:t>或</a:t>
            </a:r>
            <a:r>
              <a:rPr lang="zh-TW" altLang="en-US" sz="2000" u="sng" dirty="0">
                <a:solidFill>
                  <a:srgbClr val="FF0000"/>
                </a:solidFill>
                <a:latin typeface="Times New Roman" pitchFamily="18" charset="0"/>
                <a:ea typeface="標楷體" pitchFamily="65" charset="-120"/>
              </a:rPr>
              <a:t>形容詞</a:t>
            </a:r>
            <a:r>
              <a:rPr lang="zh-TW" altLang="en-US" sz="2000" dirty="0">
                <a:latin typeface="Times New Roman" pitchFamily="18" charset="0"/>
                <a:ea typeface="標楷體" pitchFamily="65" charset="-120"/>
              </a:rPr>
              <a:t>皆可</a:t>
            </a:r>
            <a:r>
              <a:rPr lang="en-US" altLang="zh-TW" sz="2000" dirty="0">
                <a:latin typeface="Times New Roman" pitchFamily="18" charset="0"/>
                <a:ea typeface="標楷體" pitchFamily="65" charset="-120"/>
              </a:rPr>
              <a:t>】</a:t>
            </a:r>
            <a:endParaRPr lang="en-US" altLang="zh-TW" sz="2400" dirty="0">
              <a:latin typeface="Times New Roman" pitchFamily="18" charset="0"/>
              <a:ea typeface="標楷體" pitchFamily="65" charset="-120"/>
            </a:endParaRPr>
          </a:p>
          <a:p>
            <a:pPr lvl="1" eaLnBrk="1" hangingPunct="1">
              <a:lnSpc>
                <a:spcPct val="90000"/>
              </a:lnSpc>
            </a:pPr>
            <a:r>
              <a:rPr lang="en-US" altLang="zh-TW" sz="1800" dirty="0">
                <a:latin typeface="Times New Roman" pitchFamily="18" charset="0"/>
                <a:ea typeface="標楷體" pitchFamily="65" charset="-120"/>
              </a:rPr>
              <a:t>…</a:t>
            </a:r>
          </a:p>
          <a:p>
            <a:pPr eaLnBrk="1" hangingPunct="1">
              <a:lnSpc>
                <a:spcPct val="90000"/>
              </a:lnSpc>
              <a:spcBef>
                <a:spcPts val="1200"/>
              </a:spcBef>
            </a:pPr>
            <a:r>
              <a:rPr lang="zh-TW" altLang="en-US" sz="2400" dirty="0">
                <a:latin typeface="Times New Roman" pitchFamily="18" charset="0"/>
                <a:ea typeface="標楷體" pitchFamily="65" charset="-120"/>
              </a:rPr>
              <a:t>假說又是什麼？</a:t>
            </a:r>
            <a:endParaRPr lang="en-US" altLang="zh-TW" sz="2400" dirty="0">
              <a:latin typeface="Times New Roman" pitchFamily="18" charset="0"/>
              <a:ea typeface="標楷體" pitchFamily="65" charset="-120"/>
            </a:endParaRPr>
          </a:p>
          <a:p>
            <a:pPr lvl="1" eaLnBrk="1" hangingPunct="1">
              <a:lnSpc>
                <a:spcPct val="90000"/>
              </a:lnSpc>
            </a:pPr>
            <a:r>
              <a:rPr lang="en-US" altLang="zh-TW" sz="2000" dirty="0">
                <a:latin typeface="Times New Roman" pitchFamily="18" charset="0"/>
                <a:ea typeface="標楷體" pitchFamily="65" charset="-120"/>
              </a:rPr>
              <a:t>…</a:t>
            </a:r>
          </a:p>
          <a:p>
            <a:pPr eaLnBrk="1" hangingPunct="1">
              <a:lnSpc>
                <a:spcPct val="90000"/>
              </a:lnSpc>
              <a:spcBef>
                <a:spcPts val="1200"/>
              </a:spcBef>
            </a:pPr>
            <a:r>
              <a:rPr lang="zh-TW" altLang="en-US" sz="2400" u="sng" dirty="0">
                <a:latin typeface="Times New Roman" pitchFamily="18" charset="0"/>
                <a:ea typeface="標楷體" pitchFamily="65" charset="-120"/>
              </a:rPr>
              <a:t>理論</a:t>
            </a:r>
            <a:r>
              <a:rPr lang="zh-TW" altLang="en-US" sz="2400" dirty="0">
                <a:latin typeface="Times New Roman" pitchFamily="18" charset="0"/>
                <a:ea typeface="標楷體" pitchFamily="65" charset="-120"/>
              </a:rPr>
              <a:t>和</a:t>
            </a:r>
            <a:r>
              <a:rPr lang="zh-TW" altLang="en-US" sz="2400" u="sng" dirty="0">
                <a:latin typeface="Times New Roman" pitchFamily="18" charset="0"/>
                <a:ea typeface="標楷體" pitchFamily="65" charset="-120"/>
              </a:rPr>
              <a:t>假說</a:t>
            </a:r>
            <a:r>
              <a:rPr lang="zh-TW" altLang="en-US" sz="2400" dirty="0">
                <a:latin typeface="Times New Roman" pitchFamily="18" charset="0"/>
                <a:ea typeface="標楷體" pitchFamily="65" charset="-120"/>
              </a:rPr>
              <a:t>之間</a:t>
            </a:r>
            <a:r>
              <a:rPr lang="en-US" altLang="zh-TW" sz="2400" dirty="0">
                <a:latin typeface="Times New Roman" pitchFamily="18" charset="0"/>
                <a:ea typeface="標楷體" pitchFamily="65" charset="-120"/>
              </a:rPr>
              <a:t/>
            </a:r>
            <a:br>
              <a:rPr lang="en-US" altLang="zh-TW" sz="2400" dirty="0">
                <a:latin typeface="Times New Roman" pitchFamily="18" charset="0"/>
                <a:ea typeface="標楷體" pitchFamily="65" charset="-120"/>
              </a:rPr>
            </a:br>
            <a:r>
              <a:rPr lang="zh-TW" altLang="en-US" sz="2400" dirty="0">
                <a:latin typeface="Times New Roman" pitchFamily="18" charset="0"/>
                <a:ea typeface="標楷體" pitchFamily="65" charset="-120"/>
              </a:rPr>
              <a:t>又有何關係？</a:t>
            </a:r>
            <a:endParaRPr lang="en-US" altLang="zh-TW" sz="2400" dirty="0">
              <a:latin typeface="Times New Roman" pitchFamily="18" charset="0"/>
              <a:ea typeface="標楷體" pitchFamily="65" charset="-120"/>
            </a:endParaRPr>
          </a:p>
          <a:p>
            <a:pPr lvl="1" eaLnBrk="1" hangingPunct="1">
              <a:lnSpc>
                <a:spcPct val="90000"/>
              </a:lnSpc>
            </a:pPr>
            <a:r>
              <a:rPr lang="en-US" altLang="zh-TW" sz="2000" dirty="0">
                <a:latin typeface="Times New Roman" pitchFamily="18" charset="0"/>
                <a:ea typeface="標楷體" pitchFamily="65" charset="-120"/>
              </a:rPr>
              <a:t>…</a:t>
            </a:r>
          </a:p>
          <a:p>
            <a:pPr eaLnBrk="1" hangingPunct="1">
              <a:lnSpc>
                <a:spcPct val="90000"/>
              </a:lnSpc>
            </a:pPr>
            <a:endParaRPr lang="en-US" altLang="zh-TW" sz="2200" dirty="0">
              <a:latin typeface="Times New Roman" pitchFamily="18" charset="0"/>
              <a:ea typeface="標楷體" pitchFamily="65" charset="-120"/>
            </a:endParaRPr>
          </a:p>
        </p:txBody>
      </p:sp>
      <p:sp>
        <p:nvSpPr>
          <p:cNvPr id="74756" name="投影片編號版面配置區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4B936639-94F1-4F32-BA94-8A09F2FE2141}" type="slidenum">
              <a:rPr kumimoji="0" lang="en-US" altLang="zh-TW" sz="1400">
                <a:latin typeface="Times New Roman" pitchFamily="18" charset="0"/>
              </a:rPr>
              <a:pPr/>
              <a:t>14</a:t>
            </a:fld>
            <a:endParaRPr kumimoji="0" lang="en-US" altLang="zh-TW" sz="1400" dirty="0">
              <a:latin typeface="Times New Roman" pitchFamily="18" charset="0"/>
            </a:endParaRPr>
          </a:p>
        </p:txBody>
      </p:sp>
      <p:pic>
        <p:nvPicPr>
          <p:cNvPr id="8" name="圖片 7">
            <a:extLst>
              <a:ext uri="{FF2B5EF4-FFF2-40B4-BE49-F238E27FC236}">
                <a16:creationId xmlns:a16="http://schemas.microsoft.com/office/drawing/2014/main" id="{454F2F03-3AEF-45D9-87C6-43A006BA8286}"/>
              </a:ext>
            </a:extLst>
          </p:cNvPr>
          <p:cNvPicPr>
            <a:picLocks noChangeAspect="1"/>
          </p:cNvPicPr>
          <p:nvPr/>
        </p:nvPicPr>
        <p:blipFill>
          <a:blip r:embed="rId3"/>
          <a:stretch>
            <a:fillRect/>
          </a:stretch>
        </p:blipFill>
        <p:spPr>
          <a:xfrm>
            <a:off x="5984697" y="151135"/>
            <a:ext cx="6096000" cy="838651"/>
          </a:xfrm>
          <a:prstGeom prst="rect">
            <a:avLst/>
          </a:prstGeom>
          <a:ln>
            <a:solidFill>
              <a:srgbClr val="FF0000"/>
            </a:solidFill>
          </a:ln>
        </p:spPr>
      </p:pic>
      <p:sp>
        <p:nvSpPr>
          <p:cNvPr id="2" name="文字方塊 1">
            <a:extLst>
              <a:ext uri="{FF2B5EF4-FFF2-40B4-BE49-F238E27FC236}">
                <a16:creationId xmlns:a16="http://schemas.microsoft.com/office/drawing/2014/main" id="{C7D434BA-3FF1-48CD-A0BF-37AA916D2433}"/>
              </a:ext>
            </a:extLst>
          </p:cNvPr>
          <p:cNvSpPr txBox="1"/>
          <p:nvPr/>
        </p:nvSpPr>
        <p:spPr>
          <a:xfrm rot="21480000">
            <a:off x="3783815" y="1246552"/>
            <a:ext cx="6335649" cy="338554"/>
          </a:xfrm>
          <a:prstGeom prst="rect">
            <a:avLst/>
          </a:prstGeom>
          <a:solidFill>
            <a:schemeClr val="bg1">
              <a:lumMod val="95000"/>
            </a:schemeClr>
          </a:solidFill>
          <a:ln w="19050">
            <a:solidFill>
              <a:srgbClr val="FF0000"/>
            </a:solidFill>
          </a:ln>
        </p:spPr>
        <p:txBody>
          <a:bodyPr wrap="square" rtlCol="0">
            <a:spAutoFit/>
          </a:bodyPr>
          <a:lstStyle/>
          <a:p>
            <a:r>
              <a:rPr lang="zh-TW" altLang="en-US" sz="1600" u="sng" dirty="0">
                <a:solidFill>
                  <a:srgbClr val="0000FF"/>
                </a:solidFill>
                <a:latin typeface="Times New Roman" pitchFamily="18" charset="0"/>
                <a:ea typeface="標楷體" pitchFamily="65" charset="-120"/>
              </a:rPr>
              <a:t>理論及假說的指引</a:t>
            </a:r>
            <a:r>
              <a:rPr lang="zh-TW" altLang="en-US" sz="1600" dirty="0">
                <a:latin typeface="Times New Roman" pitchFamily="18" charset="0"/>
                <a:ea typeface="標楷體" pitchFamily="65" charset="-120"/>
              </a:rPr>
              <a:t>？聽起來好像很有學問？但，</a:t>
            </a:r>
            <a:r>
              <a:rPr lang="zh-TW" altLang="en-US" sz="1600" u="sng" dirty="0">
                <a:latin typeface="Times New Roman" pitchFamily="18" charset="0"/>
                <a:ea typeface="標楷體" pitchFamily="65" charset="-120"/>
              </a:rPr>
              <a:t>理論</a:t>
            </a:r>
            <a:r>
              <a:rPr lang="zh-TW" altLang="en-US" sz="1600" dirty="0">
                <a:latin typeface="Times New Roman" pitchFamily="18" charset="0"/>
                <a:ea typeface="標楷體" pitchFamily="65" charset="-120"/>
              </a:rPr>
              <a:t>或</a:t>
            </a:r>
            <a:r>
              <a:rPr lang="zh-TW" altLang="en-US" sz="1600" u="sng" dirty="0">
                <a:latin typeface="Times New Roman" pitchFamily="18" charset="0"/>
                <a:ea typeface="標楷體" pitchFamily="65" charset="-120"/>
              </a:rPr>
              <a:t>假說</a:t>
            </a:r>
            <a:r>
              <a:rPr lang="zh-TW" altLang="en-US" sz="1600" dirty="0">
                <a:latin typeface="Times New Roman" pitchFamily="18" charset="0"/>
                <a:ea typeface="標楷體" pitchFamily="65" charset="-120"/>
              </a:rPr>
              <a:t>是什麼？</a:t>
            </a:r>
          </a:p>
        </p:txBody>
      </p:sp>
      <p:sp>
        <p:nvSpPr>
          <p:cNvPr id="7" name="Rectangle 3">
            <a:extLst>
              <a:ext uri="{FF2B5EF4-FFF2-40B4-BE49-F238E27FC236}">
                <a16:creationId xmlns:a16="http://schemas.microsoft.com/office/drawing/2014/main" id="{AD859F7F-75CF-4BA9-B1A8-DB1FA1DEBEDD}"/>
              </a:ext>
            </a:extLst>
          </p:cNvPr>
          <p:cNvSpPr txBox="1">
            <a:spLocks noChangeArrowheads="1"/>
          </p:cNvSpPr>
          <p:nvPr/>
        </p:nvSpPr>
        <p:spPr bwMode="auto">
          <a:xfrm rot="21480000">
            <a:off x="3362743" y="3202437"/>
            <a:ext cx="1517374" cy="2921483"/>
          </a:xfrm>
          <a:prstGeom prst="rect">
            <a:avLst/>
          </a:pr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ü"/>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pPr marL="342900" lvl="1" indent="-342900" eaLnBrk="1" hangingPunct="1">
              <a:lnSpc>
                <a:spcPct val="90000"/>
              </a:lnSpc>
              <a:spcBef>
                <a:spcPts val="1200"/>
              </a:spcBef>
              <a:buClr>
                <a:schemeClr val="folHlink"/>
              </a:buClr>
              <a:buSzPct val="60000"/>
              <a:buFont typeface="Wingdings" pitchFamily="2" charset="2"/>
              <a:buChar char="l"/>
            </a:pPr>
            <a:r>
              <a:rPr lang="en-US" altLang="zh-TW" sz="1400" kern="0" dirty="0">
                <a:latin typeface="Times New Roman" pitchFamily="18" charset="0"/>
                <a:ea typeface="標楷體" pitchFamily="65" charset="-120"/>
              </a:rPr>
              <a:t>…</a:t>
            </a:r>
          </a:p>
          <a:p>
            <a:r>
              <a:rPr lang="zh-TW" altLang="zh-TW" sz="1400" kern="0" dirty="0">
                <a:latin typeface="Times New Roman" pitchFamily="18" charset="0"/>
                <a:ea typeface="標楷體" pitchFamily="65" charset="-120"/>
              </a:rPr>
              <a:t>定義</a:t>
            </a:r>
          </a:p>
          <a:p>
            <a:r>
              <a:rPr lang="zh-TW" altLang="zh-TW" sz="1400" kern="0" dirty="0">
                <a:latin typeface="Times New Roman" pitchFamily="18" charset="0"/>
                <a:ea typeface="標楷體" pitchFamily="65" charset="-120"/>
              </a:rPr>
              <a:t>道理</a:t>
            </a:r>
          </a:p>
          <a:p>
            <a:r>
              <a:rPr lang="zh-TW" altLang="zh-TW" sz="1400" kern="0" dirty="0">
                <a:latin typeface="Times New Roman" pitchFamily="18" charset="0"/>
                <a:ea typeface="標楷體" pitchFamily="65" charset="-120"/>
              </a:rPr>
              <a:t>結論</a:t>
            </a:r>
          </a:p>
          <a:p>
            <a:r>
              <a:rPr lang="zh-TW" altLang="zh-TW" sz="1400" kern="0" dirty="0">
                <a:latin typeface="Times New Roman" pitchFamily="18" charset="0"/>
                <a:ea typeface="標楷體" pitchFamily="65" charset="-120"/>
              </a:rPr>
              <a:t>集大成者</a:t>
            </a:r>
          </a:p>
          <a:p>
            <a:r>
              <a:rPr lang="zh-TW" altLang="zh-TW" sz="1400" kern="0" dirty="0">
                <a:latin typeface="Times New Roman" pitchFamily="18" charset="0"/>
                <a:ea typeface="標楷體" pitchFamily="65" charset="-120"/>
              </a:rPr>
              <a:t>模型</a:t>
            </a:r>
          </a:p>
          <a:p>
            <a:r>
              <a:rPr lang="zh-TW" altLang="zh-TW" sz="1400" kern="0" dirty="0">
                <a:latin typeface="Times New Roman" pitchFamily="18" charset="0"/>
                <a:ea typeface="標楷體" pitchFamily="65" charset="-120"/>
              </a:rPr>
              <a:t>規則</a:t>
            </a:r>
          </a:p>
          <a:p>
            <a:r>
              <a:rPr lang="zh-TW" altLang="zh-TW" sz="1400" kern="0" dirty="0">
                <a:latin typeface="Times New Roman" pitchFamily="18" charset="0"/>
                <a:ea typeface="標楷體" pitchFamily="65" charset="-120"/>
              </a:rPr>
              <a:t>工具</a:t>
            </a:r>
            <a:endParaRPr lang="en-US" altLang="zh-TW" sz="1400" kern="0" dirty="0">
              <a:latin typeface="Times New Roman" pitchFamily="18" charset="0"/>
              <a:ea typeface="標楷體" pitchFamily="65" charset="-120"/>
            </a:endParaRPr>
          </a:p>
          <a:p>
            <a:r>
              <a:rPr lang="zh-TW" altLang="zh-TW" sz="1400" kern="0" dirty="0">
                <a:latin typeface="Times New Roman" pitchFamily="18" charset="0"/>
                <a:ea typeface="標楷體" pitchFamily="65" charset="-120"/>
              </a:rPr>
              <a:t>法則</a:t>
            </a:r>
          </a:p>
          <a:p>
            <a:endParaRPr lang="en-US" altLang="zh-TW" sz="1100" kern="0" dirty="0">
              <a:latin typeface="Times New Roman" pitchFamily="18" charset="0"/>
              <a:ea typeface="標楷體" pitchFamily="65" charset="-120"/>
            </a:endParaRPr>
          </a:p>
        </p:txBody>
      </p:sp>
      <p:sp>
        <p:nvSpPr>
          <p:cNvPr id="9" name="內容版面配置區 1">
            <a:extLst>
              <a:ext uri="{FF2B5EF4-FFF2-40B4-BE49-F238E27FC236}">
                <a16:creationId xmlns:a16="http://schemas.microsoft.com/office/drawing/2014/main" id="{744ADCA0-C64C-40EA-B73C-AF1BC34B4AC2}"/>
              </a:ext>
            </a:extLst>
          </p:cNvPr>
          <p:cNvSpPr txBox="1">
            <a:spLocks/>
          </p:cNvSpPr>
          <p:nvPr/>
        </p:nvSpPr>
        <p:spPr>
          <a:xfrm rot="21480000">
            <a:off x="5000664" y="3208306"/>
            <a:ext cx="1853658" cy="2921483"/>
          </a:xfrm>
          <a:prstGeom prst="rect">
            <a:avLst/>
          </a:prstGeom>
          <a:solidFill>
            <a:schemeClr val="bg1"/>
          </a:solidFill>
          <a:ln>
            <a:solidFill>
              <a:schemeClr val="tx1"/>
            </a:solidFill>
          </a:ln>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ü"/>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a:lstStyle>
          <a:p>
            <a:r>
              <a:rPr lang="zh-TW" altLang="zh-TW" sz="1400" kern="0" dirty="0">
                <a:latin typeface="Times New Roman" pitchFamily="18" charset="0"/>
                <a:ea typeface="標楷體" pitchFamily="65" charset="-120"/>
              </a:rPr>
              <a:t>現實的解釋</a:t>
            </a:r>
          </a:p>
          <a:p>
            <a:r>
              <a:rPr lang="zh-TW" altLang="zh-TW" sz="1400" kern="0" dirty="0">
                <a:latin typeface="Times New Roman" pitchFamily="18" charset="0"/>
                <a:ea typeface="標楷體" pitchFamily="65" charset="-120"/>
              </a:rPr>
              <a:t>知識</a:t>
            </a:r>
          </a:p>
          <a:p>
            <a:r>
              <a:rPr lang="zh-TW" altLang="zh-TW" sz="1400" kern="0" dirty="0">
                <a:latin typeface="Times New Roman" pitchFamily="18" charset="0"/>
                <a:ea typeface="標楷體" pitchFamily="65" charset="-120"/>
              </a:rPr>
              <a:t>經驗</a:t>
            </a:r>
          </a:p>
          <a:p>
            <a:r>
              <a:rPr lang="zh-TW" altLang="en-US" sz="1400" kern="0" dirty="0">
                <a:latin typeface="Times New Roman" pitchFamily="18" charset="0"/>
                <a:ea typeface="標楷體" pitchFamily="65" charset="-120"/>
              </a:rPr>
              <a:t>一種架構圖</a:t>
            </a:r>
            <a:endParaRPr lang="zh-TW" altLang="zh-TW" sz="1400" kern="0" dirty="0">
              <a:latin typeface="Times New Roman" pitchFamily="18" charset="0"/>
              <a:ea typeface="標楷體" pitchFamily="65" charset="-120"/>
            </a:endParaRPr>
          </a:p>
          <a:p>
            <a:r>
              <a:rPr lang="zh-TW" altLang="zh-TW" sz="1400" kern="0" dirty="0">
                <a:latin typeface="Times New Roman" pitchFamily="18" charset="0"/>
                <a:ea typeface="標楷體" pitchFamily="65" charset="-120"/>
              </a:rPr>
              <a:t>問題的答案</a:t>
            </a:r>
          </a:p>
          <a:p>
            <a:r>
              <a:rPr lang="zh-TW" altLang="zh-TW" sz="1400" kern="0" dirty="0">
                <a:latin typeface="Times New Roman" pitchFamily="18" charset="0"/>
                <a:ea typeface="標楷體" pitchFamily="65" charset="-120"/>
              </a:rPr>
              <a:t>解決方法</a:t>
            </a:r>
            <a:endParaRPr lang="en-US" altLang="zh-TW" sz="1400" kern="0" dirty="0">
              <a:latin typeface="Times New Roman" pitchFamily="18" charset="0"/>
              <a:ea typeface="標楷體" pitchFamily="65" charset="-120"/>
            </a:endParaRPr>
          </a:p>
          <a:p>
            <a:r>
              <a:rPr lang="zh-TW" altLang="en-US" sz="1400" kern="0" dirty="0">
                <a:latin typeface="Times New Roman" pitchFamily="18" charset="0"/>
                <a:ea typeface="標楷體" pitchFamily="65" charset="-120"/>
              </a:rPr>
              <a:t>學術的象牙塔</a:t>
            </a:r>
            <a:endParaRPr lang="en-US" altLang="zh-TW" sz="1400" kern="0" dirty="0">
              <a:latin typeface="Times New Roman" pitchFamily="18" charset="0"/>
              <a:ea typeface="標楷體" pitchFamily="65" charset="-120"/>
            </a:endParaRPr>
          </a:p>
          <a:p>
            <a:r>
              <a:rPr lang="en-US" altLang="zh-TW" sz="1400" kern="0" dirty="0">
                <a:latin typeface="Times New Roman" pitchFamily="18" charset="0"/>
                <a:ea typeface="標楷體" pitchFamily="65" charset="-120"/>
              </a:rPr>
              <a:t>…</a:t>
            </a:r>
            <a:endParaRPr lang="zh-TW" altLang="en-US" sz="1400" kern="0" dirty="0">
              <a:latin typeface="Times New Roman" pitchFamily="18" charset="0"/>
              <a:ea typeface="標楷體" pitchFamily="65" charset="-120"/>
            </a:endParaRPr>
          </a:p>
        </p:txBody>
      </p:sp>
      <p:sp>
        <p:nvSpPr>
          <p:cNvPr id="10" name="Rectangle 3">
            <a:extLst>
              <a:ext uri="{FF2B5EF4-FFF2-40B4-BE49-F238E27FC236}">
                <a16:creationId xmlns:a16="http://schemas.microsoft.com/office/drawing/2014/main" id="{21165A5C-2F36-438A-88C4-79C86FDDF19B}"/>
              </a:ext>
            </a:extLst>
          </p:cNvPr>
          <p:cNvSpPr txBox="1">
            <a:spLocks noChangeArrowheads="1"/>
          </p:cNvSpPr>
          <p:nvPr/>
        </p:nvSpPr>
        <p:spPr bwMode="auto">
          <a:xfrm rot="21480000">
            <a:off x="6974869" y="3217499"/>
            <a:ext cx="2380530" cy="2921483"/>
          </a:xfrm>
          <a:prstGeom prst="rect">
            <a:avLst/>
          </a:prstGeom>
          <a:solidFill>
            <a:schemeClr val="bg1"/>
          </a:solidFill>
          <a:ln>
            <a:solidFill>
              <a:srgbClr val="FF0000"/>
            </a:solid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ü"/>
              <a:defRPr kumimoji="1"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18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9pPr>
          </a:lstStyle>
          <a:p>
            <a:pPr marL="342900" lvl="1" indent="-342900" eaLnBrk="1" hangingPunct="1">
              <a:lnSpc>
                <a:spcPct val="90000"/>
              </a:lnSpc>
              <a:spcBef>
                <a:spcPts val="1200"/>
              </a:spcBef>
              <a:buClr>
                <a:srgbClr val="FF0000"/>
              </a:buClr>
              <a:buSzPct val="60000"/>
              <a:buFont typeface="Wingdings" pitchFamily="2" charset="2"/>
              <a:buChar char="l"/>
            </a:pPr>
            <a:r>
              <a:rPr lang="en-US" altLang="zh-TW" sz="1400" kern="0" dirty="0">
                <a:solidFill>
                  <a:srgbClr val="FF0000"/>
                </a:solidFill>
                <a:latin typeface="Times New Roman" pitchFamily="18" charset="0"/>
                <a:ea typeface="標楷體" pitchFamily="65" charset="-120"/>
              </a:rPr>
              <a:t>…</a:t>
            </a:r>
          </a:p>
          <a:p>
            <a:pPr>
              <a:buClr>
                <a:srgbClr val="FF0000"/>
              </a:buClr>
            </a:pPr>
            <a:r>
              <a:rPr lang="zh-TW" altLang="zh-TW" sz="1400" kern="0" dirty="0">
                <a:solidFill>
                  <a:srgbClr val="FF0000"/>
                </a:solidFill>
                <a:latin typeface="Times New Roman" pitchFamily="18" charset="0"/>
                <a:ea typeface="標楷體" pitchFamily="65" charset="-120"/>
              </a:rPr>
              <a:t>固定的</a:t>
            </a:r>
          </a:p>
          <a:p>
            <a:pPr>
              <a:buClr>
                <a:srgbClr val="FF0000"/>
              </a:buClr>
            </a:pPr>
            <a:r>
              <a:rPr lang="zh-TW" altLang="zh-TW" sz="1400" kern="0" dirty="0">
                <a:solidFill>
                  <a:srgbClr val="FF0000"/>
                </a:solidFill>
                <a:latin typeface="Times New Roman" pitchFamily="18" charset="0"/>
                <a:ea typeface="標楷體" pitchFamily="65" charset="-120"/>
              </a:rPr>
              <a:t>嚴謹的</a:t>
            </a:r>
          </a:p>
          <a:p>
            <a:pPr>
              <a:buClr>
                <a:srgbClr val="FF0000"/>
              </a:buClr>
            </a:pPr>
            <a:r>
              <a:rPr lang="zh-TW" altLang="zh-TW" sz="1400" kern="0" dirty="0">
                <a:solidFill>
                  <a:srgbClr val="FF0000"/>
                </a:solidFill>
                <a:latin typeface="Times New Roman" pitchFamily="18" charset="0"/>
                <a:ea typeface="標楷體" pitchFamily="65" charset="-120"/>
              </a:rPr>
              <a:t>被驗證過的</a:t>
            </a:r>
          </a:p>
          <a:p>
            <a:pPr>
              <a:buClr>
                <a:srgbClr val="FF0000"/>
              </a:buClr>
            </a:pPr>
            <a:r>
              <a:rPr lang="zh-TW" altLang="zh-TW" sz="1400" kern="0" dirty="0">
                <a:solidFill>
                  <a:srgbClr val="FF0000"/>
                </a:solidFill>
                <a:latin typeface="Times New Roman" pitchFamily="18" charset="0"/>
                <a:ea typeface="標楷體" pitchFamily="65" charset="-120"/>
              </a:rPr>
              <a:t>可解釋的</a:t>
            </a:r>
          </a:p>
          <a:p>
            <a:pPr>
              <a:buClr>
                <a:srgbClr val="FF0000"/>
              </a:buClr>
            </a:pPr>
            <a:r>
              <a:rPr lang="zh-TW" altLang="zh-TW" sz="1400" kern="0" dirty="0">
                <a:solidFill>
                  <a:srgbClr val="FF0000"/>
                </a:solidFill>
                <a:latin typeface="Times New Roman" pitchFamily="18" charset="0"/>
                <a:ea typeface="標楷體" pitchFamily="65" charset="-120"/>
              </a:rPr>
              <a:t>簡化的</a:t>
            </a:r>
          </a:p>
          <a:p>
            <a:pPr>
              <a:buClr>
                <a:srgbClr val="FF0000"/>
              </a:buClr>
            </a:pPr>
            <a:r>
              <a:rPr lang="zh-TW" altLang="zh-TW" sz="1400" kern="0" dirty="0">
                <a:solidFill>
                  <a:srgbClr val="FF0000"/>
                </a:solidFill>
                <a:latin typeface="Times New Roman" pitchFamily="18" charset="0"/>
                <a:ea typeface="標楷體" pitchFamily="65" charset="-120"/>
              </a:rPr>
              <a:t>做作的</a:t>
            </a:r>
            <a:r>
              <a:rPr lang="zh-TW" altLang="en-US" sz="1400" kern="0" dirty="0">
                <a:solidFill>
                  <a:srgbClr val="FF0000"/>
                </a:solidFill>
                <a:latin typeface="Times New Roman" pitchFamily="18" charset="0"/>
                <a:ea typeface="標楷體" pitchFamily="65" charset="-120"/>
              </a:rPr>
              <a:t>－</a:t>
            </a:r>
            <a:r>
              <a:rPr lang="zh-TW" altLang="zh-TW" sz="1400" kern="0" dirty="0">
                <a:solidFill>
                  <a:srgbClr val="FF0000"/>
                </a:solidFill>
                <a:latin typeface="Times New Roman" pitchFamily="18" charset="0"/>
                <a:ea typeface="標楷體" pitchFamily="65" charset="-120"/>
              </a:rPr>
              <a:t>不食人間煙火</a:t>
            </a:r>
            <a:endParaRPr lang="en-US" altLang="zh-TW" sz="1400" kern="0" dirty="0">
              <a:solidFill>
                <a:srgbClr val="FF0000"/>
              </a:solidFill>
              <a:latin typeface="Times New Roman" pitchFamily="18" charset="0"/>
              <a:ea typeface="標楷體" pitchFamily="65" charset="-120"/>
            </a:endParaRPr>
          </a:p>
          <a:p>
            <a:pPr>
              <a:buClr>
                <a:srgbClr val="FF0000"/>
              </a:buClr>
            </a:pPr>
            <a:r>
              <a:rPr lang="zh-TW" altLang="en-US" sz="1400" kern="0" dirty="0">
                <a:solidFill>
                  <a:srgbClr val="FF0000"/>
                </a:solidFill>
                <a:latin typeface="Times New Roman" pitchFamily="18" charset="0"/>
                <a:ea typeface="標楷體" pitchFamily="65" charset="-120"/>
              </a:rPr>
              <a:t>和</a:t>
            </a:r>
            <a:r>
              <a:rPr lang="zh-TW" altLang="zh-TW" sz="1400" kern="0" dirty="0">
                <a:solidFill>
                  <a:srgbClr val="FF0000"/>
                </a:solidFill>
                <a:latin typeface="Times New Roman" pitchFamily="18" charset="0"/>
                <a:ea typeface="標楷體" pitchFamily="65" charset="-120"/>
              </a:rPr>
              <a:t>生活</a:t>
            </a:r>
            <a:r>
              <a:rPr lang="zh-TW" altLang="en-US" sz="1400" kern="0" dirty="0">
                <a:solidFill>
                  <a:srgbClr val="FF0000"/>
                </a:solidFill>
                <a:latin typeface="Times New Roman" pitchFamily="18" charset="0"/>
                <a:ea typeface="標楷體" pitchFamily="65" charset="-120"/>
              </a:rPr>
              <a:t>、實務脫節</a:t>
            </a:r>
            <a:r>
              <a:rPr lang="zh-TW" altLang="zh-TW" sz="1400" kern="0" dirty="0">
                <a:solidFill>
                  <a:srgbClr val="FF0000"/>
                </a:solidFill>
                <a:latin typeface="Times New Roman" pitchFamily="18" charset="0"/>
                <a:ea typeface="標楷體" pitchFamily="65" charset="-120"/>
              </a:rPr>
              <a:t>的</a:t>
            </a:r>
          </a:p>
          <a:p>
            <a:pPr>
              <a:buClr>
                <a:srgbClr val="FF0000"/>
              </a:buClr>
            </a:pPr>
            <a:r>
              <a:rPr lang="zh-TW" altLang="en-US" sz="1400" kern="0" dirty="0">
                <a:solidFill>
                  <a:srgbClr val="FF0000"/>
                </a:solidFill>
                <a:latin typeface="Times New Roman" pitchFamily="18" charset="0"/>
                <a:ea typeface="標楷體" pitchFamily="65" charset="-120"/>
              </a:rPr>
              <a:t>一般人很少接觸的</a:t>
            </a:r>
            <a:endParaRPr lang="en-US" altLang="zh-TW" sz="1400" kern="0" dirty="0">
              <a:solidFill>
                <a:srgbClr val="FF0000"/>
              </a:solidFill>
              <a:latin typeface="Times New Roman" pitchFamily="18" charset="0"/>
              <a:ea typeface="標楷體" pitchFamily="65" charset="-120"/>
            </a:endParaRPr>
          </a:p>
          <a:p>
            <a:pPr>
              <a:buClr>
                <a:srgbClr val="FF0000"/>
              </a:buClr>
            </a:pPr>
            <a:r>
              <a:rPr lang="zh-TW" altLang="en-US" sz="1400" kern="0" dirty="0">
                <a:solidFill>
                  <a:srgbClr val="FF0000"/>
                </a:solidFill>
                <a:latin typeface="Times New Roman" pitchFamily="18" charset="0"/>
                <a:ea typeface="標楷體" pitchFamily="65" charset="-120"/>
              </a:rPr>
              <a:t>深奧、難以理解的</a:t>
            </a:r>
            <a:endParaRPr lang="zh-TW" altLang="zh-TW" sz="1400" kern="0" dirty="0">
              <a:solidFill>
                <a:srgbClr val="FF0000"/>
              </a:solidFill>
              <a:latin typeface="Times New Roman" pitchFamily="18" charset="0"/>
              <a:ea typeface="標楷體" pitchFamily="65" charset="-120"/>
            </a:endParaRPr>
          </a:p>
          <a:p>
            <a:pPr>
              <a:buClr>
                <a:srgbClr val="FF0000"/>
              </a:buClr>
            </a:pPr>
            <a:endParaRPr lang="en-US" altLang="zh-TW" sz="1400" kern="0" dirty="0">
              <a:solidFill>
                <a:srgbClr val="FF0000"/>
              </a:solidFill>
              <a:latin typeface="Times New Roman" pitchFamily="18" charset="0"/>
              <a:ea typeface="標楷體" pitchFamily="65" charset="-120"/>
            </a:endParaRPr>
          </a:p>
        </p:txBody>
      </p:sp>
      <p:sp>
        <p:nvSpPr>
          <p:cNvPr id="11" name="內容版面配置區 1">
            <a:extLst>
              <a:ext uri="{FF2B5EF4-FFF2-40B4-BE49-F238E27FC236}">
                <a16:creationId xmlns:a16="http://schemas.microsoft.com/office/drawing/2014/main" id="{ECCCB05E-6739-4CEE-B4EB-9A7148FC9264}"/>
              </a:ext>
            </a:extLst>
          </p:cNvPr>
          <p:cNvSpPr txBox="1">
            <a:spLocks/>
          </p:cNvSpPr>
          <p:nvPr/>
        </p:nvSpPr>
        <p:spPr bwMode="auto">
          <a:xfrm rot="21480000">
            <a:off x="9475945" y="3220897"/>
            <a:ext cx="2575227" cy="2921483"/>
          </a:xfrm>
          <a:prstGeom prst="rect">
            <a:avLst/>
          </a:prstGeom>
          <a:solidFill>
            <a:schemeClr val="bg1"/>
          </a:solidFill>
          <a:ln>
            <a:solidFill>
              <a:srgbClr val="FF0000"/>
            </a:solid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l"/>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4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ü"/>
              <a:defRPr kumimoji="1"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18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1800">
                <a:solidFill>
                  <a:schemeClr val="tx1"/>
                </a:solidFill>
                <a:latin typeface="+mn-lt"/>
                <a:ea typeface="+mn-ea"/>
              </a:defRPr>
            </a:lvl9pPr>
          </a:lstStyle>
          <a:p>
            <a:pPr>
              <a:buClr>
                <a:srgbClr val="FF0000"/>
              </a:buClr>
            </a:pPr>
            <a:r>
              <a:rPr lang="zh-TW" altLang="zh-TW" sz="1400" kern="0" dirty="0">
                <a:solidFill>
                  <a:srgbClr val="FF0000"/>
                </a:solidFill>
                <a:latin typeface="Times New Roman" pitchFamily="18" charset="0"/>
                <a:ea typeface="標楷體" pitchFamily="65" charset="-120"/>
              </a:rPr>
              <a:t>科學的</a:t>
            </a:r>
            <a:endParaRPr lang="en-US" altLang="zh-TW" sz="1400" kern="0" dirty="0">
              <a:solidFill>
                <a:srgbClr val="FF0000"/>
              </a:solidFill>
              <a:latin typeface="Times New Roman" pitchFamily="18" charset="0"/>
              <a:ea typeface="標楷體" pitchFamily="65" charset="-120"/>
            </a:endParaRPr>
          </a:p>
          <a:p>
            <a:pPr>
              <a:buClr>
                <a:srgbClr val="FF0000"/>
              </a:buClr>
            </a:pPr>
            <a:r>
              <a:rPr lang="zh-TW" altLang="zh-TW" sz="1400" kern="0" dirty="0">
                <a:solidFill>
                  <a:srgbClr val="FF0000"/>
                </a:solidFill>
                <a:latin typeface="Times New Roman" pitchFamily="18" charset="0"/>
                <a:ea typeface="標楷體" pitchFamily="65" charset="-120"/>
              </a:rPr>
              <a:t>無聊的</a:t>
            </a:r>
            <a:endParaRPr lang="en-US" altLang="zh-TW" sz="1400" kern="0" dirty="0">
              <a:solidFill>
                <a:srgbClr val="FF0000"/>
              </a:solidFill>
              <a:latin typeface="Times New Roman" pitchFamily="18" charset="0"/>
              <a:ea typeface="標楷體" pitchFamily="65" charset="-120"/>
            </a:endParaRPr>
          </a:p>
          <a:p>
            <a:pPr>
              <a:buClr>
                <a:srgbClr val="FF0000"/>
              </a:buClr>
            </a:pPr>
            <a:r>
              <a:rPr lang="zh-TW" altLang="en-US" sz="1400" kern="0" dirty="0">
                <a:solidFill>
                  <a:srgbClr val="FF0000"/>
                </a:solidFill>
                <a:latin typeface="Times New Roman" pitchFamily="18" charset="0"/>
                <a:ea typeface="標楷體" pitchFamily="65" charset="-120"/>
              </a:rPr>
              <a:t>包含數學公式</a:t>
            </a:r>
            <a:endParaRPr lang="zh-TW" altLang="zh-TW" sz="1400" kern="0" dirty="0">
              <a:solidFill>
                <a:srgbClr val="FF0000"/>
              </a:solidFill>
              <a:latin typeface="Times New Roman" pitchFamily="18" charset="0"/>
              <a:ea typeface="標楷體" pitchFamily="65" charset="-120"/>
            </a:endParaRPr>
          </a:p>
          <a:p>
            <a:pPr>
              <a:buClr>
                <a:srgbClr val="FF0000"/>
              </a:buClr>
            </a:pPr>
            <a:r>
              <a:rPr lang="zh-TW" altLang="zh-TW" sz="1400" kern="0" dirty="0">
                <a:solidFill>
                  <a:srgbClr val="FF0000"/>
                </a:solidFill>
                <a:latin typeface="Times New Roman" pitchFamily="18" charset="0"/>
                <a:ea typeface="標楷體" pitchFamily="65" charset="-120"/>
              </a:rPr>
              <a:t>有整理過的</a:t>
            </a:r>
          </a:p>
          <a:p>
            <a:pPr>
              <a:buClr>
                <a:srgbClr val="FF0000"/>
              </a:buClr>
            </a:pPr>
            <a:r>
              <a:rPr lang="zh-TW" altLang="zh-TW" sz="1400" kern="0" dirty="0">
                <a:solidFill>
                  <a:srgbClr val="FF0000"/>
                </a:solidFill>
                <a:latin typeface="Times New Roman" pitchFamily="18" charset="0"/>
                <a:ea typeface="標楷體" pitchFamily="65" charset="-120"/>
              </a:rPr>
              <a:t>有定義的</a:t>
            </a:r>
          </a:p>
          <a:p>
            <a:pPr>
              <a:buClr>
                <a:srgbClr val="FF0000"/>
              </a:buClr>
            </a:pPr>
            <a:r>
              <a:rPr lang="zh-TW" altLang="zh-TW" sz="1400" kern="0" dirty="0">
                <a:solidFill>
                  <a:srgbClr val="FF0000"/>
                </a:solidFill>
                <a:latin typeface="Times New Roman" pitchFamily="18" charset="0"/>
                <a:ea typeface="標楷體" pitchFamily="65" charset="-120"/>
              </a:rPr>
              <a:t>像教科書一樣有一些基礎標準</a:t>
            </a:r>
          </a:p>
          <a:p>
            <a:pPr>
              <a:buClr>
                <a:srgbClr val="FF0000"/>
              </a:buClr>
            </a:pPr>
            <a:r>
              <a:rPr lang="zh-TW" altLang="zh-TW" sz="1400" kern="0" dirty="0">
                <a:solidFill>
                  <a:srgbClr val="FF0000"/>
                </a:solidFill>
                <a:latin typeface="Times New Roman" pitchFamily="18" charset="0"/>
                <a:ea typeface="標楷體" pitchFamily="65" charset="-120"/>
              </a:rPr>
              <a:t>經得起考驗</a:t>
            </a:r>
          </a:p>
          <a:p>
            <a:pPr>
              <a:buClr>
                <a:srgbClr val="FF0000"/>
              </a:buClr>
            </a:pPr>
            <a:r>
              <a:rPr lang="zh-TW" altLang="zh-TW" sz="1400" kern="0" dirty="0">
                <a:solidFill>
                  <a:srgbClr val="FF0000"/>
                </a:solidFill>
                <a:latin typeface="Times New Roman" pitchFamily="18" charset="0"/>
                <a:ea typeface="標楷體" pitchFamily="65" charset="-120"/>
              </a:rPr>
              <a:t>經實驗而得的</a:t>
            </a:r>
          </a:p>
          <a:p>
            <a:pPr>
              <a:buClr>
                <a:srgbClr val="FF0000"/>
              </a:buClr>
            </a:pPr>
            <a:r>
              <a:rPr lang="zh-TW" altLang="zh-TW" sz="1400" kern="0" dirty="0">
                <a:solidFill>
                  <a:srgbClr val="FF0000"/>
                </a:solidFill>
                <a:latin typeface="Times New Roman" pitchFamily="18" charset="0"/>
                <a:ea typeface="標楷體" pitchFamily="65" charset="-120"/>
              </a:rPr>
              <a:t>有證據支持</a:t>
            </a:r>
          </a:p>
          <a:p>
            <a:pPr>
              <a:buClr>
                <a:srgbClr val="FF0000"/>
              </a:buClr>
            </a:pPr>
            <a:r>
              <a:rPr lang="en-US" altLang="zh-TW" sz="1400" kern="0" dirty="0">
                <a:solidFill>
                  <a:srgbClr val="FF0000"/>
                </a:solidFill>
                <a:latin typeface="Times New Roman" pitchFamily="18" charset="0"/>
                <a:ea typeface="標楷體" pitchFamily="65" charset="-120"/>
              </a:rPr>
              <a:t>…</a:t>
            </a:r>
            <a:endParaRPr lang="zh-TW" altLang="en-US" sz="1400" kern="0" dirty="0">
              <a:solidFill>
                <a:srgbClr val="FF0000"/>
              </a:solidFill>
              <a:latin typeface="Times New Roman" pitchFamily="18" charset="0"/>
              <a:ea typeface="標楷體" pitchFamily="65" charset="-120"/>
            </a:endParaRPr>
          </a:p>
        </p:txBody>
      </p:sp>
    </p:spTree>
    <p:extLst>
      <p:ext uri="{BB962C8B-B14F-4D97-AF65-F5344CB8AC3E}">
        <p14:creationId xmlns:p14="http://schemas.microsoft.com/office/powerpoint/2010/main" val="32160855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fade">
                                      <p:cBhvr>
                                        <p:cTn id="7" dur="500"/>
                                        <p:tgtEl>
                                          <p:spTgt spid="747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4755">
                                            <p:txEl>
                                              <p:pRg st="1" end="1"/>
                                            </p:txEl>
                                          </p:spTgt>
                                        </p:tgtEl>
                                        <p:attrNameLst>
                                          <p:attrName>style.visibility</p:attrName>
                                        </p:attrNameLst>
                                      </p:cBhvr>
                                      <p:to>
                                        <p:strVal val="visible"/>
                                      </p:to>
                                    </p:set>
                                    <p:animEffect transition="in" filter="fade">
                                      <p:cBhvr>
                                        <p:cTn id="17" dur="500"/>
                                        <p:tgtEl>
                                          <p:spTgt spid="74755">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4755">
                                            <p:txEl>
                                              <p:pRg st="2" end="2"/>
                                            </p:txEl>
                                          </p:spTgt>
                                        </p:tgtEl>
                                        <p:attrNameLst>
                                          <p:attrName>style.visibility</p:attrName>
                                        </p:attrNameLst>
                                      </p:cBhvr>
                                      <p:to>
                                        <p:strVal val="visible"/>
                                      </p:to>
                                    </p:set>
                                    <p:animEffect transition="in" filter="fade">
                                      <p:cBhvr>
                                        <p:cTn id="20" dur="500"/>
                                        <p:tgtEl>
                                          <p:spTgt spid="7475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4755">
                                            <p:txEl>
                                              <p:pRg st="3" end="3"/>
                                            </p:txEl>
                                          </p:spTgt>
                                        </p:tgtEl>
                                        <p:attrNameLst>
                                          <p:attrName>style.visibility</p:attrName>
                                        </p:attrNameLst>
                                      </p:cBhvr>
                                      <p:to>
                                        <p:strVal val="visible"/>
                                      </p:to>
                                    </p:set>
                                    <p:animEffect transition="in" filter="fade">
                                      <p:cBhvr>
                                        <p:cTn id="41" dur="500"/>
                                        <p:tgtEl>
                                          <p:spTgt spid="74755">
                                            <p:txEl>
                                              <p:pRg st="3" end="3"/>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4755">
                                            <p:txEl>
                                              <p:pRg st="4" end="4"/>
                                            </p:txEl>
                                          </p:spTgt>
                                        </p:tgtEl>
                                        <p:attrNameLst>
                                          <p:attrName>style.visibility</p:attrName>
                                        </p:attrNameLst>
                                      </p:cBhvr>
                                      <p:to>
                                        <p:strVal val="visible"/>
                                      </p:to>
                                    </p:set>
                                    <p:animEffect transition="in" filter="fade">
                                      <p:cBhvr>
                                        <p:cTn id="44" dur="500"/>
                                        <p:tgtEl>
                                          <p:spTgt spid="74755">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74755">
                                            <p:txEl>
                                              <p:pRg st="5" end="5"/>
                                            </p:txEl>
                                          </p:spTgt>
                                        </p:tgtEl>
                                        <p:attrNameLst>
                                          <p:attrName>style.visibility</p:attrName>
                                        </p:attrNameLst>
                                      </p:cBhvr>
                                      <p:to>
                                        <p:strVal val="visible"/>
                                      </p:to>
                                    </p:set>
                                    <p:animEffect transition="in" filter="fade">
                                      <p:cBhvr>
                                        <p:cTn id="49" dur="500"/>
                                        <p:tgtEl>
                                          <p:spTgt spid="74755">
                                            <p:txEl>
                                              <p:pRg st="5" end="5"/>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4755">
                                            <p:txEl>
                                              <p:pRg st="6" end="6"/>
                                            </p:txEl>
                                          </p:spTgt>
                                        </p:tgtEl>
                                        <p:attrNameLst>
                                          <p:attrName>style.visibility</p:attrName>
                                        </p:attrNameLst>
                                      </p:cBhvr>
                                      <p:to>
                                        <p:strVal val="visible"/>
                                      </p:to>
                                    </p:set>
                                    <p:animEffect transition="in" filter="fade">
                                      <p:cBhvr>
                                        <p:cTn id="52" dur="500"/>
                                        <p:tgtEl>
                                          <p:spTgt spid="747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uiExpand="1" build="p"/>
      <p:bldP spid="2" grpId="0" animBg="1"/>
      <p:bldP spid="7" grpId="0" animBg="1"/>
      <p:bldP spid="9"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504768" y="214313"/>
            <a:ext cx="10390716" cy="1054100"/>
          </a:xfrm>
        </p:spPr>
        <p:txBody>
          <a:bodyPr/>
          <a:lstStyle/>
          <a:p>
            <a:pPr eaLnBrk="1" hangingPunct="1"/>
            <a:r>
              <a:rPr lang="zh-TW" altLang="en-US" sz="3600" u="sng" dirty="0">
                <a:solidFill>
                  <a:schemeClr val="tx1"/>
                </a:solidFill>
                <a:latin typeface="Times New Roman" pitchFamily="18" charset="0"/>
                <a:ea typeface="標楷體" pitchFamily="65" charset="-120"/>
              </a:rPr>
              <a:t>理論</a:t>
            </a:r>
            <a:r>
              <a:rPr lang="zh-TW" altLang="en-US" sz="3600" dirty="0">
                <a:solidFill>
                  <a:schemeClr val="tx1"/>
                </a:solidFill>
                <a:latin typeface="Times New Roman" pitchFamily="18" charset="0"/>
                <a:ea typeface="標楷體" pitchFamily="65" charset="-120"/>
              </a:rPr>
              <a:t>的意義</a:t>
            </a:r>
            <a:endParaRPr lang="en-US" altLang="zh-TW" sz="3600" dirty="0">
              <a:latin typeface="Times New Roman" pitchFamily="18" charset="0"/>
              <a:ea typeface="標楷體" pitchFamily="65" charset="-120"/>
            </a:endParaRPr>
          </a:p>
        </p:txBody>
      </p:sp>
      <p:sp>
        <p:nvSpPr>
          <p:cNvPr id="74755" name="Rectangle 3"/>
          <p:cNvSpPr>
            <a:spLocks noGrp="1" noChangeArrowheads="1"/>
          </p:cNvSpPr>
          <p:nvPr>
            <p:ph idx="1"/>
          </p:nvPr>
        </p:nvSpPr>
        <p:spPr>
          <a:xfrm>
            <a:off x="278025" y="1620078"/>
            <a:ext cx="11328400" cy="4816936"/>
          </a:xfrm>
        </p:spPr>
        <p:txBody>
          <a:bodyPr>
            <a:normAutofit/>
          </a:bodyPr>
          <a:lstStyle/>
          <a:p>
            <a:pPr eaLnBrk="1" hangingPunct="1"/>
            <a:r>
              <a:rPr lang="en-US" altLang="zh-TW" sz="2200" dirty="0">
                <a:latin typeface="Times New Roman" pitchFamily="18" charset="0"/>
                <a:ea typeface="標楷體" pitchFamily="65" charset="-120"/>
              </a:rPr>
              <a:t>… </a:t>
            </a:r>
            <a:r>
              <a:rPr lang="zh-TW" altLang="en-US" sz="2000" dirty="0">
                <a:solidFill>
                  <a:srgbClr val="0000FF"/>
                </a:solidFill>
                <a:latin typeface="Times New Roman" pitchFamily="18" charset="0"/>
                <a:ea typeface="標楷體" pitchFamily="65" charset="-120"/>
              </a:rPr>
              <a:t>調查的進行係在</a:t>
            </a:r>
            <a:r>
              <a:rPr lang="zh-TW" altLang="en-US" sz="2000" u="sng" dirty="0">
                <a:solidFill>
                  <a:srgbClr val="0000FF"/>
                </a:solidFill>
                <a:latin typeface="Times New Roman" pitchFamily="18" charset="0"/>
                <a:ea typeface="標楷體" pitchFamily="65" charset="-120"/>
              </a:rPr>
              <a:t>理論及假說的指引</a:t>
            </a:r>
            <a:r>
              <a:rPr lang="zh-TW" altLang="en-US" sz="2000" dirty="0">
                <a:solidFill>
                  <a:srgbClr val="0000FF"/>
                </a:solidFill>
                <a:latin typeface="Times New Roman" pitchFamily="18" charset="0"/>
                <a:ea typeface="標楷體" pitchFamily="65" charset="-120"/>
              </a:rPr>
              <a:t>下，針對某一現象所預設</a:t>
            </a:r>
            <a:r>
              <a:rPr lang="en-US" altLang="zh-TW" sz="2000" dirty="0">
                <a:solidFill>
                  <a:srgbClr val="0000FF"/>
                </a:solidFill>
                <a:latin typeface="Times New Roman" pitchFamily="18" charset="0"/>
                <a:ea typeface="標楷體" pitchFamily="65" charset="-120"/>
              </a:rPr>
              <a:t>【</a:t>
            </a:r>
            <a:r>
              <a:rPr lang="zh-TW" altLang="en-US" sz="2000" dirty="0">
                <a:solidFill>
                  <a:srgbClr val="0000FF"/>
                </a:solidFill>
                <a:latin typeface="Times New Roman" pitchFamily="18" charset="0"/>
                <a:ea typeface="標楷體" pitchFamily="65" charset="-120"/>
              </a:rPr>
              <a:t>猜測</a:t>
            </a:r>
            <a:r>
              <a:rPr lang="en-US" altLang="zh-TW" sz="2000" dirty="0">
                <a:solidFill>
                  <a:srgbClr val="0000FF"/>
                </a:solidFill>
                <a:latin typeface="Times New Roman" pitchFamily="18" charset="0"/>
                <a:ea typeface="標楷體" pitchFamily="65" charset="-120"/>
              </a:rPr>
              <a:t>】</a:t>
            </a:r>
            <a:r>
              <a:rPr lang="zh-TW" altLang="en-US" sz="2000" dirty="0">
                <a:solidFill>
                  <a:srgbClr val="0000FF"/>
                </a:solidFill>
                <a:latin typeface="Times New Roman" pitchFamily="18" charset="0"/>
                <a:ea typeface="標楷體" pitchFamily="65" charset="-120"/>
              </a:rPr>
              <a:t>的變數關係，進行</a:t>
            </a:r>
            <a:r>
              <a:rPr lang="zh-TW" altLang="en-US" sz="2000" u="sng" dirty="0">
                <a:solidFill>
                  <a:srgbClr val="0000FF"/>
                </a:solidFill>
                <a:latin typeface="Times New Roman" pitchFamily="18" charset="0"/>
                <a:ea typeface="標楷體" pitchFamily="65" charset="-120"/>
              </a:rPr>
              <a:t>資料蒐集與分析</a:t>
            </a:r>
            <a:r>
              <a:rPr lang="zh-TW" altLang="en-US" sz="2000" dirty="0">
                <a:solidFill>
                  <a:srgbClr val="0000FF"/>
                </a:solidFill>
                <a:latin typeface="Times New Roman" pitchFamily="18" charset="0"/>
                <a:ea typeface="標楷體" pitchFamily="65" charset="-120"/>
              </a:rPr>
              <a:t>的工作 </a:t>
            </a:r>
            <a:r>
              <a:rPr lang="en-US" altLang="zh-TW" sz="2000" dirty="0">
                <a:solidFill>
                  <a:srgbClr val="0000FF"/>
                </a:solidFill>
                <a:latin typeface="Times New Roman" pitchFamily="18" charset="0"/>
                <a:ea typeface="標楷體" pitchFamily="65" charset="-120"/>
              </a:rPr>
              <a:t>…</a:t>
            </a:r>
            <a:endParaRPr lang="en-US" altLang="zh-TW" sz="2200" dirty="0">
              <a:latin typeface="Times New Roman" pitchFamily="18" charset="0"/>
              <a:ea typeface="標楷體" pitchFamily="65" charset="-120"/>
            </a:endParaRPr>
          </a:p>
          <a:p>
            <a:pPr eaLnBrk="1" hangingPunct="1">
              <a:lnSpc>
                <a:spcPct val="90000"/>
              </a:lnSpc>
            </a:pPr>
            <a:r>
              <a:rPr lang="en-US" altLang="zh-TW" sz="2200" dirty="0">
                <a:latin typeface="Times New Roman" pitchFamily="18" charset="0"/>
                <a:ea typeface="標楷體" pitchFamily="65" charset="-120"/>
              </a:rPr>
              <a:t>A </a:t>
            </a:r>
            <a:r>
              <a:rPr lang="en-US" altLang="zh-TW" sz="2200" b="1" dirty="0">
                <a:latin typeface="Times New Roman" pitchFamily="18" charset="0"/>
                <a:ea typeface="標楷體" pitchFamily="65" charset="-120"/>
              </a:rPr>
              <a:t>theory</a:t>
            </a:r>
            <a:r>
              <a:rPr lang="en-US" altLang="zh-TW" sz="2200" dirty="0">
                <a:latin typeface="Times New Roman" pitchFamily="18" charset="0"/>
                <a:ea typeface="標楷體" pitchFamily="65" charset="-120"/>
              </a:rPr>
              <a:t> is a set of interrelated constructs (concepts), definitions, and propositions that present a systematic view of phenomena by specifying relations among variables, with the purpose of explaining and predicting the phenomena. </a:t>
            </a:r>
            <a:r>
              <a:rPr lang="en-US" altLang="zh-TW" sz="2000" dirty="0">
                <a:latin typeface="Times New Roman" pitchFamily="18" charset="0"/>
                <a:ea typeface="標楷體" pitchFamily="65" charset="-120"/>
              </a:rPr>
              <a:t>(</a:t>
            </a:r>
            <a:r>
              <a:rPr lang="en-US" altLang="zh-TW" sz="2000" dirty="0" err="1">
                <a:latin typeface="Times New Roman" pitchFamily="18" charset="0"/>
                <a:ea typeface="標楷體" pitchFamily="65" charset="-120"/>
              </a:rPr>
              <a:t>Kerlinger</a:t>
            </a:r>
            <a:r>
              <a:rPr lang="en-US" altLang="zh-TW" sz="2000" dirty="0">
                <a:latin typeface="Times New Roman" pitchFamily="18" charset="0"/>
                <a:ea typeface="標楷體" pitchFamily="65" charset="-120"/>
              </a:rPr>
              <a:t> &amp; Lee , 2000: 11)</a:t>
            </a:r>
          </a:p>
          <a:p>
            <a:pPr eaLnBrk="1" hangingPunct="1">
              <a:lnSpc>
                <a:spcPct val="90000"/>
              </a:lnSpc>
              <a:spcBef>
                <a:spcPts val="600"/>
              </a:spcBef>
            </a:pPr>
            <a:r>
              <a:rPr lang="zh-TW" altLang="en-US" sz="2400" b="1" dirty="0">
                <a:latin typeface="Times New Roman" pitchFamily="18" charset="0"/>
                <a:ea typeface="標楷體" pitchFamily="65" charset="-120"/>
              </a:rPr>
              <a:t>理論</a:t>
            </a:r>
            <a:r>
              <a:rPr lang="zh-TW" altLang="en-US" sz="2400" dirty="0">
                <a:latin typeface="Times New Roman" pitchFamily="18" charset="0"/>
                <a:ea typeface="標楷體" pitchFamily="65" charset="-120"/>
              </a:rPr>
              <a:t>包含一些彼此相關的構念 </a:t>
            </a:r>
            <a:r>
              <a:rPr lang="en-US" altLang="zh-TW" sz="2400" dirty="0">
                <a:latin typeface="Times New Roman" pitchFamily="18" charset="0"/>
                <a:ea typeface="標楷體" pitchFamily="65" charset="-120"/>
              </a:rPr>
              <a:t>(</a:t>
            </a:r>
            <a:r>
              <a:rPr lang="zh-TW" altLang="en-US" sz="2400" dirty="0">
                <a:latin typeface="Times New Roman" pitchFamily="18" charset="0"/>
                <a:ea typeface="標楷體" pitchFamily="65" charset="-120"/>
              </a:rPr>
              <a:t>概念</a:t>
            </a:r>
            <a:r>
              <a:rPr lang="en-US" altLang="zh-TW" sz="2400" dirty="0">
                <a:latin typeface="Times New Roman" pitchFamily="18" charset="0"/>
                <a:ea typeface="標楷體" pitchFamily="65" charset="-120"/>
              </a:rPr>
              <a:t>)</a:t>
            </a:r>
            <a:r>
              <a:rPr lang="zh-TW" altLang="en-US" sz="2400" dirty="0">
                <a:latin typeface="Times New Roman" pitchFamily="18" charset="0"/>
                <a:ea typeface="標楷體" pitchFamily="65" charset="-120"/>
              </a:rPr>
              <a:t>、定義及命題 </a:t>
            </a:r>
            <a:r>
              <a:rPr lang="en-US" altLang="zh-TW" sz="2400" dirty="0">
                <a:latin typeface="Times New Roman" pitchFamily="18" charset="0"/>
                <a:ea typeface="標楷體" pitchFamily="65" charset="-120"/>
              </a:rPr>
              <a:t>(</a:t>
            </a:r>
            <a:r>
              <a:rPr lang="zh-TW" altLang="en-US" sz="2400" dirty="0">
                <a:latin typeface="Times New Roman" pitchFamily="18" charset="0"/>
                <a:ea typeface="標楷體" pitchFamily="65" charset="-120"/>
              </a:rPr>
              <a:t>假說</a:t>
            </a:r>
            <a:r>
              <a:rPr lang="en-US" altLang="zh-TW" sz="2400" dirty="0">
                <a:latin typeface="Times New Roman" pitchFamily="18" charset="0"/>
                <a:ea typeface="標楷體" pitchFamily="65" charset="-120"/>
              </a:rPr>
              <a:t>)</a:t>
            </a:r>
            <a:r>
              <a:rPr lang="zh-TW" altLang="en-US" sz="2400" dirty="0">
                <a:latin typeface="Times New Roman" pitchFamily="18" charset="0"/>
                <a:ea typeface="標楷體" pitchFamily="65" charset="-120"/>
              </a:rPr>
              <a:t>，並藉由描述構念、概念等變數間的關係，來提供對某自然或社會現象，一種系統性的看法，以試圖解釋或預測該現象</a:t>
            </a:r>
            <a:endParaRPr lang="en-US" altLang="zh-TW" sz="2400" dirty="0">
              <a:latin typeface="Times New Roman" pitchFamily="18" charset="0"/>
              <a:ea typeface="標楷體" pitchFamily="65" charset="-120"/>
            </a:endParaRPr>
          </a:p>
          <a:p>
            <a:pPr eaLnBrk="1" hangingPunct="1">
              <a:spcBef>
                <a:spcPts val="600"/>
              </a:spcBef>
            </a:pPr>
            <a:r>
              <a:rPr lang="zh-TW" altLang="en-US" sz="2400" dirty="0">
                <a:latin typeface="Times New Roman" pitchFamily="18" charset="0"/>
                <a:ea typeface="標楷體" pitchFamily="65" charset="-120"/>
              </a:rPr>
              <a:t>簡單說，理論是：</a:t>
            </a:r>
            <a:endParaRPr lang="en-US" altLang="zh-TW" sz="24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對</a:t>
            </a:r>
            <a:r>
              <a:rPr lang="zh-TW" altLang="en-US" sz="2000" b="1" u="sng" dirty="0">
                <a:latin typeface="Times New Roman" pitchFamily="18" charset="0"/>
                <a:ea typeface="標楷體" pitchFamily="65" charset="-120"/>
              </a:rPr>
              <a:t>事物間因果關係</a:t>
            </a:r>
            <a:r>
              <a:rPr lang="zh-TW" altLang="en-US" sz="2000" dirty="0">
                <a:latin typeface="Times New Roman" pitchFamily="18" charset="0"/>
                <a:ea typeface="標楷體" pitchFamily="65" charset="-120"/>
              </a:rPr>
              <a:t>的一種看法或猜測</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看法或猜測</a:t>
            </a:r>
            <a:r>
              <a:rPr lang="en-US" altLang="zh-TW" sz="1800" dirty="0">
                <a:latin typeface="Times New Roman" pitchFamily="18" charset="0"/>
                <a:ea typeface="標楷體" pitchFamily="65" charset="-120"/>
              </a:rPr>
              <a:t>【</a:t>
            </a:r>
            <a:r>
              <a:rPr lang="zh-TW" altLang="en-US" sz="1800" dirty="0">
                <a:latin typeface="Times New Roman" pitchFamily="18" charset="0"/>
                <a:ea typeface="標楷體" pitchFamily="65" charset="-120"/>
              </a:rPr>
              <a:t>就是所謂的</a:t>
            </a:r>
            <a:r>
              <a:rPr lang="zh-TW" altLang="en-US" sz="1800" b="1" u="sng" dirty="0">
                <a:latin typeface="Times New Roman" pitchFamily="18" charset="0"/>
                <a:ea typeface="標楷體" pitchFamily="65" charset="-120"/>
              </a:rPr>
              <a:t>理論</a:t>
            </a:r>
            <a:r>
              <a:rPr lang="en-US" altLang="zh-TW" sz="1800" dirty="0">
                <a:latin typeface="Times New Roman" pitchFamily="18" charset="0"/>
                <a:ea typeface="標楷體" pitchFamily="65" charset="-120"/>
              </a:rPr>
              <a:t>】</a:t>
            </a:r>
            <a:r>
              <a:rPr lang="zh-TW" altLang="en-US" sz="2000" dirty="0">
                <a:latin typeface="Times New Roman" pitchFamily="18" charset="0"/>
                <a:ea typeface="標楷體" pitchFamily="65" charset="-120"/>
              </a:rPr>
              <a:t>的正確性？有待驗證</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驗證結果可能對，也可能錯</a:t>
            </a:r>
            <a:r>
              <a:rPr lang="en-US" altLang="zh-TW" sz="1800" dirty="0">
                <a:latin typeface="Times New Roman" pitchFamily="18" charset="0"/>
                <a:ea typeface="標楷體" pitchFamily="65" charset="-120"/>
              </a:rPr>
              <a:t>【</a:t>
            </a:r>
            <a:r>
              <a:rPr lang="zh-TW" altLang="en-US" sz="1800" dirty="0">
                <a:latin typeface="Times New Roman" pitchFamily="18" charset="0"/>
                <a:ea typeface="標楷體" pitchFamily="65" charset="-120"/>
              </a:rPr>
              <a:t>理論的正確與否</a:t>
            </a:r>
            <a:r>
              <a:rPr lang="en-US" altLang="zh-TW" sz="1800" dirty="0">
                <a:latin typeface="Times New Roman" pitchFamily="18" charset="0"/>
                <a:ea typeface="標楷體" pitchFamily="65" charset="-120"/>
              </a:rPr>
              <a:t>】</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即便驗證為對，也無法保證永遠為對</a:t>
            </a:r>
            <a:r>
              <a:rPr lang="en-US" altLang="zh-TW" sz="1800" dirty="0">
                <a:latin typeface="Times New Roman" pitchFamily="18" charset="0"/>
                <a:ea typeface="標楷體" pitchFamily="65" charset="-120"/>
              </a:rPr>
              <a:t>【</a:t>
            </a:r>
            <a:r>
              <a:rPr lang="zh-TW" altLang="en-US" sz="1800" dirty="0">
                <a:latin typeface="Times New Roman" pitchFamily="18" charset="0"/>
                <a:ea typeface="標楷體" pitchFamily="65" charset="-120"/>
              </a:rPr>
              <a:t>所有理論皆有其疆界</a:t>
            </a:r>
            <a:r>
              <a:rPr lang="en-US" altLang="zh-TW" sz="1800" dirty="0">
                <a:latin typeface="Times New Roman" pitchFamily="18" charset="0"/>
                <a:ea typeface="標楷體" pitchFamily="65" charset="-120"/>
              </a:rPr>
              <a:t>】</a:t>
            </a:r>
            <a:endParaRPr lang="en-US" altLang="zh-TW" sz="2000" dirty="0">
              <a:latin typeface="Times New Roman" pitchFamily="18" charset="0"/>
              <a:ea typeface="標楷體" pitchFamily="65" charset="-120"/>
            </a:endParaRPr>
          </a:p>
        </p:txBody>
      </p:sp>
      <p:sp>
        <p:nvSpPr>
          <p:cNvPr id="74756" name="投影片編號版面配置區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4B936639-94F1-4F32-BA94-8A09F2FE2141}" type="slidenum">
              <a:rPr kumimoji="0" lang="en-US" altLang="zh-TW" sz="1400">
                <a:latin typeface="Times New Roman" pitchFamily="18" charset="0"/>
              </a:rPr>
              <a:pPr/>
              <a:t>15</a:t>
            </a:fld>
            <a:endParaRPr kumimoji="0" lang="en-US" altLang="zh-TW" sz="1400" dirty="0">
              <a:latin typeface="Times New Roman" pitchFamily="18" charset="0"/>
            </a:endParaRPr>
          </a:p>
        </p:txBody>
      </p:sp>
      <p:pic>
        <p:nvPicPr>
          <p:cNvPr id="8" name="圖片 7">
            <a:extLst>
              <a:ext uri="{FF2B5EF4-FFF2-40B4-BE49-F238E27FC236}">
                <a16:creationId xmlns:a16="http://schemas.microsoft.com/office/drawing/2014/main" id="{454F2F03-3AEF-45D9-87C6-43A006BA8286}"/>
              </a:ext>
            </a:extLst>
          </p:cNvPr>
          <p:cNvPicPr>
            <a:picLocks noChangeAspect="1"/>
          </p:cNvPicPr>
          <p:nvPr/>
        </p:nvPicPr>
        <p:blipFill>
          <a:blip r:embed="rId3"/>
          <a:stretch>
            <a:fillRect/>
          </a:stretch>
        </p:blipFill>
        <p:spPr>
          <a:xfrm>
            <a:off x="5984697" y="151135"/>
            <a:ext cx="6096000" cy="838651"/>
          </a:xfrm>
          <a:prstGeom prst="rect">
            <a:avLst/>
          </a:prstGeom>
          <a:ln>
            <a:solidFill>
              <a:srgbClr val="FF0000"/>
            </a:solidFill>
          </a:ln>
        </p:spPr>
      </p:pic>
      <p:sp>
        <p:nvSpPr>
          <p:cNvPr id="2" name="文字方塊 1">
            <a:extLst>
              <a:ext uri="{FF2B5EF4-FFF2-40B4-BE49-F238E27FC236}">
                <a16:creationId xmlns:a16="http://schemas.microsoft.com/office/drawing/2014/main" id="{C7D434BA-3FF1-48CD-A0BF-37AA916D2433}"/>
              </a:ext>
            </a:extLst>
          </p:cNvPr>
          <p:cNvSpPr txBox="1"/>
          <p:nvPr/>
        </p:nvSpPr>
        <p:spPr>
          <a:xfrm rot="21480000">
            <a:off x="3783815" y="1246552"/>
            <a:ext cx="6335649" cy="338554"/>
          </a:xfrm>
          <a:prstGeom prst="rect">
            <a:avLst/>
          </a:prstGeom>
          <a:solidFill>
            <a:schemeClr val="bg1">
              <a:lumMod val="95000"/>
            </a:schemeClr>
          </a:solidFill>
          <a:ln w="19050">
            <a:solidFill>
              <a:srgbClr val="FF0000"/>
            </a:solidFill>
          </a:ln>
        </p:spPr>
        <p:txBody>
          <a:bodyPr wrap="square" rtlCol="0">
            <a:spAutoFit/>
          </a:bodyPr>
          <a:lstStyle/>
          <a:p>
            <a:r>
              <a:rPr lang="zh-TW" altLang="en-US" sz="1600" u="sng" dirty="0">
                <a:solidFill>
                  <a:srgbClr val="0000FF"/>
                </a:solidFill>
                <a:latin typeface="Times New Roman" pitchFamily="18" charset="0"/>
                <a:ea typeface="標楷體" pitchFamily="65" charset="-120"/>
              </a:rPr>
              <a:t>理論及假說的指引</a:t>
            </a:r>
            <a:r>
              <a:rPr lang="zh-TW" altLang="en-US" sz="1600" dirty="0">
                <a:latin typeface="Times New Roman" pitchFamily="18" charset="0"/>
                <a:ea typeface="標楷體" pitchFamily="65" charset="-120"/>
              </a:rPr>
              <a:t>？聽起來好像很有學問？但，</a:t>
            </a:r>
            <a:r>
              <a:rPr lang="zh-TW" altLang="en-US" sz="1600" u="sng" dirty="0">
                <a:latin typeface="Times New Roman" pitchFamily="18" charset="0"/>
                <a:ea typeface="標楷體" pitchFamily="65" charset="-120"/>
              </a:rPr>
              <a:t>理論</a:t>
            </a:r>
            <a:r>
              <a:rPr lang="zh-TW" altLang="en-US" sz="1600" dirty="0">
                <a:latin typeface="Times New Roman" pitchFamily="18" charset="0"/>
                <a:ea typeface="標楷體" pitchFamily="65" charset="-120"/>
              </a:rPr>
              <a:t>或</a:t>
            </a:r>
            <a:r>
              <a:rPr lang="zh-TW" altLang="en-US" sz="1600" u="sng" dirty="0">
                <a:latin typeface="Times New Roman" pitchFamily="18" charset="0"/>
                <a:ea typeface="標楷體" pitchFamily="65" charset="-120"/>
              </a:rPr>
              <a:t>假說</a:t>
            </a:r>
            <a:r>
              <a:rPr lang="zh-TW" altLang="en-US" sz="1600" dirty="0">
                <a:latin typeface="Times New Roman" pitchFamily="18" charset="0"/>
                <a:ea typeface="標楷體" pitchFamily="65" charset="-120"/>
              </a:rPr>
              <a:t>是什麼？</a:t>
            </a:r>
          </a:p>
        </p:txBody>
      </p:sp>
    </p:spTree>
    <p:extLst>
      <p:ext uri="{BB962C8B-B14F-4D97-AF65-F5344CB8AC3E}">
        <p14:creationId xmlns:p14="http://schemas.microsoft.com/office/powerpoint/2010/main" val="13252177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fade">
                                      <p:cBhvr>
                                        <p:cTn id="7" dur="500"/>
                                        <p:tgtEl>
                                          <p:spTgt spid="7475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4755">
                                            <p:txEl>
                                              <p:pRg st="1" end="1"/>
                                            </p:txEl>
                                          </p:spTgt>
                                        </p:tgtEl>
                                        <p:attrNameLst>
                                          <p:attrName>style.visibility</p:attrName>
                                        </p:attrNameLst>
                                      </p:cBhvr>
                                      <p:to>
                                        <p:strVal val="visible"/>
                                      </p:to>
                                    </p:set>
                                    <p:animEffect transition="in" filter="fade">
                                      <p:cBhvr>
                                        <p:cTn id="16" dur="500"/>
                                        <p:tgtEl>
                                          <p:spTgt spid="7475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4755">
                                            <p:txEl>
                                              <p:pRg st="2" end="2"/>
                                            </p:txEl>
                                          </p:spTgt>
                                        </p:tgtEl>
                                        <p:attrNameLst>
                                          <p:attrName>style.visibility</p:attrName>
                                        </p:attrNameLst>
                                      </p:cBhvr>
                                      <p:to>
                                        <p:strVal val="visible"/>
                                      </p:to>
                                    </p:set>
                                    <p:animEffect transition="in" filter="fade">
                                      <p:cBhvr>
                                        <p:cTn id="21" dur="500"/>
                                        <p:tgtEl>
                                          <p:spTgt spid="7475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4755">
                                            <p:txEl>
                                              <p:pRg st="3" end="3"/>
                                            </p:txEl>
                                          </p:spTgt>
                                        </p:tgtEl>
                                        <p:attrNameLst>
                                          <p:attrName>style.visibility</p:attrName>
                                        </p:attrNameLst>
                                      </p:cBhvr>
                                      <p:to>
                                        <p:strVal val="visible"/>
                                      </p:to>
                                    </p:set>
                                    <p:animEffect transition="in" filter="fade">
                                      <p:cBhvr>
                                        <p:cTn id="26" dur="500"/>
                                        <p:tgtEl>
                                          <p:spTgt spid="7475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4755">
                                            <p:txEl>
                                              <p:pRg st="4" end="4"/>
                                            </p:txEl>
                                          </p:spTgt>
                                        </p:tgtEl>
                                        <p:attrNameLst>
                                          <p:attrName>style.visibility</p:attrName>
                                        </p:attrNameLst>
                                      </p:cBhvr>
                                      <p:to>
                                        <p:strVal val="visible"/>
                                      </p:to>
                                    </p:set>
                                    <p:animEffect transition="in" filter="fade">
                                      <p:cBhvr>
                                        <p:cTn id="31" dur="500"/>
                                        <p:tgtEl>
                                          <p:spTgt spid="74755">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4755">
                                            <p:txEl>
                                              <p:pRg st="5" end="5"/>
                                            </p:txEl>
                                          </p:spTgt>
                                        </p:tgtEl>
                                        <p:attrNameLst>
                                          <p:attrName>style.visibility</p:attrName>
                                        </p:attrNameLst>
                                      </p:cBhvr>
                                      <p:to>
                                        <p:strVal val="visible"/>
                                      </p:to>
                                    </p:set>
                                    <p:animEffect transition="in" filter="fade">
                                      <p:cBhvr>
                                        <p:cTn id="36" dur="500"/>
                                        <p:tgtEl>
                                          <p:spTgt spid="74755">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4755">
                                            <p:txEl>
                                              <p:pRg st="6" end="6"/>
                                            </p:txEl>
                                          </p:spTgt>
                                        </p:tgtEl>
                                        <p:attrNameLst>
                                          <p:attrName>style.visibility</p:attrName>
                                        </p:attrNameLst>
                                      </p:cBhvr>
                                      <p:to>
                                        <p:strVal val="visible"/>
                                      </p:to>
                                    </p:set>
                                    <p:animEffect transition="in" filter="fade">
                                      <p:cBhvr>
                                        <p:cTn id="41" dur="500"/>
                                        <p:tgtEl>
                                          <p:spTgt spid="74755">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4755">
                                            <p:txEl>
                                              <p:pRg st="7" end="7"/>
                                            </p:txEl>
                                          </p:spTgt>
                                        </p:tgtEl>
                                        <p:attrNameLst>
                                          <p:attrName>style.visibility</p:attrName>
                                        </p:attrNameLst>
                                      </p:cBhvr>
                                      <p:to>
                                        <p:strVal val="visible"/>
                                      </p:to>
                                    </p:set>
                                    <p:animEffect transition="in" filter="fade">
                                      <p:cBhvr>
                                        <p:cTn id="46" dur="500"/>
                                        <p:tgtEl>
                                          <p:spTgt spid="747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uiExpand="1" build="p"/>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CCDE1C57-5180-408E-9570-3364F561DE52}" type="slidenum">
              <a:rPr kumimoji="0" lang="en-US" altLang="zh-TW" sz="1400">
                <a:latin typeface="Times New Roman" pitchFamily="18" charset="0"/>
              </a:rPr>
              <a:pPr/>
              <a:t>16</a:t>
            </a:fld>
            <a:endParaRPr kumimoji="0" lang="en-US" altLang="zh-TW" sz="1400">
              <a:latin typeface="Times New Roman" pitchFamily="18" charset="0"/>
            </a:endParaRPr>
          </a:p>
        </p:txBody>
      </p:sp>
      <p:sp>
        <p:nvSpPr>
          <p:cNvPr id="10242" name="Rectangle 2"/>
          <p:cNvSpPr>
            <a:spLocks noGrp="1" noChangeArrowheads="1"/>
          </p:cNvSpPr>
          <p:nvPr>
            <p:ph type="title" idx="4294967295"/>
          </p:nvPr>
        </p:nvSpPr>
        <p:spPr>
          <a:xfrm>
            <a:off x="1801813" y="214313"/>
            <a:ext cx="10390187" cy="1054100"/>
          </a:xfrm>
        </p:spPr>
        <p:txBody>
          <a:bodyPr/>
          <a:lstStyle/>
          <a:p>
            <a:pPr eaLnBrk="1" hangingPunct="1"/>
            <a:r>
              <a:rPr lang="zh-TW" altLang="en-US" sz="3600" u="sng" dirty="0">
                <a:solidFill>
                  <a:schemeClr val="tx1"/>
                </a:solidFill>
                <a:latin typeface="Times New Roman" pitchFamily="18" charset="0"/>
                <a:ea typeface="標楷體" pitchFamily="65" charset="-120"/>
              </a:rPr>
              <a:t>研究</a:t>
            </a:r>
            <a:r>
              <a:rPr lang="zh-TW" altLang="en-US" sz="3600" dirty="0">
                <a:solidFill>
                  <a:schemeClr val="tx1"/>
                </a:solidFill>
                <a:latin typeface="Times New Roman" pitchFamily="18" charset="0"/>
                <a:ea typeface="標楷體" pitchFamily="65" charset="-120"/>
              </a:rPr>
              <a:t>和</a:t>
            </a:r>
            <a:r>
              <a:rPr lang="zh-TW" altLang="en-US" sz="3600" u="sng" dirty="0">
                <a:solidFill>
                  <a:schemeClr val="tx1"/>
                </a:solidFill>
                <a:latin typeface="Times New Roman" pitchFamily="18" charset="0"/>
                <a:ea typeface="標楷體" pitchFamily="65" charset="-120"/>
              </a:rPr>
              <a:t>理論</a:t>
            </a:r>
            <a:r>
              <a:rPr lang="zh-TW" altLang="en-US" sz="3600" dirty="0">
                <a:solidFill>
                  <a:schemeClr val="tx1"/>
                </a:solidFill>
                <a:latin typeface="Times New Roman" pitchFamily="18" charset="0"/>
                <a:ea typeface="標楷體" pitchFamily="65" charset="-120"/>
              </a:rPr>
              <a:t>有何關係？</a:t>
            </a:r>
            <a:endParaRPr lang="zh-TW" altLang="en-US" sz="2400" dirty="0">
              <a:solidFill>
                <a:schemeClr val="tx1"/>
              </a:solidFill>
              <a:latin typeface="Times New Roman" pitchFamily="18" charset="0"/>
              <a:ea typeface="標楷體" pitchFamily="65" charset="-120"/>
            </a:endParaRPr>
          </a:p>
        </p:txBody>
      </p:sp>
      <p:sp>
        <p:nvSpPr>
          <p:cNvPr id="5123" name="Rectangle 3"/>
          <p:cNvSpPr>
            <a:spLocks noGrp="1" noChangeArrowheads="1"/>
          </p:cNvSpPr>
          <p:nvPr>
            <p:ph type="body" idx="4294967295"/>
          </p:nvPr>
        </p:nvSpPr>
        <p:spPr>
          <a:xfrm>
            <a:off x="0" y="1574800"/>
            <a:ext cx="11298238" cy="4608513"/>
          </a:xfrm>
        </p:spPr>
        <p:txBody>
          <a:bodyPr>
            <a:normAutofit/>
          </a:bodyPr>
          <a:lstStyle/>
          <a:p>
            <a:pPr marL="342900" lvl="1" indent="-342900" eaLnBrk="1" hangingPunct="1">
              <a:lnSpc>
                <a:spcPct val="90000"/>
              </a:lnSpc>
              <a:spcBef>
                <a:spcPts val="1200"/>
              </a:spcBef>
              <a:buClr>
                <a:schemeClr val="folHlink"/>
              </a:buClr>
              <a:buSzPct val="60000"/>
              <a:buFont typeface="Wingdings" pitchFamily="2" charset="2"/>
              <a:buChar char="l"/>
            </a:pPr>
            <a:r>
              <a:rPr lang="en-US" altLang="zh-TW" sz="2000" dirty="0">
                <a:latin typeface="Times New Roman" pitchFamily="18" charset="0"/>
                <a:ea typeface="標楷體" pitchFamily="65" charset="-120"/>
              </a:rPr>
              <a:t>…</a:t>
            </a:r>
          </a:p>
          <a:p>
            <a:pPr marL="342900" lvl="1" indent="-342900" eaLnBrk="1" hangingPunct="1">
              <a:lnSpc>
                <a:spcPct val="90000"/>
              </a:lnSpc>
              <a:spcBef>
                <a:spcPts val="1200"/>
              </a:spcBef>
              <a:buClr>
                <a:schemeClr val="folHlink"/>
              </a:buClr>
              <a:buSzPct val="60000"/>
              <a:buFont typeface="Wingdings" pitchFamily="2" charset="2"/>
              <a:buChar char="l"/>
            </a:pPr>
            <a:r>
              <a:rPr lang="en-US" altLang="zh-TW" sz="2200" dirty="0">
                <a:latin typeface="Times New Roman" pitchFamily="18" charset="0"/>
                <a:ea typeface="標楷體" pitchFamily="65" charset="-120"/>
              </a:rPr>
              <a:t>If we see an organization doing well, we want to reproduce the success; </a:t>
            </a:r>
            <a:br>
              <a:rPr lang="en-US" altLang="zh-TW" sz="2200" dirty="0">
                <a:latin typeface="Times New Roman" pitchFamily="18" charset="0"/>
                <a:ea typeface="標楷體" pitchFamily="65" charset="-120"/>
              </a:rPr>
            </a:br>
            <a:r>
              <a:rPr lang="en-US" altLang="zh-TW" sz="2200" dirty="0">
                <a:latin typeface="Times New Roman" pitchFamily="18" charset="0"/>
                <a:ea typeface="標楷體" pitchFamily="65" charset="-120"/>
              </a:rPr>
              <a:t>if we see one doing poorly, we want to prevent failure. </a:t>
            </a:r>
          </a:p>
          <a:p>
            <a:pPr marL="342900" lvl="1" indent="-342900" eaLnBrk="1" hangingPunct="1">
              <a:lnSpc>
                <a:spcPct val="90000"/>
              </a:lnSpc>
              <a:spcBef>
                <a:spcPts val="900"/>
              </a:spcBef>
              <a:buClr>
                <a:schemeClr val="folHlink"/>
              </a:buClr>
              <a:buSzPct val="60000"/>
              <a:buFont typeface="Wingdings" pitchFamily="2" charset="2"/>
              <a:buChar char="l"/>
            </a:pPr>
            <a:r>
              <a:rPr lang="zh-TW" altLang="en-US" sz="2200" dirty="0">
                <a:solidFill>
                  <a:srgbClr val="0000FF"/>
                </a:solidFill>
                <a:latin typeface="Times New Roman" pitchFamily="18" charset="0"/>
                <a:ea typeface="標楷體" pitchFamily="65" charset="-120"/>
              </a:rPr>
              <a:t>看到好的，我們想學；看到不好的，我們想避開！</a:t>
            </a:r>
            <a:endParaRPr lang="en-US" altLang="zh-TW" sz="1600" dirty="0">
              <a:solidFill>
                <a:srgbClr val="0000FF"/>
              </a:solidFill>
              <a:latin typeface="Times New Roman" pitchFamily="18" charset="0"/>
              <a:ea typeface="標楷體" pitchFamily="65" charset="-120"/>
            </a:endParaRPr>
          </a:p>
          <a:p>
            <a:pPr marL="342900" lvl="1" indent="-342900" eaLnBrk="1" hangingPunct="1">
              <a:lnSpc>
                <a:spcPct val="90000"/>
              </a:lnSpc>
              <a:spcBef>
                <a:spcPts val="300"/>
              </a:spcBef>
              <a:buClr>
                <a:schemeClr val="folHlink"/>
              </a:buClr>
              <a:buSzPct val="60000"/>
              <a:buFont typeface="Wingdings" pitchFamily="2" charset="2"/>
              <a:buChar char="l"/>
            </a:pPr>
            <a:r>
              <a:rPr lang="zh-TW" altLang="en-US" sz="2200" dirty="0">
                <a:solidFill>
                  <a:srgbClr val="0000FF"/>
                </a:solidFill>
                <a:latin typeface="Times New Roman" pitchFamily="18" charset="0"/>
                <a:ea typeface="標楷體" pitchFamily="65" charset="-120"/>
              </a:rPr>
              <a:t>為何他</a:t>
            </a:r>
            <a:r>
              <a:rPr lang="en-US" altLang="zh-TW" sz="1800" dirty="0">
                <a:solidFill>
                  <a:srgbClr val="0000FF"/>
                </a:solidFill>
                <a:latin typeface="Times New Roman" pitchFamily="18" charset="0"/>
                <a:ea typeface="標楷體" pitchFamily="65" charset="-120"/>
              </a:rPr>
              <a:t>【</a:t>
            </a:r>
            <a:r>
              <a:rPr lang="zh-TW" altLang="en-US" sz="1800" dirty="0">
                <a:solidFill>
                  <a:srgbClr val="0000FF"/>
                </a:solidFill>
                <a:latin typeface="Times New Roman" pitchFamily="18" charset="0"/>
                <a:ea typeface="標楷體" pitchFamily="65" charset="-120"/>
              </a:rPr>
              <a:t>她、它</a:t>
            </a:r>
            <a:r>
              <a:rPr lang="en-US" altLang="zh-TW" sz="1800" dirty="0">
                <a:solidFill>
                  <a:srgbClr val="0000FF"/>
                </a:solidFill>
                <a:latin typeface="Times New Roman" pitchFamily="18" charset="0"/>
                <a:ea typeface="標楷體" pitchFamily="65" charset="-120"/>
              </a:rPr>
              <a:t>】</a:t>
            </a:r>
            <a:r>
              <a:rPr lang="zh-TW" altLang="en-US" sz="2200" dirty="0">
                <a:solidFill>
                  <a:srgbClr val="0000FF"/>
                </a:solidFill>
                <a:latin typeface="Times New Roman" pitchFamily="18" charset="0"/>
                <a:ea typeface="標楷體" pitchFamily="65" charset="-120"/>
              </a:rPr>
              <a:t>好？為何他不好？</a:t>
            </a:r>
            <a:r>
              <a:rPr lang="en-US" altLang="zh-TW" sz="1800" dirty="0">
                <a:solidFill>
                  <a:srgbClr val="0000FF"/>
                </a:solidFill>
                <a:latin typeface="Times New Roman" pitchFamily="18" charset="0"/>
                <a:ea typeface="標楷體" pitchFamily="65" charset="-120"/>
              </a:rPr>
              <a:t>【</a:t>
            </a:r>
            <a:r>
              <a:rPr lang="zh-TW" altLang="en-US" sz="1800" dirty="0">
                <a:solidFill>
                  <a:srgbClr val="0000FF"/>
                </a:solidFill>
                <a:latin typeface="Times New Roman" pitchFamily="18" charset="0"/>
                <a:ea typeface="標楷體" pitchFamily="65" charset="-120"/>
              </a:rPr>
              <a:t>為何他是這樣，而不是那樣？</a:t>
            </a:r>
            <a:r>
              <a:rPr lang="en-US" altLang="zh-TW" sz="1800" dirty="0">
                <a:solidFill>
                  <a:srgbClr val="0000FF"/>
                </a:solidFill>
                <a:latin typeface="Times New Roman" pitchFamily="18" charset="0"/>
                <a:ea typeface="標楷體" pitchFamily="65" charset="-120"/>
              </a:rPr>
              <a:t>】</a:t>
            </a:r>
            <a:endParaRPr lang="en-US" altLang="zh-TW" sz="1600" dirty="0">
              <a:solidFill>
                <a:srgbClr val="0000FF"/>
              </a:solidFill>
              <a:latin typeface="Times New Roman" pitchFamily="18" charset="0"/>
              <a:ea typeface="標楷體" pitchFamily="65" charset="-120"/>
            </a:endParaRPr>
          </a:p>
          <a:p>
            <a:pPr lvl="1" eaLnBrk="1" hangingPunct="1">
              <a:lnSpc>
                <a:spcPct val="90000"/>
              </a:lnSpc>
            </a:pPr>
            <a:r>
              <a:rPr lang="en-US" altLang="zh-TW" sz="1800" dirty="0">
                <a:latin typeface="Times New Roman" pitchFamily="18" charset="0"/>
                <a:ea typeface="標楷體" pitchFamily="65" charset="-120"/>
              </a:rPr>
              <a:t>Either way, we need …</a:t>
            </a:r>
          </a:p>
          <a:p>
            <a:pPr lvl="1" eaLnBrk="1" hangingPunct="1">
              <a:lnSpc>
                <a:spcPct val="90000"/>
              </a:lnSpc>
            </a:pPr>
            <a:r>
              <a:rPr lang="en-US" altLang="zh-TW" sz="1800" dirty="0">
                <a:latin typeface="Times New Roman" pitchFamily="18" charset="0"/>
                <a:ea typeface="標楷體" pitchFamily="65" charset="-120"/>
              </a:rPr>
              <a:t>a </a:t>
            </a:r>
            <a:r>
              <a:rPr lang="en-US" altLang="zh-TW" sz="1800" b="1" dirty="0">
                <a:latin typeface="Times New Roman" pitchFamily="18" charset="0"/>
                <a:ea typeface="標楷體" pitchFamily="65" charset="-120"/>
              </a:rPr>
              <a:t>theory</a:t>
            </a:r>
            <a:r>
              <a:rPr lang="en-US" altLang="zh-TW" sz="1800" dirty="0">
                <a:latin typeface="Times New Roman" pitchFamily="18" charset="0"/>
                <a:ea typeface="標楷體" pitchFamily="65" charset="-120"/>
              </a:rPr>
              <a:t>—an explanation of what is causing the observed outcomes.</a:t>
            </a:r>
          </a:p>
          <a:p>
            <a:pPr marL="623888" lvl="1" indent="0" eaLnBrk="1" hangingPunct="1">
              <a:lnSpc>
                <a:spcPct val="90000"/>
              </a:lnSpc>
              <a:buNone/>
            </a:pPr>
            <a:r>
              <a:rPr lang="en-US" altLang="zh-TW" sz="1600" dirty="0">
                <a:latin typeface="Times New Roman" pitchFamily="18" charset="0"/>
                <a:ea typeface="標楷體" pitchFamily="65" charset="-120"/>
              </a:rPr>
              <a:t>【AMR-Pentland_1999_Building process theory with narrative: </a:t>
            </a:r>
            <a:r>
              <a:rPr lang="en-US" altLang="zh-TW" sz="1600" dirty="0">
                <a:solidFill>
                  <a:srgbClr val="0000FF"/>
                </a:solidFill>
                <a:latin typeface="Times New Roman" pitchFamily="18" charset="0"/>
                <a:ea typeface="標楷體" pitchFamily="65" charset="-120"/>
              </a:rPr>
              <a:t>from description to explanation</a:t>
            </a:r>
            <a:r>
              <a:rPr lang="en-US" altLang="zh-TW" sz="1600" dirty="0">
                <a:latin typeface="Times New Roman" pitchFamily="18" charset="0"/>
                <a:ea typeface="標楷體" pitchFamily="65" charset="-120"/>
              </a:rPr>
              <a:t>】</a:t>
            </a:r>
          </a:p>
          <a:p>
            <a:pPr marL="342900" lvl="1" indent="-342900" eaLnBrk="1" hangingPunct="1">
              <a:lnSpc>
                <a:spcPct val="90000"/>
              </a:lnSpc>
              <a:spcBef>
                <a:spcPts val="900"/>
              </a:spcBef>
              <a:buClr>
                <a:schemeClr val="folHlink"/>
              </a:buClr>
              <a:buSzPct val="60000"/>
              <a:buFont typeface="Wingdings" pitchFamily="2" charset="2"/>
              <a:buChar char="l"/>
            </a:pPr>
            <a:r>
              <a:rPr lang="zh-TW" altLang="en-US" sz="2200" dirty="0">
                <a:latin typeface="Times New Roman" pitchFamily="18" charset="0"/>
                <a:ea typeface="標楷體" pitchFamily="65" charset="-120"/>
              </a:rPr>
              <a:t>也可說，</a:t>
            </a:r>
            <a:r>
              <a:rPr lang="zh-TW" altLang="en-US" sz="2200" b="1" u="sng" dirty="0">
                <a:solidFill>
                  <a:srgbClr val="FF0000"/>
                </a:solidFill>
                <a:latin typeface="Times New Roman" pitchFamily="18" charset="0"/>
                <a:ea typeface="標楷體" pitchFamily="65" charset="-120"/>
              </a:rPr>
              <a:t>研究</a:t>
            </a:r>
            <a:r>
              <a:rPr lang="zh-TW" altLang="en-US" sz="2200" dirty="0">
                <a:latin typeface="Times New Roman" pitchFamily="18" charset="0"/>
                <a:ea typeface="標楷體" pitchFamily="65" charset="-120"/>
              </a:rPr>
              <a:t>是</a:t>
            </a:r>
            <a:r>
              <a:rPr lang="zh-TW" altLang="en-US" sz="2200" u="sng" dirty="0">
                <a:latin typeface="Times New Roman" pitchFamily="18" charset="0"/>
                <a:ea typeface="標楷體" pitchFamily="65" charset="-120"/>
              </a:rPr>
              <a:t>理論</a:t>
            </a:r>
            <a:r>
              <a:rPr lang="zh-TW" altLang="en-US" sz="2200" dirty="0">
                <a:latin typeface="Times New Roman" pitchFamily="18" charset="0"/>
                <a:ea typeface="標楷體" pitchFamily="65" charset="-120"/>
              </a:rPr>
              <a:t>建構 </a:t>
            </a:r>
            <a:r>
              <a:rPr lang="en-US" altLang="zh-TW" sz="2200" dirty="0">
                <a:latin typeface="Times New Roman" pitchFamily="18" charset="0"/>
                <a:ea typeface="標楷體" pitchFamily="65" charset="-120"/>
              </a:rPr>
              <a:t>Theorizing</a:t>
            </a:r>
            <a:r>
              <a:rPr lang="zh-TW" altLang="en-US" sz="2200" dirty="0">
                <a:latin typeface="Times New Roman" pitchFamily="18" charset="0"/>
                <a:ea typeface="標楷體" pitchFamily="65" charset="-120"/>
              </a:rPr>
              <a:t> 的過程</a:t>
            </a:r>
            <a:r>
              <a:rPr lang="en-US" altLang="zh-TW" sz="1800" dirty="0">
                <a:latin typeface="Times New Roman" pitchFamily="18" charset="0"/>
                <a:ea typeface="標楷體" pitchFamily="65" charset="-120"/>
              </a:rPr>
              <a:t>【</a:t>
            </a:r>
            <a:r>
              <a:rPr lang="zh-TW" altLang="en-US" sz="1800" u="sng" dirty="0">
                <a:latin typeface="Times New Roman" pitchFamily="18" charset="0"/>
                <a:ea typeface="標楷體" pitchFamily="65" charset="-120"/>
              </a:rPr>
              <a:t>實體事物</a:t>
            </a:r>
            <a:r>
              <a:rPr lang="zh-TW" altLang="en-US" sz="1800" dirty="0">
                <a:latin typeface="Times New Roman" pitchFamily="18" charset="0"/>
                <a:ea typeface="標楷體" pitchFamily="65" charset="-120"/>
              </a:rPr>
              <a:t>與</a:t>
            </a:r>
            <a:r>
              <a:rPr lang="zh-TW" altLang="en-US" sz="1800" u="sng" dirty="0">
                <a:latin typeface="Times New Roman" pitchFamily="18" charset="0"/>
                <a:ea typeface="標楷體" pitchFamily="65" charset="-120"/>
              </a:rPr>
              <a:t>抽象概念</a:t>
            </a:r>
            <a:r>
              <a:rPr lang="zh-TW" altLang="en-US" sz="1800" dirty="0">
                <a:latin typeface="Times New Roman" pitchFamily="18" charset="0"/>
                <a:ea typeface="標楷體" pitchFamily="65" charset="-120"/>
              </a:rPr>
              <a:t>間的</a:t>
            </a:r>
            <a:r>
              <a:rPr lang="zh-TW" altLang="en-US" sz="1800" dirty="0">
                <a:solidFill>
                  <a:srgbClr val="0000FF"/>
                </a:solidFill>
                <a:latin typeface="Times New Roman" pitchFamily="18" charset="0"/>
                <a:ea typeface="標楷體" pitchFamily="65" charset="-120"/>
              </a:rPr>
              <a:t>思維旅程</a:t>
            </a:r>
            <a:r>
              <a:rPr lang="en-US" altLang="zh-TW" sz="1800" dirty="0">
                <a:latin typeface="Times New Roman" pitchFamily="18" charset="0"/>
                <a:ea typeface="標楷體" pitchFamily="65" charset="-120"/>
              </a:rPr>
              <a:t>】</a:t>
            </a:r>
            <a:endParaRPr lang="en-US" altLang="zh-TW" sz="2000" dirty="0">
              <a:latin typeface="Times New Roman" pitchFamily="18" charset="0"/>
              <a:ea typeface="標楷體" pitchFamily="65" charset="-120"/>
            </a:endParaRPr>
          </a:p>
          <a:p>
            <a:pPr lvl="1"/>
            <a:r>
              <a:rPr lang="en-US" altLang="zh-TW" sz="1800" b="1" dirty="0">
                <a:latin typeface="Times New Roman" panose="02020603050405020304" pitchFamily="18" charset="0"/>
                <a:ea typeface="標楷體" panose="03000509000000000000" pitchFamily="65" charset="-120"/>
              </a:rPr>
              <a:t>Theorizing</a:t>
            </a:r>
            <a:r>
              <a:rPr lang="en-US" altLang="zh-TW" sz="1800" dirty="0">
                <a:latin typeface="Times New Roman" panose="02020603050405020304" pitchFamily="18" charset="0"/>
                <a:ea typeface="標楷體" panose="03000509000000000000" pitchFamily="65" charset="-120"/>
              </a:rPr>
              <a:t> takes scientists on </a:t>
            </a:r>
            <a:r>
              <a:rPr lang="en-US" altLang="zh-TW" sz="1800" dirty="0">
                <a:solidFill>
                  <a:srgbClr val="0000FF"/>
                </a:solidFill>
                <a:latin typeface="Times New Roman" pitchFamily="18" charset="0"/>
                <a:ea typeface="標楷體" pitchFamily="65" charset="-120"/>
              </a:rPr>
              <a:t>mental journeys</a:t>
            </a:r>
            <a:r>
              <a:rPr lang="en-US" altLang="zh-TW" sz="1800" dirty="0">
                <a:latin typeface="Times New Roman" panose="02020603050405020304" pitchFamily="18" charset="0"/>
                <a:ea typeface="標楷體" panose="03000509000000000000" pitchFamily="65" charset="-120"/>
              </a:rPr>
              <a:t> between the world of observed events, such as </a:t>
            </a:r>
            <a:r>
              <a:rPr lang="en-US" altLang="zh-TW" sz="1800" u="sng" dirty="0">
                <a:latin typeface="Times New Roman" panose="02020603050405020304" pitchFamily="18" charset="0"/>
                <a:ea typeface="標楷體" panose="03000509000000000000" pitchFamily="65" charset="-120"/>
              </a:rPr>
              <a:t>falling apples</a:t>
            </a:r>
            <a:r>
              <a:rPr lang="en-US" altLang="zh-TW" sz="1800" dirty="0">
                <a:latin typeface="Times New Roman" panose="02020603050405020304" pitchFamily="18" charset="0"/>
                <a:ea typeface="標楷體" panose="03000509000000000000" pitchFamily="65" charset="-120"/>
              </a:rPr>
              <a:t>, and the imagined worlds of hypothetical concepts, such as </a:t>
            </a:r>
            <a:r>
              <a:rPr lang="en-US" altLang="zh-TW" sz="1800" u="sng" dirty="0">
                <a:latin typeface="Times New Roman" panose="02020603050405020304" pitchFamily="18" charset="0"/>
                <a:ea typeface="標楷體" panose="03000509000000000000" pitchFamily="65" charset="-120"/>
              </a:rPr>
              <a:t>gravity</a:t>
            </a:r>
            <a:r>
              <a:rPr lang="en-US" altLang="zh-TW" sz="1800" dirty="0">
                <a:latin typeface="Times New Roman" panose="02020603050405020304" pitchFamily="18" charset="0"/>
                <a:ea typeface="標楷體" panose="03000509000000000000" pitchFamily="65" charset="-120"/>
              </a:rPr>
              <a:t>.【</a:t>
            </a:r>
            <a:r>
              <a:rPr lang="zh-TW" altLang="en-US" sz="1800" dirty="0">
                <a:latin typeface="Times New Roman" panose="02020603050405020304" pitchFamily="18" charset="0"/>
                <a:ea typeface="標楷體" panose="03000509000000000000" pitchFamily="65" charset="-120"/>
              </a:rPr>
              <a:t>從蘋果落地 </a:t>
            </a:r>
            <a:r>
              <a:rPr lang="zh-TW" altLang="en-US" sz="1800" dirty="0">
                <a:latin typeface="Times New Roman" panose="02020603050405020304" pitchFamily="18" charset="0"/>
                <a:ea typeface="標楷體" panose="03000509000000000000" pitchFamily="65" charset="-120"/>
                <a:sym typeface="Wingdings" panose="05000000000000000000" pitchFamily="2" charset="2"/>
              </a:rPr>
              <a:t> 萬有引力</a:t>
            </a:r>
            <a:r>
              <a:rPr lang="en-US" altLang="zh-TW" sz="1800" dirty="0">
                <a:latin typeface="Times New Roman" panose="02020603050405020304" pitchFamily="18" charset="0"/>
                <a:ea typeface="標楷體" panose="03000509000000000000" pitchFamily="65" charset="-120"/>
              </a:rPr>
              <a:t>】</a:t>
            </a:r>
          </a:p>
          <a:p>
            <a:pPr lvl="1">
              <a:lnSpc>
                <a:spcPct val="120000"/>
              </a:lnSpc>
            </a:pPr>
            <a:r>
              <a:rPr lang="en-US" altLang="zh-TW" sz="1800" dirty="0">
                <a:latin typeface="Times New Roman" panose="02020603050405020304" pitchFamily="18" charset="0"/>
                <a:ea typeface="標楷體" panose="03000509000000000000" pitchFamily="65" charset="-120"/>
              </a:rPr>
              <a:t>Bridging gaps between </a:t>
            </a:r>
            <a:r>
              <a:rPr lang="en-US" altLang="zh-TW" sz="1800" b="1" u="sng" dirty="0">
                <a:latin typeface="Times New Roman" panose="02020603050405020304" pitchFamily="18" charset="0"/>
                <a:ea typeface="標楷體" panose="03000509000000000000" pitchFamily="65" charset="-120"/>
              </a:rPr>
              <a:t>concrete experience</a:t>
            </a:r>
            <a:r>
              <a:rPr lang="en-US" altLang="zh-TW" sz="1800" dirty="0">
                <a:latin typeface="Times New Roman" panose="02020603050405020304" pitchFamily="18" charset="0"/>
                <a:ea typeface="標楷體" panose="03000509000000000000" pitchFamily="65" charset="-120"/>
              </a:rPr>
              <a:t> and </a:t>
            </a:r>
            <a:r>
              <a:rPr lang="en-US" altLang="zh-TW" sz="1800" b="1" u="sng" dirty="0">
                <a:latin typeface="Times New Roman" panose="02020603050405020304" pitchFamily="18" charset="0"/>
                <a:ea typeface="標楷體" panose="03000509000000000000" pitchFamily="65" charset="-120"/>
              </a:rPr>
              <a:t>abstract concepts</a:t>
            </a:r>
            <a:r>
              <a:rPr lang="en-US" altLang="zh-TW" sz="1800" dirty="0">
                <a:latin typeface="Times New Roman" panose="02020603050405020304" pitchFamily="18" charset="0"/>
                <a:ea typeface="標楷體" panose="03000509000000000000" pitchFamily="65" charset="-120"/>
              </a:rPr>
              <a:t> </a:t>
            </a:r>
            <a:r>
              <a:rPr lang="en-US" altLang="zh-TW" sz="1800" dirty="0">
                <a:solidFill>
                  <a:srgbClr val="FF0000"/>
                </a:solidFill>
                <a:latin typeface="Times New Roman" panose="02020603050405020304" pitchFamily="18" charset="0"/>
                <a:ea typeface="標楷體" panose="03000509000000000000" pitchFamily="65" charset="-120"/>
              </a:rPr>
              <a:t>presents a challenge</a:t>
            </a:r>
            <a:r>
              <a:rPr lang="en-US" altLang="zh-TW" sz="1800" dirty="0">
                <a:latin typeface="Times New Roman" panose="02020603050405020304" pitchFamily="18" charset="0"/>
                <a:ea typeface="標楷體" panose="03000509000000000000" pitchFamily="65" charset="-120"/>
              </a:rPr>
              <a:t>.【</a:t>
            </a:r>
            <a:r>
              <a:rPr lang="zh-TW" altLang="en-US" sz="1800" dirty="0">
                <a:latin typeface="Times New Roman" panose="02020603050405020304" pitchFamily="18" charset="0"/>
                <a:ea typeface="標楷體" panose="03000509000000000000" pitchFamily="65" charset="-120"/>
              </a:rPr>
              <a:t>很不容易的過程</a:t>
            </a:r>
            <a:r>
              <a:rPr lang="en-US" altLang="zh-TW" sz="1800" dirty="0">
                <a:latin typeface="Times New Roman" panose="02020603050405020304" pitchFamily="18" charset="0"/>
                <a:ea typeface="標楷體" panose="03000509000000000000" pitchFamily="65" charset="-120"/>
              </a:rPr>
              <a:t>】</a:t>
            </a:r>
            <a:br>
              <a:rPr lang="en-US" altLang="zh-TW" sz="1800" dirty="0">
                <a:latin typeface="Times New Roman" panose="02020603050405020304" pitchFamily="18" charset="0"/>
                <a:ea typeface="標楷體" panose="03000509000000000000" pitchFamily="65" charset="-120"/>
              </a:rPr>
            </a:br>
            <a:r>
              <a:rPr lang="en-US" altLang="zh-TW" sz="1600" dirty="0">
                <a:latin typeface="Times New Roman" panose="02020603050405020304" pitchFamily="18" charset="0"/>
                <a:ea typeface="標楷體" panose="03000509000000000000" pitchFamily="65" charset="-120"/>
              </a:rPr>
              <a:t>【AMR-Folger &amp; </a:t>
            </a:r>
            <a:r>
              <a:rPr lang="en-US" altLang="zh-TW" sz="1600" dirty="0" err="1">
                <a:latin typeface="Times New Roman" panose="02020603050405020304" pitchFamily="18" charset="0"/>
                <a:ea typeface="標楷體" panose="03000509000000000000" pitchFamily="65" charset="-120"/>
              </a:rPr>
              <a:t>Turillo</a:t>
            </a:r>
            <a:r>
              <a:rPr lang="en-US" altLang="zh-TW" sz="1600" dirty="0">
                <a:latin typeface="Times New Roman" panose="02020603050405020304" pitchFamily="18" charset="0"/>
                <a:ea typeface="標楷體" panose="03000509000000000000" pitchFamily="65" charset="-120"/>
              </a:rPr>
              <a:t> 1999, p. 741】</a:t>
            </a:r>
            <a:endParaRPr lang="en-US" altLang="zh-TW" sz="1400" dirty="0">
              <a:latin typeface="Times New Roman" pitchFamily="18" charset="0"/>
              <a:ea typeface="標楷體" pitchFamily="65" charset="-120"/>
            </a:endParaRPr>
          </a:p>
        </p:txBody>
      </p:sp>
      <p:sp>
        <p:nvSpPr>
          <p:cNvPr id="2" name="文字方塊 1">
            <a:extLst>
              <a:ext uri="{FF2B5EF4-FFF2-40B4-BE49-F238E27FC236}">
                <a16:creationId xmlns:a16="http://schemas.microsoft.com/office/drawing/2014/main" id="{F438A8B0-5B98-48B5-9D07-1FC82EE24D3A}"/>
              </a:ext>
            </a:extLst>
          </p:cNvPr>
          <p:cNvSpPr txBox="1"/>
          <p:nvPr/>
        </p:nvSpPr>
        <p:spPr>
          <a:xfrm>
            <a:off x="3348067" y="3411685"/>
            <a:ext cx="4562146" cy="335756"/>
          </a:xfrm>
          <a:prstGeom prst="rect">
            <a:avLst/>
          </a:prstGeom>
          <a:solidFill>
            <a:srgbClr val="FFFF00"/>
          </a:solidFill>
        </p:spPr>
        <p:txBody>
          <a:bodyPr wrap="none" rtlCol="0">
            <a:spAutoFit/>
          </a:bodyPr>
          <a:lstStyle/>
          <a:p>
            <a:r>
              <a:rPr lang="en-US" altLang="zh-TW" b="1" dirty="0">
                <a:latin typeface="Times New Roman" pitchFamily="18" charset="0"/>
                <a:ea typeface="標楷體" pitchFamily="65" charset="-120"/>
              </a:rPr>
              <a:t>research</a:t>
            </a:r>
            <a:r>
              <a:rPr lang="en-US" altLang="zh-TW" dirty="0">
                <a:latin typeface="Times New Roman" pitchFamily="18" charset="0"/>
                <a:ea typeface="標楷體" pitchFamily="65" charset="-120"/>
              </a:rPr>
              <a:t>, so that we may be able to propose …</a:t>
            </a:r>
            <a:endParaRPr lang="zh-TW" altLang="en-US" dirty="0">
              <a:latin typeface="Times New Roman" pitchFamily="18" charset="0"/>
              <a:ea typeface="標楷體" pitchFamily="65" charset="-120"/>
            </a:endParaRPr>
          </a:p>
        </p:txBody>
      </p:sp>
      <p:pic>
        <p:nvPicPr>
          <p:cNvPr id="4" name="圖片 3">
            <a:extLst>
              <a:ext uri="{FF2B5EF4-FFF2-40B4-BE49-F238E27FC236}">
                <a16:creationId xmlns:a16="http://schemas.microsoft.com/office/drawing/2014/main" id="{CE1B6CAA-1BE8-4FDA-8109-B122461501BF}"/>
              </a:ext>
            </a:extLst>
          </p:cNvPr>
          <p:cNvPicPr>
            <a:picLocks noChangeAspect="1"/>
          </p:cNvPicPr>
          <p:nvPr/>
        </p:nvPicPr>
        <p:blipFill>
          <a:blip r:embed="rId3"/>
          <a:stretch>
            <a:fillRect/>
          </a:stretch>
        </p:blipFill>
        <p:spPr>
          <a:xfrm rot="21420000">
            <a:off x="8959044" y="2414340"/>
            <a:ext cx="3076752" cy="1342233"/>
          </a:xfrm>
          <a:prstGeom prst="rect">
            <a:avLst/>
          </a:prstGeom>
          <a:ln w="57150">
            <a:solidFill>
              <a:srgbClr val="FF0000"/>
            </a:solidFill>
          </a:ln>
        </p:spPr>
      </p:pic>
      <p:pic>
        <p:nvPicPr>
          <p:cNvPr id="3" name="圖片 2">
            <a:extLst>
              <a:ext uri="{FF2B5EF4-FFF2-40B4-BE49-F238E27FC236}">
                <a16:creationId xmlns:a16="http://schemas.microsoft.com/office/drawing/2014/main" id="{FB67BF66-9686-470E-9AF0-F5E1E932C791}"/>
              </a:ext>
            </a:extLst>
          </p:cNvPr>
          <p:cNvPicPr>
            <a:picLocks noChangeAspect="1"/>
          </p:cNvPicPr>
          <p:nvPr/>
        </p:nvPicPr>
        <p:blipFill>
          <a:blip r:embed="rId4"/>
          <a:stretch>
            <a:fillRect/>
          </a:stretch>
        </p:blipFill>
        <p:spPr>
          <a:xfrm rot="21540000">
            <a:off x="7414463" y="1054728"/>
            <a:ext cx="4561739" cy="957244"/>
          </a:xfrm>
          <a:prstGeom prst="rect">
            <a:avLst/>
          </a:prstGeom>
          <a:ln>
            <a:solidFill>
              <a:srgbClr val="FF0000"/>
            </a:solidFill>
          </a:ln>
        </p:spPr>
      </p:pic>
      <p:sp>
        <p:nvSpPr>
          <p:cNvPr id="5" name="文字方塊 4"/>
          <p:cNvSpPr txBox="1"/>
          <p:nvPr/>
        </p:nvSpPr>
        <p:spPr>
          <a:xfrm>
            <a:off x="4550080" y="5682943"/>
            <a:ext cx="6649058" cy="338554"/>
          </a:xfrm>
          <a:prstGeom prst="rect">
            <a:avLst/>
          </a:prstGeom>
          <a:solidFill>
            <a:srgbClr val="FFFF00"/>
          </a:solidFill>
        </p:spPr>
        <p:txBody>
          <a:bodyPr wrap="square" rtlCol="0">
            <a:spAutoFit/>
          </a:bodyPr>
          <a:lstStyle/>
          <a:p>
            <a:r>
              <a:rPr lang="zh-TW" altLang="en-US" sz="1600" dirty="0">
                <a:latin typeface="Times New Roman" pitchFamily="18" charset="0"/>
                <a:ea typeface="標楷體" pitchFamily="65" charset="-120"/>
              </a:rPr>
              <a:t>觀察到某現象 </a:t>
            </a:r>
            <a:r>
              <a:rPr lang="zh-TW" altLang="en-US" sz="1600" dirty="0">
                <a:latin typeface="Times New Roman" pitchFamily="18" charset="0"/>
                <a:ea typeface="標楷體" pitchFamily="65" charset="-120"/>
                <a:sym typeface="Wingdings" panose="05000000000000000000" pitchFamily="2" charset="2"/>
              </a:rPr>
              <a:t> </a:t>
            </a:r>
            <a:r>
              <a:rPr lang="en-US" altLang="zh-TW" sz="1600" dirty="0">
                <a:latin typeface="Times New Roman" pitchFamily="18" charset="0"/>
                <a:ea typeface="標楷體" pitchFamily="65" charset="-120"/>
                <a:sym typeface="Wingdings" panose="05000000000000000000" pitchFamily="2" charset="2"/>
              </a:rPr>
              <a:t>Why? </a:t>
            </a:r>
            <a:r>
              <a:rPr lang="zh-TW" altLang="en-US" sz="1600" dirty="0">
                <a:latin typeface="Times New Roman" pitchFamily="18" charset="0"/>
                <a:ea typeface="標楷體" pitchFamily="65" charset="-120"/>
                <a:sym typeface="Wingdings" panose="05000000000000000000" pitchFamily="2" charset="2"/>
              </a:rPr>
              <a:t> </a:t>
            </a:r>
            <a:r>
              <a:rPr lang="zh-TW" altLang="en-US" sz="1600" u="sng" dirty="0">
                <a:latin typeface="Times New Roman" pitchFamily="18" charset="0"/>
                <a:ea typeface="標楷體" pitchFamily="65" charset="-120"/>
                <a:sym typeface="Wingdings" panose="05000000000000000000" pitchFamily="2" charset="2"/>
              </a:rPr>
              <a:t>我認為</a:t>
            </a:r>
            <a:r>
              <a:rPr lang="zh-TW" altLang="en-US" sz="1600" dirty="0">
                <a:latin typeface="Times New Roman" pitchFamily="18" charset="0"/>
                <a:ea typeface="標楷體" pitchFamily="65" charset="-120"/>
                <a:sym typeface="Wingdings" panose="05000000000000000000" pitchFamily="2" charset="2"/>
              </a:rPr>
              <a:t>或</a:t>
            </a:r>
            <a:r>
              <a:rPr lang="zh-TW" altLang="en-US" sz="1600" u="sng" dirty="0">
                <a:latin typeface="Times New Roman" pitchFamily="18" charset="0"/>
                <a:ea typeface="標楷體" pitchFamily="65" charset="-120"/>
                <a:sym typeface="Wingdings" panose="05000000000000000000" pitchFamily="2" charset="2"/>
              </a:rPr>
              <a:t>我猜</a:t>
            </a:r>
            <a:r>
              <a:rPr lang="zh-TW" altLang="en-US" sz="1600" dirty="0">
                <a:latin typeface="Times New Roman" pitchFamily="18" charset="0"/>
                <a:ea typeface="標楷體" pitchFamily="65" charset="-120"/>
                <a:sym typeface="Wingdings" panose="05000000000000000000" pitchFamily="2" charset="2"/>
              </a:rPr>
              <a:t>應該是 </a:t>
            </a:r>
            <a:r>
              <a:rPr lang="en-US" altLang="zh-TW" sz="1600" dirty="0">
                <a:latin typeface="Times New Roman" pitchFamily="18" charset="0"/>
                <a:ea typeface="標楷體" pitchFamily="65" charset="-120"/>
                <a:sym typeface="Wingdings" panose="05000000000000000000" pitchFamily="2" charset="2"/>
              </a:rPr>
              <a:t>...【</a:t>
            </a:r>
            <a:r>
              <a:rPr lang="zh-TW" altLang="en-US" sz="1600" dirty="0">
                <a:latin typeface="Times New Roman" pitchFamily="18" charset="0"/>
                <a:ea typeface="標楷體" pitchFamily="65" charset="-120"/>
                <a:sym typeface="Wingdings" panose="05000000000000000000" pitchFamily="2" charset="2"/>
              </a:rPr>
              <a:t>此即為</a:t>
            </a:r>
            <a:r>
              <a:rPr lang="zh-TW" altLang="en-US" sz="1600" b="1" u="sng" dirty="0">
                <a:latin typeface="Times New Roman" pitchFamily="18" charset="0"/>
                <a:ea typeface="標楷體" pitchFamily="65" charset="-120"/>
                <a:sym typeface="Wingdings" panose="05000000000000000000" pitchFamily="2" charset="2"/>
              </a:rPr>
              <a:t>理論</a:t>
            </a:r>
            <a:r>
              <a:rPr lang="zh-TW" altLang="en-US" sz="1600" dirty="0">
                <a:latin typeface="Times New Roman" pitchFamily="18" charset="0"/>
                <a:ea typeface="標楷體" pitchFamily="65" charset="-120"/>
                <a:sym typeface="Wingdings" panose="05000000000000000000" pitchFamily="2" charset="2"/>
              </a:rPr>
              <a:t>的提出</a:t>
            </a:r>
            <a:r>
              <a:rPr lang="en-US" altLang="zh-TW" sz="1600" dirty="0">
                <a:latin typeface="Times New Roman" pitchFamily="18" charset="0"/>
                <a:ea typeface="標楷體" pitchFamily="65" charset="-120"/>
                <a:sym typeface="Wingdings" panose="05000000000000000000" pitchFamily="2" charset="2"/>
              </a:rPr>
              <a:t>】</a:t>
            </a:r>
            <a:endParaRPr lang="zh-TW" altLang="en-US" sz="1600" dirty="0">
              <a:latin typeface="Times New Roman" pitchFamily="18" charset="0"/>
              <a:ea typeface="標楷體" pitchFamily="65" charset="-120"/>
            </a:endParaRPr>
          </a:p>
        </p:txBody>
      </p:sp>
      <p:pic>
        <p:nvPicPr>
          <p:cNvPr id="11" name="圖片 10">
            <a:extLst>
              <a:ext uri="{FF2B5EF4-FFF2-40B4-BE49-F238E27FC236}">
                <a16:creationId xmlns:a16="http://schemas.microsoft.com/office/drawing/2014/main" id="{DF56501C-CDD1-493F-953E-0B6C0C610224}"/>
              </a:ext>
            </a:extLst>
          </p:cNvPr>
          <p:cNvPicPr>
            <a:picLocks noChangeAspect="1"/>
          </p:cNvPicPr>
          <p:nvPr/>
        </p:nvPicPr>
        <p:blipFill>
          <a:blip r:embed="rId5"/>
          <a:stretch>
            <a:fillRect/>
          </a:stretch>
        </p:blipFill>
        <p:spPr>
          <a:xfrm>
            <a:off x="6370983" y="151136"/>
            <a:ext cx="5709714" cy="785508"/>
          </a:xfrm>
          <a:prstGeom prst="rect">
            <a:avLst/>
          </a:prstGeom>
          <a:ln>
            <a:solidFill>
              <a:srgbClr val="FF0000"/>
            </a:solidFill>
          </a:ln>
        </p:spPr>
      </p:pic>
    </p:spTree>
    <p:extLst>
      <p:ext uri="{BB962C8B-B14F-4D97-AF65-F5344CB8AC3E}">
        <p14:creationId xmlns:p14="http://schemas.microsoft.com/office/powerpoint/2010/main" val="1397739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10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123">
                                            <p:txEl>
                                              <p:pRg st="1" end="1"/>
                                            </p:txEl>
                                          </p:spTgt>
                                        </p:tgtEl>
                                        <p:attrNameLst>
                                          <p:attrName>style.visibility</p:attrName>
                                        </p:attrNameLst>
                                      </p:cBhvr>
                                      <p:to>
                                        <p:strVal val="visible"/>
                                      </p:to>
                                    </p:set>
                                    <p:animEffect transition="in" filter="fade">
                                      <p:cBhvr>
                                        <p:cTn id="20" dur="1000"/>
                                        <p:tgtEl>
                                          <p:spTgt spid="5123">
                                            <p:txEl>
                                              <p:pRg st="1" end="1"/>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2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123">
                                            <p:txEl>
                                              <p:pRg st="2" end="2"/>
                                            </p:txEl>
                                          </p:spTgt>
                                        </p:tgtEl>
                                        <p:attrNameLst>
                                          <p:attrName>style.visibility</p:attrName>
                                        </p:attrNameLst>
                                      </p:cBhvr>
                                      <p:to>
                                        <p:strVal val="visible"/>
                                      </p:to>
                                    </p:set>
                                    <p:animEffect transition="in" filter="fade">
                                      <p:cBhvr>
                                        <p:cTn id="29" dur="1000"/>
                                        <p:tgtEl>
                                          <p:spTgt spid="5123">
                                            <p:txEl>
                                              <p:pRg st="2" end="2"/>
                                            </p:txEl>
                                          </p:spTgt>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5123">
                                            <p:txEl>
                                              <p:pRg st="3" end="3"/>
                                            </p:txEl>
                                          </p:spTgt>
                                        </p:tgtEl>
                                        <p:attrNameLst>
                                          <p:attrName>style.visibility</p:attrName>
                                        </p:attrNameLst>
                                      </p:cBhvr>
                                      <p:to>
                                        <p:strVal val="visible"/>
                                      </p:to>
                                    </p:set>
                                    <p:animEffect transition="in" filter="fade">
                                      <p:cBhvr>
                                        <p:cTn id="33" dur="1000"/>
                                        <p:tgtEl>
                                          <p:spTgt spid="5123">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123">
                                            <p:txEl>
                                              <p:pRg st="4" end="4"/>
                                            </p:txEl>
                                          </p:spTgt>
                                        </p:tgtEl>
                                        <p:attrNameLst>
                                          <p:attrName>style.visibility</p:attrName>
                                        </p:attrNameLst>
                                      </p:cBhvr>
                                      <p:to>
                                        <p:strVal val="visible"/>
                                      </p:to>
                                    </p:set>
                                    <p:animEffect transition="in" filter="fade">
                                      <p:cBhvr>
                                        <p:cTn id="38" dur="1000"/>
                                        <p:tgtEl>
                                          <p:spTgt spid="5123">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123">
                                            <p:txEl>
                                              <p:pRg st="5" end="5"/>
                                            </p:txEl>
                                          </p:spTgt>
                                        </p:tgtEl>
                                        <p:attrNameLst>
                                          <p:attrName>style.visibility</p:attrName>
                                        </p:attrNameLst>
                                      </p:cBhvr>
                                      <p:to>
                                        <p:strVal val="visible"/>
                                      </p:to>
                                    </p:set>
                                    <p:animEffect transition="in" filter="fade">
                                      <p:cBhvr>
                                        <p:cTn id="48" dur="1000"/>
                                        <p:tgtEl>
                                          <p:spTgt spid="5123">
                                            <p:txEl>
                                              <p:pRg st="5" end="5"/>
                                            </p:txEl>
                                          </p:spTgt>
                                        </p:tgtEl>
                                      </p:cBhvr>
                                    </p:animEffect>
                                  </p:childTnLst>
                                </p:cTn>
                              </p:par>
                            </p:childTnLst>
                          </p:cTn>
                        </p:par>
                        <p:par>
                          <p:cTn id="49" fill="hold">
                            <p:stCondLst>
                              <p:cond delay="1500"/>
                            </p:stCondLst>
                            <p:childTnLst>
                              <p:par>
                                <p:cTn id="50" presetID="10" presetClass="entr" presetSubtype="0" fill="hold" grpId="0" nodeType="afterEffect">
                                  <p:stCondLst>
                                    <p:cond delay="0"/>
                                  </p:stCondLst>
                                  <p:childTnLst>
                                    <p:set>
                                      <p:cBhvr>
                                        <p:cTn id="51" dur="1" fill="hold">
                                          <p:stCondLst>
                                            <p:cond delay="0"/>
                                          </p:stCondLst>
                                        </p:cTn>
                                        <p:tgtEl>
                                          <p:spTgt spid="5123">
                                            <p:txEl>
                                              <p:pRg st="6" end="6"/>
                                            </p:txEl>
                                          </p:spTgt>
                                        </p:tgtEl>
                                        <p:attrNameLst>
                                          <p:attrName>style.visibility</p:attrName>
                                        </p:attrNameLst>
                                      </p:cBhvr>
                                      <p:to>
                                        <p:strVal val="visible"/>
                                      </p:to>
                                    </p:set>
                                    <p:animEffect transition="in" filter="fade">
                                      <p:cBhvr>
                                        <p:cTn id="52" dur="1000"/>
                                        <p:tgtEl>
                                          <p:spTgt spid="5123">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123">
                                            <p:txEl>
                                              <p:pRg st="7" end="7"/>
                                            </p:txEl>
                                          </p:spTgt>
                                        </p:tgtEl>
                                        <p:attrNameLst>
                                          <p:attrName>style.visibility</p:attrName>
                                        </p:attrNameLst>
                                      </p:cBhvr>
                                      <p:to>
                                        <p:strVal val="visible"/>
                                      </p:to>
                                    </p:set>
                                    <p:animEffect transition="in" filter="fade">
                                      <p:cBhvr>
                                        <p:cTn id="57" dur="1000"/>
                                        <p:tgtEl>
                                          <p:spTgt spid="5123">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123">
                                            <p:txEl>
                                              <p:pRg st="8" end="8"/>
                                            </p:txEl>
                                          </p:spTgt>
                                        </p:tgtEl>
                                        <p:attrNameLst>
                                          <p:attrName>style.visibility</p:attrName>
                                        </p:attrNameLst>
                                      </p:cBhvr>
                                      <p:to>
                                        <p:strVal val="visible"/>
                                      </p:to>
                                    </p:set>
                                    <p:animEffect transition="in" filter="fade">
                                      <p:cBhvr>
                                        <p:cTn id="62" dur="1000"/>
                                        <p:tgtEl>
                                          <p:spTgt spid="5123">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123">
                                            <p:txEl>
                                              <p:pRg st="9" end="9"/>
                                            </p:txEl>
                                          </p:spTgt>
                                        </p:tgtEl>
                                        <p:attrNameLst>
                                          <p:attrName>style.visibility</p:attrName>
                                        </p:attrNameLst>
                                      </p:cBhvr>
                                      <p:to>
                                        <p:strVal val="visible"/>
                                      </p:to>
                                    </p:set>
                                    <p:animEffect transition="in" filter="fade">
                                      <p:cBhvr>
                                        <p:cTn id="67" dur="1000"/>
                                        <p:tgtEl>
                                          <p:spTgt spid="5123">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left)">
                                      <p:cBhvr>
                                        <p:cTn id="72"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uiExpand="1" build="p"/>
      <p:bldP spid="2"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356124" y="214313"/>
            <a:ext cx="7793037" cy="1054100"/>
          </a:xfrm>
        </p:spPr>
        <p:txBody>
          <a:bodyPr/>
          <a:lstStyle/>
          <a:p>
            <a:pPr eaLnBrk="1" hangingPunct="1"/>
            <a:r>
              <a:rPr lang="zh-TW" altLang="en-US" sz="3600" dirty="0">
                <a:latin typeface="Times New Roman" pitchFamily="18" charset="0"/>
                <a:ea typeface="標楷體" pitchFamily="65" charset="-120"/>
              </a:rPr>
              <a:t>科學研究的侷限性</a:t>
            </a:r>
          </a:p>
        </p:txBody>
      </p:sp>
      <p:sp>
        <p:nvSpPr>
          <p:cNvPr id="147459" name="Rectangle 3"/>
          <p:cNvSpPr>
            <a:spLocks noGrp="1" noChangeArrowheads="1"/>
          </p:cNvSpPr>
          <p:nvPr>
            <p:ph idx="1"/>
          </p:nvPr>
        </p:nvSpPr>
        <p:spPr>
          <a:xfrm>
            <a:off x="783771" y="1700213"/>
            <a:ext cx="9610531" cy="4825131"/>
          </a:xfrm>
        </p:spPr>
        <p:txBody>
          <a:bodyPr/>
          <a:lstStyle/>
          <a:p>
            <a:pPr eaLnBrk="1" hangingPunct="1">
              <a:spcBef>
                <a:spcPts val="600"/>
              </a:spcBef>
            </a:pPr>
            <a:r>
              <a:rPr lang="zh-TW" altLang="en-US" sz="2400" dirty="0">
                <a:latin typeface="Times New Roman" pitchFamily="18" charset="0"/>
                <a:ea typeface="標楷體" pitchFamily="65" charset="-120"/>
              </a:rPr>
              <a:t>研究的難重複性</a:t>
            </a:r>
            <a:endParaRPr lang="en-US" altLang="zh-TW" sz="24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有些研究無法重來或很難被重複，因此，很難取得公信</a:t>
            </a:r>
            <a:endParaRPr lang="en-US" altLang="zh-TW" sz="2000" dirty="0">
              <a:latin typeface="Times New Roman" pitchFamily="18" charset="0"/>
              <a:ea typeface="標楷體" pitchFamily="65" charset="-120"/>
            </a:endParaRPr>
          </a:p>
          <a:p>
            <a:pPr lvl="1" eaLnBrk="1" hangingPunct="1">
              <a:spcBef>
                <a:spcPts val="300"/>
              </a:spcBef>
            </a:pPr>
            <a:r>
              <a:rPr lang="en-US" altLang="zh-TW" sz="2000" b="1" i="1" dirty="0">
                <a:latin typeface="Times New Roman" pitchFamily="18" charset="0"/>
                <a:ea typeface="標楷體" pitchFamily="65" charset="-120"/>
              </a:rPr>
              <a:t>Replication crisis</a:t>
            </a:r>
            <a:r>
              <a:rPr lang="en-US" altLang="zh-TW" sz="2000" i="1" dirty="0">
                <a:latin typeface="Times New Roman" pitchFamily="18" charset="0"/>
                <a:ea typeface="標楷體" pitchFamily="65" charset="-120"/>
              </a:rPr>
              <a:t>: The expectation is that most statistically significant</a:t>
            </a:r>
            <a:r>
              <a:rPr lang="zh-TW" altLang="en-US" sz="2000" i="1" dirty="0">
                <a:latin typeface="Times New Roman" pitchFamily="18" charset="0"/>
                <a:ea typeface="標楷體" pitchFamily="65" charset="-120"/>
              </a:rPr>
              <a:t> </a:t>
            </a:r>
            <a:r>
              <a:rPr lang="en-US" altLang="zh-TW" sz="2000" i="1" dirty="0">
                <a:latin typeface="Times New Roman" pitchFamily="18" charset="0"/>
                <a:ea typeface="標楷體" pitchFamily="65" charset="-120"/>
              </a:rPr>
              <a:t>findings can be replicated in new data and in new laboratories, but … </a:t>
            </a:r>
            <a:r>
              <a:rPr lang="en-US" altLang="zh-TW" sz="1800" dirty="0">
                <a:latin typeface="Times New Roman" pitchFamily="18" charset="0"/>
                <a:ea typeface="標楷體" pitchFamily="65" charset="-120"/>
              </a:rPr>
              <a:t>(</a:t>
            </a:r>
            <a:r>
              <a:rPr lang="en-US" altLang="zh-TW" sz="1800" dirty="0" err="1">
                <a:latin typeface="Times New Roman" pitchFamily="18" charset="0"/>
                <a:ea typeface="標楷體" pitchFamily="65" charset="-120"/>
              </a:rPr>
              <a:t>Shrout</a:t>
            </a:r>
            <a:r>
              <a:rPr lang="en-US" altLang="zh-TW" sz="1800" dirty="0">
                <a:latin typeface="Times New Roman" pitchFamily="18" charset="0"/>
                <a:ea typeface="標楷體" pitchFamily="65" charset="-120"/>
              </a:rPr>
              <a:t> 2018)</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有時，需等待很久的時間，才會被接受</a:t>
            </a:r>
            <a:endParaRPr lang="en-US" altLang="zh-TW" sz="2000" dirty="0">
              <a:latin typeface="Times New Roman" pitchFamily="18" charset="0"/>
              <a:ea typeface="標楷體" pitchFamily="65" charset="-120"/>
            </a:endParaRPr>
          </a:p>
          <a:p>
            <a:pPr eaLnBrk="1" hangingPunct="1">
              <a:spcBef>
                <a:spcPts val="600"/>
              </a:spcBef>
            </a:pPr>
            <a:r>
              <a:rPr lang="zh-TW" altLang="en-US" sz="2400" dirty="0">
                <a:latin typeface="Times New Roman" pitchFamily="18" charset="0"/>
                <a:ea typeface="標楷體" pitchFamily="65" charset="-120"/>
              </a:rPr>
              <a:t>因果關係的複雜</a:t>
            </a:r>
            <a:endParaRPr lang="en-US" altLang="zh-TW" sz="24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我們都希望透過對</a:t>
            </a:r>
            <a:r>
              <a:rPr lang="zh-TW" altLang="en-US" sz="2000" b="1" u="sng" dirty="0">
                <a:latin typeface="Times New Roman" pitchFamily="18" charset="0"/>
                <a:ea typeface="標楷體" pitchFamily="65" charset="-120"/>
              </a:rPr>
              <a:t>因</a:t>
            </a:r>
            <a:r>
              <a:rPr lang="zh-TW" altLang="en-US" sz="2000" dirty="0">
                <a:latin typeface="Times New Roman" pitchFamily="18" charset="0"/>
                <a:ea typeface="標楷體" pitchFamily="65" charset="-120"/>
              </a:rPr>
              <a:t>的控制，而獲致好的</a:t>
            </a:r>
            <a:r>
              <a:rPr lang="zh-TW" altLang="en-US" sz="2000" b="1" u="sng" dirty="0">
                <a:latin typeface="Times New Roman" pitchFamily="18" charset="0"/>
                <a:ea typeface="標楷體" pitchFamily="65" charset="-120"/>
              </a:rPr>
              <a:t>果</a:t>
            </a:r>
            <a:endParaRPr lang="en-US" altLang="zh-TW" sz="2000" b="1" u="sng"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事物或變數間的關係錯綜複雜，常非單一個研究可釐清</a:t>
            </a:r>
            <a:endParaRPr lang="en-US" altLang="zh-TW" sz="2000" dirty="0">
              <a:latin typeface="Times New Roman" pitchFamily="18" charset="0"/>
              <a:ea typeface="標楷體" pitchFamily="65" charset="-120"/>
            </a:endParaRPr>
          </a:p>
          <a:p>
            <a:pPr lvl="1" eaLnBrk="1" hangingPunct="1">
              <a:spcBef>
                <a:spcPts val="300"/>
              </a:spcBef>
            </a:pPr>
            <a:r>
              <a:rPr lang="zh-TW" altLang="en-US" sz="2000" dirty="0">
                <a:latin typeface="Times New Roman" pitchFamily="18" charset="0"/>
                <a:ea typeface="標楷體" pitchFamily="65" charset="-120"/>
              </a:rPr>
              <a:t>研究中的許多變數常很難被完全控制</a:t>
            </a:r>
            <a:endParaRPr lang="en-US" altLang="zh-TW" sz="1900" dirty="0">
              <a:latin typeface="Times New Roman" pitchFamily="18" charset="0"/>
              <a:ea typeface="標楷體" pitchFamily="65" charset="-120"/>
            </a:endParaRPr>
          </a:p>
        </p:txBody>
      </p:sp>
      <p:sp>
        <p:nvSpPr>
          <p:cNvPr id="34820"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50D0318F-6192-49A8-BEA6-D1A7A33689E0}" type="slidenum">
              <a:rPr kumimoji="0" lang="en-US" altLang="zh-TW" sz="1400">
                <a:latin typeface="Times New Roman" pitchFamily="18" charset="0"/>
              </a:rPr>
              <a:pPr/>
              <a:t>17</a:t>
            </a:fld>
            <a:endParaRPr kumimoji="0" lang="en-US" altLang="zh-TW" sz="1400">
              <a:latin typeface="Times New Roman" pitchFamily="18" charset="0"/>
            </a:endParaRPr>
          </a:p>
        </p:txBody>
      </p:sp>
      <p:pic>
        <p:nvPicPr>
          <p:cNvPr id="2" name="圖片 1"/>
          <p:cNvPicPr>
            <a:picLocks noChangeAspect="1"/>
          </p:cNvPicPr>
          <p:nvPr/>
        </p:nvPicPr>
        <p:blipFill>
          <a:blip r:embed="rId3"/>
          <a:stretch>
            <a:fillRect/>
          </a:stretch>
        </p:blipFill>
        <p:spPr>
          <a:xfrm rot="21382399">
            <a:off x="7797731" y="3255123"/>
            <a:ext cx="3967120" cy="1569599"/>
          </a:xfrm>
          <a:prstGeom prst="rect">
            <a:avLst/>
          </a:prstGeom>
          <a:ln>
            <a:solidFill>
              <a:srgbClr val="FF0000"/>
            </a:solidFill>
          </a:ln>
        </p:spPr>
      </p:pic>
      <p:sp>
        <p:nvSpPr>
          <p:cNvPr id="3" name="文字方塊 2"/>
          <p:cNvSpPr txBox="1"/>
          <p:nvPr/>
        </p:nvSpPr>
        <p:spPr>
          <a:xfrm rot="21480000">
            <a:off x="5375951" y="192363"/>
            <a:ext cx="3140603" cy="1815882"/>
          </a:xfrm>
          <a:prstGeom prst="rect">
            <a:avLst/>
          </a:prstGeom>
          <a:solidFill>
            <a:schemeClr val="accent6">
              <a:lumMod val="20000"/>
              <a:lumOff val="80000"/>
            </a:schemeClr>
          </a:solidFill>
        </p:spPr>
        <p:txBody>
          <a:bodyPr wrap="none" rtlCol="0">
            <a:spAutoFit/>
          </a:bodyPr>
          <a:lstStyle/>
          <a:p>
            <a:pPr marL="285750" indent="-285750">
              <a:buClr>
                <a:srgbClr val="0000FF"/>
              </a:buClr>
              <a:buSzPct val="80000"/>
              <a:buFont typeface="Wingdings" panose="05000000000000000000" pitchFamily="2" charset="2"/>
              <a:buChar char="l"/>
            </a:pPr>
            <a:r>
              <a:rPr lang="zh-TW" altLang="en-US" sz="1600" dirty="0">
                <a:solidFill>
                  <a:srgbClr val="FF0000"/>
                </a:solidFill>
                <a:latin typeface="Times New Roman" pitchFamily="18" charset="0"/>
                <a:ea typeface="標楷體" pitchFamily="65" charset="-120"/>
              </a:rPr>
              <a:t>研究的難重複性</a:t>
            </a:r>
            <a:endParaRPr lang="en-US" altLang="zh-TW" sz="1600" dirty="0">
              <a:solidFill>
                <a:srgbClr val="FF0000"/>
              </a:solidFill>
              <a:latin typeface="Times New Roman" pitchFamily="18" charset="0"/>
              <a:ea typeface="標楷體" pitchFamily="65" charset="-120"/>
            </a:endParaRPr>
          </a:p>
          <a:p>
            <a:pPr marL="285750" indent="-285750">
              <a:buClr>
                <a:srgbClr val="0000FF"/>
              </a:buClr>
              <a:buSzPct val="80000"/>
              <a:buFont typeface="Wingdings" panose="05000000000000000000" pitchFamily="2" charset="2"/>
              <a:buChar char="l"/>
            </a:pPr>
            <a:r>
              <a:rPr lang="zh-TW" altLang="en-US" sz="1600" dirty="0">
                <a:solidFill>
                  <a:srgbClr val="FF0000"/>
                </a:solidFill>
                <a:latin typeface="Times New Roman" pitchFamily="18" charset="0"/>
                <a:ea typeface="標楷體" pitchFamily="65" charset="-120"/>
              </a:rPr>
              <a:t>因果關係的複雜</a:t>
            </a:r>
            <a:endParaRPr lang="en-US" altLang="zh-TW" sz="1600" dirty="0">
              <a:solidFill>
                <a:srgbClr val="FF0000"/>
              </a:solidFill>
              <a:latin typeface="Times New Roman" pitchFamily="18" charset="0"/>
              <a:ea typeface="標楷體" pitchFamily="65" charset="-120"/>
            </a:endParaRPr>
          </a:p>
          <a:p>
            <a:pPr marL="285750" indent="-285750">
              <a:buClr>
                <a:srgbClr val="0000FF"/>
              </a:buClr>
              <a:buSzPct val="80000"/>
              <a:buFont typeface="Wingdings" panose="05000000000000000000" pitchFamily="2" charset="2"/>
              <a:buChar char="l"/>
            </a:pPr>
            <a:r>
              <a:rPr lang="zh-TW" altLang="en-US" sz="1600" dirty="0">
                <a:latin typeface="Times New Roman" pitchFamily="18" charset="0"/>
                <a:ea typeface="標楷體" pitchFamily="65" charset="-120"/>
              </a:rPr>
              <a:t>量測的困難</a:t>
            </a:r>
            <a:endParaRPr lang="en-US" altLang="zh-TW" sz="1600" dirty="0">
              <a:latin typeface="Times New Roman" pitchFamily="18" charset="0"/>
              <a:ea typeface="標楷體" pitchFamily="65" charset="-120"/>
            </a:endParaRPr>
          </a:p>
          <a:p>
            <a:pPr marL="285750" indent="-285750">
              <a:buClr>
                <a:srgbClr val="0000FF"/>
              </a:buClr>
              <a:buSzPct val="80000"/>
              <a:buFont typeface="Wingdings" panose="05000000000000000000" pitchFamily="2" charset="2"/>
              <a:buChar char="l"/>
            </a:pPr>
            <a:r>
              <a:rPr lang="zh-TW" altLang="en-US" sz="1600" dirty="0">
                <a:latin typeface="Times New Roman" pitchFamily="18" charset="0"/>
                <a:ea typeface="標楷體" pitchFamily="65" charset="-120"/>
              </a:rPr>
              <a:t>問題的千頭萬緒</a:t>
            </a:r>
            <a:endParaRPr lang="en-US" altLang="zh-TW" sz="1600" dirty="0">
              <a:latin typeface="Times New Roman" pitchFamily="18" charset="0"/>
              <a:ea typeface="標楷體" pitchFamily="65" charset="-120"/>
            </a:endParaRPr>
          </a:p>
          <a:p>
            <a:pPr marL="285750" indent="-285750">
              <a:buClr>
                <a:srgbClr val="0000FF"/>
              </a:buClr>
              <a:buSzPct val="80000"/>
              <a:buFont typeface="Wingdings" panose="05000000000000000000" pitchFamily="2" charset="2"/>
              <a:buChar char="l"/>
            </a:pPr>
            <a:r>
              <a:rPr lang="zh-TW" altLang="en-US" sz="1600" dirty="0">
                <a:latin typeface="Times New Roman" pitchFamily="18" charset="0"/>
                <a:ea typeface="標楷體" pitchFamily="65" charset="-120"/>
              </a:rPr>
              <a:t>研究成果的中性本質</a:t>
            </a:r>
            <a:endParaRPr lang="en-US" altLang="zh-TW" sz="1600" dirty="0">
              <a:latin typeface="Times New Roman" pitchFamily="18" charset="0"/>
              <a:ea typeface="標楷體" pitchFamily="65" charset="-120"/>
            </a:endParaRPr>
          </a:p>
          <a:p>
            <a:pPr marL="285750" indent="-285750">
              <a:buClr>
                <a:srgbClr val="0000FF"/>
              </a:buClr>
              <a:buSzPct val="80000"/>
              <a:buFont typeface="Wingdings" panose="05000000000000000000" pitchFamily="2" charset="2"/>
              <a:buChar char="l"/>
            </a:pPr>
            <a:r>
              <a:rPr lang="zh-TW" altLang="en-US" sz="1600" dirty="0">
                <a:latin typeface="Times New Roman" pitchFamily="18" charset="0"/>
                <a:ea typeface="標楷體" pitchFamily="65" charset="-120"/>
              </a:rPr>
              <a:t>研究倫理難被完全規範</a:t>
            </a:r>
            <a:endParaRPr lang="en-US" altLang="zh-TW" sz="1600" dirty="0">
              <a:latin typeface="Times New Roman" pitchFamily="18" charset="0"/>
              <a:ea typeface="標楷體" pitchFamily="65" charset="-120"/>
            </a:endParaRPr>
          </a:p>
          <a:p>
            <a:pPr marL="285750" indent="-285750">
              <a:buClr>
                <a:srgbClr val="0000FF"/>
              </a:buClr>
              <a:buSzPct val="80000"/>
              <a:buFont typeface="Wingdings" panose="05000000000000000000" pitchFamily="2" charset="2"/>
              <a:buChar char="l"/>
            </a:pPr>
            <a:r>
              <a:rPr lang="zh-TW" altLang="zh-TW" sz="1600" dirty="0">
                <a:latin typeface="Times New Roman" pitchFamily="18" charset="0"/>
                <a:ea typeface="標楷體" pitchFamily="65" charset="-120"/>
              </a:rPr>
              <a:t>研究結論並非總是客觀、可靠</a:t>
            </a:r>
            <a:endParaRPr lang="zh-TW" altLang="en-US" dirty="0"/>
          </a:p>
        </p:txBody>
      </p:sp>
      <p:pic>
        <p:nvPicPr>
          <p:cNvPr id="4" name="圖片 3">
            <a:extLst>
              <a:ext uri="{FF2B5EF4-FFF2-40B4-BE49-F238E27FC236}">
                <a16:creationId xmlns:a16="http://schemas.microsoft.com/office/drawing/2014/main" id="{5E334F63-6AC3-45D0-8D00-B0CD343FDB45}"/>
              </a:ext>
            </a:extLst>
          </p:cNvPr>
          <p:cNvPicPr>
            <a:picLocks noChangeAspect="1"/>
          </p:cNvPicPr>
          <p:nvPr/>
        </p:nvPicPr>
        <p:blipFill>
          <a:blip r:embed="rId4"/>
          <a:stretch>
            <a:fillRect/>
          </a:stretch>
        </p:blipFill>
        <p:spPr>
          <a:xfrm>
            <a:off x="8711917" y="114300"/>
            <a:ext cx="3390900" cy="1789064"/>
          </a:xfrm>
          <a:prstGeom prst="rect">
            <a:avLst/>
          </a:prstGeom>
          <a:ln>
            <a:solidFill>
              <a:srgbClr val="FF0000"/>
            </a:solidFill>
          </a:ln>
        </p:spPr>
      </p:pic>
    </p:spTree>
    <p:extLst>
      <p:ext uri="{BB962C8B-B14F-4D97-AF65-F5344CB8AC3E}">
        <p14:creationId xmlns:p14="http://schemas.microsoft.com/office/powerpoint/2010/main" val="37696430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8"/>
                                        </p:tgtEl>
                                        <p:attrNameLst>
                                          <p:attrName>style.visibility</p:attrName>
                                        </p:attrNameLst>
                                      </p:cBhvr>
                                      <p:to>
                                        <p:strVal val="visible"/>
                                      </p:to>
                                    </p:set>
                                    <p:animEffect transition="in" filter="fade">
                                      <p:cBhvr>
                                        <p:cTn id="12" dur="500"/>
                                        <p:tgtEl>
                                          <p:spTgt spid="348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47459">
                                            <p:txEl>
                                              <p:pRg st="0" end="0"/>
                                            </p:txEl>
                                          </p:spTgt>
                                        </p:tgtEl>
                                        <p:attrNameLst>
                                          <p:attrName>style.visibility</p:attrName>
                                        </p:attrNameLst>
                                      </p:cBhvr>
                                      <p:to>
                                        <p:strVal val="visible"/>
                                      </p:to>
                                    </p:set>
                                    <p:animEffect transition="in" filter="wipe(left)">
                                      <p:cBhvr>
                                        <p:cTn id="21" dur="1000"/>
                                        <p:tgtEl>
                                          <p:spTgt spid="14745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7459">
                                            <p:txEl>
                                              <p:pRg st="1" end="1"/>
                                            </p:txEl>
                                          </p:spTgt>
                                        </p:tgtEl>
                                        <p:attrNameLst>
                                          <p:attrName>style.visibility</p:attrName>
                                        </p:attrNameLst>
                                      </p:cBhvr>
                                      <p:to>
                                        <p:strVal val="visible"/>
                                      </p:to>
                                    </p:set>
                                    <p:animEffect transition="in" filter="fade">
                                      <p:cBhvr>
                                        <p:cTn id="26" dur="500"/>
                                        <p:tgtEl>
                                          <p:spTgt spid="147459">
                                            <p:txEl>
                                              <p:pRg st="1" end="1"/>
                                            </p:txEl>
                                          </p:spTgt>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147459">
                                            <p:txEl>
                                              <p:pRg st="2" end="2"/>
                                            </p:txEl>
                                          </p:spTgt>
                                        </p:tgtEl>
                                        <p:attrNameLst>
                                          <p:attrName>style.visibility</p:attrName>
                                        </p:attrNameLst>
                                      </p:cBhvr>
                                      <p:to>
                                        <p:strVal val="visible"/>
                                      </p:to>
                                    </p:se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14745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7459">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7459">
                                            <p:txEl>
                                              <p:pRg st="5" end="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7459">
                                            <p:txEl>
                                              <p:pRg st="6" end="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74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147459" grpId="0" uiExpand="1" build="p"/>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TW" altLang="en-US" sz="3600">
                <a:latin typeface="Times New Roman" pitchFamily="18" charset="0"/>
                <a:ea typeface="標楷體" pitchFamily="65" charset="-120"/>
              </a:rPr>
              <a:t>社會科學研究</a:t>
            </a:r>
          </a:p>
        </p:txBody>
      </p:sp>
      <p:sp>
        <p:nvSpPr>
          <p:cNvPr id="149507" name="Rectangle 3"/>
          <p:cNvSpPr>
            <a:spLocks noGrp="1" noChangeArrowheads="1"/>
          </p:cNvSpPr>
          <p:nvPr>
            <p:ph idx="1"/>
          </p:nvPr>
        </p:nvSpPr>
        <p:spPr>
          <a:xfrm>
            <a:off x="1095375" y="1700213"/>
            <a:ext cx="10125075" cy="4432300"/>
          </a:xfrm>
        </p:spPr>
        <p:txBody>
          <a:bodyPr/>
          <a:lstStyle/>
          <a:p>
            <a:pPr eaLnBrk="1" hangingPunct="1"/>
            <a:r>
              <a:rPr lang="zh-TW" altLang="en-US" sz="2400" dirty="0">
                <a:latin typeface="Times New Roman" pitchFamily="18" charset="0"/>
                <a:ea typeface="標楷體" pitchFamily="65" charset="-120"/>
              </a:rPr>
              <a:t>是研究</a:t>
            </a:r>
            <a:r>
              <a:rPr lang="zh-TW" altLang="en-US" sz="2400" u="sng" dirty="0">
                <a:latin typeface="Times New Roman" pitchFamily="18" charset="0"/>
                <a:ea typeface="標楷體" pitchFamily="65" charset="-120"/>
              </a:rPr>
              <a:t>人類行為</a:t>
            </a:r>
            <a:r>
              <a:rPr lang="zh-TW" altLang="en-US" sz="2400" dirty="0">
                <a:latin typeface="Times New Roman" pitchFamily="18" charset="0"/>
                <a:ea typeface="標楷體" pitchFamily="65" charset="-120"/>
              </a:rPr>
              <a:t>、</a:t>
            </a:r>
            <a:r>
              <a:rPr lang="zh-TW" altLang="en-US" sz="2400" u="sng" dirty="0">
                <a:latin typeface="Times New Roman" pitchFamily="18" charset="0"/>
                <a:ea typeface="標楷體" pitchFamily="65" charset="-120"/>
              </a:rPr>
              <a:t>人際關係</a:t>
            </a:r>
            <a:r>
              <a:rPr lang="zh-TW" altLang="en-US" sz="2400" dirty="0">
                <a:latin typeface="Times New Roman" pitchFamily="18" charset="0"/>
                <a:ea typeface="標楷體" pitchFamily="65" charset="-120"/>
              </a:rPr>
              <a:t>，以及</a:t>
            </a:r>
            <a:r>
              <a:rPr lang="zh-TW" altLang="en-US" sz="2400" u="sng" dirty="0">
                <a:latin typeface="Times New Roman" pitchFamily="18" charset="0"/>
                <a:ea typeface="標楷體" pitchFamily="65" charset="-120"/>
              </a:rPr>
              <a:t>人類與其生存環境間之關係</a:t>
            </a:r>
            <a:r>
              <a:rPr lang="zh-TW" altLang="en-US" sz="2400" dirty="0">
                <a:latin typeface="Times New Roman" pitchFamily="18" charset="0"/>
                <a:ea typeface="標楷體" pitchFamily="65" charset="-120"/>
              </a:rPr>
              <a:t>的科學</a:t>
            </a:r>
            <a:r>
              <a:rPr lang="en-US" altLang="zh-TW" sz="2400" dirty="0">
                <a:latin typeface="Times New Roman" pitchFamily="18" charset="0"/>
                <a:ea typeface="標楷體" pitchFamily="65" charset="-120"/>
              </a:rPr>
              <a:t/>
            </a:r>
            <a:br>
              <a:rPr lang="en-US" altLang="zh-TW" sz="2400" dirty="0">
                <a:latin typeface="Times New Roman" pitchFamily="18" charset="0"/>
                <a:ea typeface="標楷體" pitchFamily="65" charset="-120"/>
              </a:rPr>
            </a:br>
            <a:r>
              <a:rPr lang="zh-TW" altLang="en-US" sz="1800" dirty="0">
                <a:latin typeface="Times New Roman" pitchFamily="18" charset="0"/>
                <a:ea typeface="標楷體" pitchFamily="65" charset="-120"/>
              </a:rPr>
              <a:t>（魏鏞 </a:t>
            </a:r>
            <a:r>
              <a:rPr lang="en-US" altLang="zh-TW" sz="1800" dirty="0">
                <a:latin typeface="Times New Roman" pitchFamily="18" charset="0"/>
                <a:ea typeface="標楷體" pitchFamily="65" charset="-120"/>
              </a:rPr>
              <a:t>1971, p.5</a:t>
            </a:r>
            <a:r>
              <a:rPr lang="zh-TW" altLang="en-US" sz="1800" dirty="0">
                <a:latin typeface="Times New Roman" pitchFamily="18" charset="0"/>
                <a:ea typeface="標楷體" pitchFamily="65" charset="-120"/>
              </a:rPr>
              <a:t>）</a:t>
            </a:r>
          </a:p>
          <a:p>
            <a:pPr lvl="1" eaLnBrk="1" hangingPunct="1"/>
            <a:r>
              <a:rPr lang="zh-TW" altLang="en-US" sz="2000" dirty="0">
                <a:latin typeface="Times New Roman" pitchFamily="18" charset="0"/>
                <a:ea typeface="標楷體" pitchFamily="65" charset="-120"/>
              </a:rPr>
              <a:t>個人行為：好惡、動機、個性、認知、購買行為</a:t>
            </a:r>
          </a:p>
          <a:p>
            <a:pPr lvl="1" eaLnBrk="1" hangingPunct="1"/>
            <a:r>
              <a:rPr lang="zh-TW" altLang="en-US" sz="2000" dirty="0">
                <a:latin typeface="Times New Roman" pitchFamily="18" charset="0"/>
                <a:ea typeface="標楷體" pitchFamily="65" charset="-120"/>
              </a:rPr>
              <a:t>群體行為：社會互動、政治、企業文化、經濟、潮流、粉絲、組織氣候、</a:t>
            </a:r>
            <a:r>
              <a:rPr lang="en-US" altLang="zh-TW" sz="2000" dirty="0">
                <a:latin typeface="Times New Roman" pitchFamily="18" charset="0"/>
                <a:ea typeface="標楷體" pitchFamily="65" charset="-120"/>
              </a:rPr>
              <a:t>CSR</a:t>
            </a:r>
            <a:r>
              <a:rPr lang="zh-TW" altLang="en-US" sz="2000" dirty="0">
                <a:latin typeface="Times New Roman" pitchFamily="18" charset="0"/>
                <a:ea typeface="標楷體" pitchFamily="65" charset="-120"/>
              </a:rPr>
              <a:t> 企業社會責任、行銷導向</a:t>
            </a:r>
          </a:p>
          <a:p>
            <a:pPr lvl="1" eaLnBrk="1" hangingPunct="1"/>
            <a:r>
              <a:rPr lang="zh-TW" altLang="en-US" sz="2000" dirty="0">
                <a:latin typeface="Times New Roman" pitchFamily="18" charset="0"/>
                <a:ea typeface="標楷體" pitchFamily="65" charset="-120"/>
              </a:rPr>
              <a:t>總體：社區形成、鄉村與都市、經濟地理、戰爭、人類生態學、供應鏈、區域同盟</a:t>
            </a:r>
          </a:p>
          <a:p>
            <a:pPr eaLnBrk="1" hangingPunct="1"/>
            <a:endParaRPr lang="en-US" altLang="zh-TW" sz="2400" dirty="0"/>
          </a:p>
        </p:txBody>
      </p:sp>
      <p:sp>
        <p:nvSpPr>
          <p:cNvPr id="43012"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A43D3CE3-68C8-491C-ADAC-1FF3217EACBC}" type="slidenum">
              <a:rPr kumimoji="0" lang="en-US" altLang="zh-TW" sz="1400">
                <a:latin typeface="Times New Roman" pitchFamily="18" charset="0"/>
              </a:rPr>
              <a:pPr/>
              <a:t>18</a:t>
            </a:fld>
            <a:endParaRPr kumimoji="0" lang="en-US" altLang="zh-TW" sz="1400">
              <a:latin typeface="Times New Roman" pitchFamily="18" charset="0"/>
            </a:endParaRPr>
          </a:p>
        </p:txBody>
      </p:sp>
      <p:pic>
        <p:nvPicPr>
          <p:cNvPr id="8" name="圖片 7">
            <a:extLst>
              <a:ext uri="{FF2B5EF4-FFF2-40B4-BE49-F238E27FC236}">
                <a16:creationId xmlns:a16="http://schemas.microsoft.com/office/drawing/2014/main" id="{B78B7E51-FA3E-4D4C-99CB-39E4EE2D4BBE}"/>
              </a:ext>
            </a:extLst>
          </p:cNvPr>
          <p:cNvPicPr>
            <a:picLocks noChangeAspect="1"/>
          </p:cNvPicPr>
          <p:nvPr/>
        </p:nvPicPr>
        <p:blipFill>
          <a:blip r:embed="rId3"/>
          <a:stretch>
            <a:fillRect/>
          </a:stretch>
        </p:blipFill>
        <p:spPr>
          <a:xfrm rot="21480000">
            <a:off x="5905526" y="274246"/>
            <a:ext cx="6136407" cy="844210"/>
          </a:xfrm>
          <a:prstGeom prst="rect">
            <a:avLst/>
          </a:prstGeom>
          <a:ln>
            <a:solidFill>
              <a:srgbClr val="FF0000"/>
            </a:solidFill>
          </a:ln>
        </p:spPr>
      </p:pic>
    </p:spTree>
    <p:extLst>
      <p:ext uri="{BB962C8B-B14F-4D97-AF65-F5344CB8AC3E}">
        <p14:creationId xmlns:p14="http://schemas.microsoft.com/office/powerpoint/2010/main" val="139210414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95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95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9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zh-TW" altLang="en-US" sz="3600" dirty="0">
                <a:solidFill>
                  <a:schemeClr val="tx1"/>
                </a:solidFill>
                <a:latin typeface="Times New Roman" pitchFamily="18" charset="0"/>
                <a:ea typeface="標楷體" pitchFamily="65" charset="-120"/>
              </a:rPr>
              <a:t>研究過程的</a:t>
            </a:r>
            <a:r>
              <a:rPr lang="zh-TW" altLang="en-US" sz="3200" b="1" dirty="0">
                <a:solidFill>
                  <a:srgbClr val="FF0000"/>
                </a:solidFill>
                <a:latin typeface="Times New Roman" pitchFamily="18" charset="0"/>
                <a:ea typeface="標楷體" pitchFamily="65" charset="-120"/>
              </a:rPr>
              <a:t>解剖 </a:t>
            </a:r>
            <a:r>
              <a:rPr lang="en-US" altLang="zh-TW" sz="3200" b="1" dirty="0">
                <a:solidFill>
                  <a:srgbClr val="FF0000"/>
                </a:solidFill>
                <a:latin typeface="Times New Roman" pitchFamily="18" charset="0"/>
                <a:ea typeface="標楷體" pitchFamily="65" charset="-120"/>
              </a:rPr>
              <a:t>Anatomy:</a:t>
            </a:r>
            <a:r>
              <a:rPr lang="en-US" altLang="zh-TW" sz="3200" dirty="0">
                <a:solidFill>
                  <a:schemeClr val="tx1"/>
                </a:solidFill>
                <a:latin typeface="Times New Roman" pitchFamily="18" charset="0"/>
                <a:ea typeface="標楷體" pitchFamily="65" charset="-120"/>
              </a:rPr>
              <a:t> What it’s made of?</a:t>
            </a:r>
          </a:p>
        </p:txBody>
      </p:sp>
      <p:sp>
        <p:nvSpPr>
          <p:cNvPr id="86019" name="Rectangle 3"/>
          <p:cNvSpPr>
            <a:spLocks noGrp="1" noChangeArrowheads="1"/>
          </p:cNvSpPr>
          <p:nvPr>
            <p:ph sz="half" idx="1"/>
          </p:nvPr>
        </p:nvSpPr>
        <p:spPr>
          <a:xfrm>
            <a:off x="833260" y="1733004"/>
            <a:ext cx="5834801" cy="4432300"/>
          </a:xfrm>
        </p:spPr>
        <p:txBody>
          <a:bodyPr>
            <a:normAutofit/>
          </a:bodyPr>
          <a:lstStyle/>
          <a:p>
            <a:pPr eaLnBrk="1" hangingPunct="1"/>
            <a:r>
              <a:rPr lang="zh-TW" altLang="en-US" sz="2000" dirty="0">
                <a:latin typeface="Times New Roman" pitchFamily="18" charset="0"/>
                <a:ea typeface="標楷體" pitchFamily="65" charset="-120"/>
              </a:rPr>
              <a:t>研究題目界定：如何找到好題目？</a:t>
            </a:r>
          </a:p>
          <a:p>
            <a:pPr eaLnBrk="1" hangingPunct="1">
              <a:spcBef>
                <a:spcPts val="600"/>
              </a:spcBef>
            </a:pPr>
            <a:r>
              <a:rPr lang="zh-TW" altLang="en-US" sz="2000" dirty="0">
                <a:latin typeface="Times New Roman" pitchFamily="18" charset="0"/>
                <a:ea typeface="標楷體" pitchFamily="65" charset="-120"/>
              </a:rPr>
              <a:t>研究的起頭與鋪陳：如何吸引讀者讀下去？</a:t>
            </a:r>
            <a:endParaRPr lang="en-US" altLang="zh-TW" sz="2000" dirty="0">
              <a:latin typeface="Times New Roman" pitchFamily="18" charset="0"/>
              <a:ea typeface="標楷體" pitchFamily="65" charset="-120"/>
            </a:endParaRPr>
          </a:p>
          <a:p>
            <a:pPr eaLnBrk="1" hangingPunct="1">
              <a:spcBef>
                <a:spcPts val="600"/>
              </a:spcBef>
            </a:pPr>
            <a:r>
              <a:rPr lang="zh-TW" altLang="en-US" sz="2000" dirty="0">
                <a:latin typeface="Times New Roman" pitchFamily="18" charset="0"/>
                <a:ea typeface="標楷體" pitchFamily="65" charset="-120"/>
              </a:rPr>
              <a:t>理論基礎：研究如何立基於前人基礎？</a:t>
            </a:r>
          </a:p>
          <a:p>
            <a:pPr eaLnBrk="1" hangingPunct="1">
              <a:spcBef>
                <a:spcPts val="600"/>
              </a:spcBef>
            </a:pPr>
            <a:r>
              <a:rPr lang="zh-TW" altLang="en-US" sz="2000" dirty="0">
                <a:latin typeface="Times New Roman" pitchFamily="18" charset="0"/>
                <a:ea typeface="標楷體" pitchFamily="65" charset="-120"/>
              </a:rPr>
              <a:t>研究變數：探討的主要變數為何？</a:t>
            </a:r>
          </a:p>
          <a:p>
            <a:pPr eaLnBrk="1" hangingPunct="1">
              <a:spcBef>
                <a:spcPts val="600"/>
              </a:spcBef>
            </a:pPr>
            <a:r>
              <a:rPr lang="zh-TW" altLang="en-US" sz="2000" dirty="0">
                <a:latin typeface="Times New Roman" pitchFamily="18" charset="0"/>
                <a:ea typeface="標楷體" pitchFamily="65" charset="-120"/>
              </a:rPr>
              <a:t>研究設計：進行步驟？如何衡量？</a:t>
            </a:r>
          </a:p>
          <a:p>
            <a:pPr eaLnBrk="1" hangingPunct="1">
              <a:spcBef>
                <a:spcPts val="600"/>
              </a:spcBef>
            </a:pPr>
            <a:r>
              <a:rPr lang="zh-TW" altLang="en-US" sz="2000" dirty="0">
                <a:latin typeface="Times New Roman" pitchFamily="18" charset="0"/>
                <a:ea typeface="標楷體" pitchFamily="65" charset="-120"/>
              </a:rPr>
              <a:t>研究取樣與數據：如何選樣本與取得數據？</a:t>
            </a:r>
          </a:p>
          <a:p>
            <a:pPr eaLnBrk="1" hangingPunct="1">
              <a:spcBef>
                <a:spcPts val="600"/>
              </a:spcBef>
            </a:pPr>
            <a:r>
              <a:rPr lang="zh-TW" altLang="en-US" sz="2000" dirty="0">
                <a:latin typeface="Times New Roman" pitchFamily="18" charset="0"/>
                <a:ea typeface="標楷體" pitchFamily="65" charset="-120"/>
              </a:rPr>
              <a:t>統計分析與結果：用何種分析方法？結果？</a:t>
            </a:r>
          </a:p>
          <a:p>
            <a:pPr eaLnBrk="1" hangingPunct="1">
              <a:spcBef>
                <a:spcPts val="600"/>
              </a:spcBef>
            </a:pPr>
            <a:r>
              <a:rPr lang="zh-TW" altLang="en-US" sz="2000" dirty="0">
                <a:latin typeface="Times New Roman" pitchFamily="18" charset="0"/>
                <a:ea typeface="標楷體" pitchFamily="65" charset="-120"/>
              </a:rPr>
              <a:t>結果的討論：意涵、貢獻</a:t>
            </a:r>
            <a:endParaRPr lang="en-US" altLang="zh-TW" sz="2000" dirty="0">
              <a:latin typeface="Times New Roman" pitchFamily="18" charset="0"/>
              <a:ea typeface="標楷體" pitchFamily="65" charset="-120"/>
            </a:endParaRPr>
          </a:p>
          <a:p>
            <a:pPr eaLnBrk="1" hangingPunct="1">
              <a:spcBef>
                <a:spcPts val="600"/>
              </a:spcBef>
            </a:pPr>
            <a:r>
              <a:rPr lang="zh-TW" altLang="en-US" sz="2000" dirty="0">
                <a:latin typeface="Times New Roman" pitchFamily="18" charset="0"/>
                <a:ea typeface="標楷體" pitchFamily="65" charset="-120"/>
              </a:rPr>
              <a:t>結論限制、建議與結論</a:t>
            </a:r>
            <a:r>
              <a:rPr lang="en-US" altLang="zh-TW" sz="1600" dirty="0">
                <a:latin typeface="Times New Roman" pitchFamily="18" charset="0"/>
                <a:ea typeface="標楷體" pitchFamily="65" charset="-120"/>
              </a:rPr>
              <a:t>【</a:t>
            </a:r>
            <a:r>
              <a:rPr lang="zh-TW" altLang="en-US" sz="1600" dirty="0">
                <a:latin typeface="Times New Roman" pitchFamily="18" charset="0"/>
                <a:ea typeface="標楷體" pitchFamily="65" charset="-120"/>
              </a:rPr>
              <a:t>最重要的 </a:t>
            </a:r>
            <a:r>
              <a:rPr lang="en-US" altLang="zh-TW" sz="1600" dirty="0">
                <a:latin typeface="Times New Roman" pitchFamily="18" charset="0"/>
                <a:ea typeface="標楷體" pitchFamily="65" charset="-120"/>
              </a:rPr>
              <a:t>take away】</a:t>
            </a:r>
            <a:endParaRPr lang="en-US" altLang="zh-TW" sz="2000" dirty="0">
              <a:latin typeface="Times New Roman" pitchFamily="18" charset="0"/>
              <a:ea typeface="標楷體" pitchFamily="65" charset="-120"/>
            </a:endParaRPr>
          </a:p>
          <a:p>
            <a:pPr eaLnBrk="1" hangingPunct="1">
              <a:spcBef>
                <a:spcPts val="600"/>
              </a:spcBef>
            </a:pPr>
            <a:r>
              <a:rPr lang="zh-TW" altLang="en-US" sz="2000" dirty="0">
                <a:latin typeface="Times New Roman" pitchFamily="18" charset="0"/>
                <a:ea typeface="標楷體" pitchFamily="65" charset="-120"/>
              </a:rPr>
              <a:t>以上整個</a:t>
            </a:r>
            <a:r>
              <a:rPr lang="zh-TW" altLang="en-US" sz="2000" u="sng" dirty="0">
                <a:latin typeface="Times New Roman" pitchFamily="18" charset="0"/>
                <a:ea typeface="標楷體" pitchFamily="65" charset="-120"/>
              </a:rPr>
              <a:t>研究過程</a:t>
            </a:r>
            <a:r>
              <a:rPr lang="zh-TW" altLang="en-US" sz="2000" dirty="0">
                <a:latin typeface="Times New Roman" pitchFamily="18" charset="0"/>
                <a:ea typeface="標楷體" pitchFamily="65" charset="-120"/>
              </a:rPr>
              <a:t>即為</a:t>
            </a:r>
            <a:r>
              <a:rPr lang="en-US" altLang="zh-TW" sz="2000" dirty="0">
                <a:latin typeface="Times New Roman" pitchFamily="18" charset="0"/>
                <a:ea typeface="標楷體" pitchFamily="65" charset="-120"/>
              </a:rPr>
              <a:t>【</a:t>
            </a:r>
            <a:r>
              <a:rPr lang="zh-TW" altLang="en-US" sz="2000" dirty="0">
                <a:latin typeface="Times New Roman" pitchFamily="18" charset="0"/>
                <a:ea typeface="標楷體" pitchFamily="65" charset="-120"/>
              </a:rPr>
              <a:t>研究方法論</a:t>
            </a:r>
            <a:r>
              <a:rPr lang="en-US" altLang="zh-TW" sz="2000" dirty="0">
                <a:latin typeface="Times New Roman" pitchFamily="18" charset="0"/>
                <a:ea typeface="標楷體" pitchFamily="65" charset="-120"/>
              </a:rPr>
              <a:t>】</a:t>
            </a:r>
            <a:r>
              <a:rPr lang="zh-TW" altLang="en-US" sz="2000" dirty="0">
                <a:latin typeface="Times New Roman" pitchFamily="18" charset="0"/>
                <a:ea typeface="標楷體" pitchFamily="65" charset="-120"/>
              </a:rPr>
              <a:t>的範疇</a:t>
            </a:r>
          </a:p>
        </p:txBody>
      </p:sp>
      <p:sp>
        <p:nvSpPr>
          <p:cNvPr id="60420"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ACF9184D-B838-49D1-8D09-C12457236D4E}" type="slidenum">
              <a:rPr kumimoji="0" lang="en-US" altLang="zh-TW" sz="1400">
                <a:latin typeface="Times New Roman" pitchFamily="18" charset="0"/>
              </a:rPr>
              <a:pPr/>
              <a:t>19</a:t>
            </a:fld>
            <a:endParaRPr kumimoji="0" lang="en-US" altLang="zh-TW" sz="1400">
              <a:latin typeface="Times New Roman" pitchFamily="18" charset="0"/>
            </a:endParaRPr>
          </a:p>
        </p:txBody>
      </p:sp>
      <p:pic>
        <p:nvPicPr>
          <p:cNvPr id="2" name="圖片 1"/>
          <p:cNvPicPr>
            <a:picLocks noChangeAspect="1"/>
          </p:cNvPicPr>
          <p:nvPr/>
        </p:nvPicPr>
        <p:blipFill>
          <a:blip r:embed="rId3"/>
          <a:stretch>
            <a:fillRect/>
          </a:stretch>
        </p:blipFill>
        <p:spPr>
          <a:xfrm rot="21420000">
            <a:off x="6128577" y="2379298"/>
            <a:ext cx="2506416" cy="1643993"/>
          </a:xfrm>
          <a:prstGeom prst="rect">
            <a:avLst/>
          </a:prstGeom>
          <a:ln>
            <a:solidFill>
              <a:schemeClr val="tx1"/>
            </a:solidFill>
          </a:ln>
        </p:spPr>
      </p:pic>
      <p:pic>
        <p:nvPicPr>
          <p:cNvPr id="3" name="圖片 2"/>
          <p:cNvPicPr>
            <a:picLocks noChangeAspect="1"/>
          </p:cNvPicPr>
          <p:nvPr/>
        </p:nvPicPr>
        <p:blipFill>
          <a:blip r:embed="rId4"/>
          <a:stretch>
            <a:fillRect/>
          </a:stretch>
        </p:blipFill>
        <p:spPr>
          <a:xfrm>
            <a:off x="8881450" y="1415920"/>
            <a:ext cx="3085162" cy="4495178"/>
          </a:xfrm>
          <a:prstGeom prst="rect">
            <a:avLst/>
          </a:prstGeom>
        </p:spPr>
      </p:pic>
    </p:spTree>
    <p:extLst>
      <p:ext uri="{BB962C8B-B14F-4D97-AF65-F5344CB8AC3E}">
        <p14:creationId xmlns:p14="http://schemas.microsoft.com/office/powerpoint/2010/main" val="38178365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Effect transition="in" filter="fade">
                                      <p:cBhvr>
                                        <p:cTn id="7" dur="250"/>
                                        <p:tgtEl>
                                          <p:spTgt spid="86019">
                                            <p:txEl>
                                              <p:pRg st="0" end="0"/>
                                            </p:txEl>
                                          </p:spTgt>
                                        </p:tgtEl>
                                      </p:cBhvr>
                                    </p:animEffect>
                                  </p:childTnLst>
                                </p:cTn>
                              </p:par>
                            </p:childTnLst>
                          </p:cTn>
                        </p:par>
                        <p:par>
                          <p:cTn id="8" fill="hold" nodeType="withGroup">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animEffect transition="in" filter="fade">
                                      <p:cBhvr>
                                        <p:cTn id="11" dur="250"/>
                                        <p:tgtEl>
                                          <p:spTgt spid="86019">
                                            <p:txEl>
                                              <p:pRg st="1" end="1"/>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86019">
                                            <p:txEl>
                                              <p:pRg st="2" end="2"/>
                                            </p:txEl>
                                          </p:spTgt>
                                        </p:tgtEl>
                                        <p:attrNameLst>
                                          <p:attrName>style.visibility</p:attrName>
                                        </p:attrNameLst>
                                      </p:cBhvr>
                                      <p:to>
                                        <p:strVal val="visible"/>
                                      </p:to>
                                    </p:set>
                                    <p:animEffect transition="in" filter="fade">
                                      <p:cBhvr>
                                        <p:cTn id="15" dur="250"/>
                                        <p:tgtEl>
                                          <p:spTgt spid="86019">
                                            <p:txEl>
                                              <p:pRg st="2" end="2"/>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86019">
                                            <p:txEl>
                                              <p:pRg st="3" end="3"/>
                                            </p:txEl>
                                          </p:spTgt>
                                        </p:tgtEl>
                                        <p:attrNameLst>
                                          <p:attrName>style.visibility</p:attrName>
                                        </p:attrNameLst>
                                      </p:cBhvr>
                                      <p:to>
                                        <p:strVal val="visible"/>
                                      </p:to>
                                    </p:set>
                                    <p:animEffect transition="in" filter="fade">
                                      <p:cBhvr>
                                        <p:cTn id="19" dur="250"/>
                                        <p:tgtEl>
                                          <p:spTgt spid="86019">
                                            <p:txEl>
                                              <p:pRg st="3" end="3"/>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86019">
                                            <p:txEl>
                                              <p:pRg st="4" end="4"/>
                                            </p:txEl>
                                          </p:spTgt>
                                        </p:tgtEl>
                                        <p:attrNameLst>
                                          <p:attrName>style.visibility</p:attrName>
                                        </p:attrNameLst>
                                      </p:cBhvr>
                                      <p:to>
                                        <p:strVal val="visible"/>
                                      </p:to>
                                    </p:set>
                                    <p:animEffect transition="in" filter="fade">
                                      <p:cBhvr>
                                        <p:cTn id="23" dur="250"/>
                                        <p:tgtEl>
                                          <p:spTgt spid="86019">
                                            <p:txEl>
                                              <p:pRg st="4" end="4"/>
                                            </p:txEl>
                                          </p:spTgt>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86019">
                                            <p:txEl>
                                              <p:pRg st="5" end="5"/>
                                            </p:txEl>
                                          </p:spTgt>
                                        </p:tgtEl>
                                        <p:attrNameLst>
                                          <p:attrName>style.visibility</p:attrName>
                                        </p:attrNameLst>
                                      </p:cBhvr>
                                      <p:to>
                                        <p:strVal val="visible"/>
                                      </p:to>
                                    </p:set>
                                    <p:animEffect transition="in" filter="fade">
                                      <p:cBhvr>
                                        <p:cTn id="27" dur="250"/>
                                        <p:tgtEl>
                                          <p:spTgt spid="86019">
                                            <p:txEl>
                                              <p:pRg st="5" end="5"/>
                                            </p:txEl>
                                          </p:spTgt>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86019">
                                            <p:txEl>
                                              <p:pRg st="6" end="6"/>
                                            </p:txEl>
                                          </p:spTgt>
                                        </p:tgtEl>
                                        <p:attrNameLst>
                                          <p:attrName>style.visibility</p:attrName>
                                        </p:attrNameLst>
                                      </p:cBhvr>
                                      <p:to>
                                        <p:strVal val="visible"/>
                                      </p:to>
                                    </p:set>
                                    <p:animEffect transition="in" filter="fade">
                                      <p:cBhvr>
                                        <p:cTn id="31" dur="250"/>
                                        <p:tgtEl>
                                          <p:spTgt spid="86019">
                                            <p:txEl>
                                              <p:pRg st="6" end="6"/>
                                            </p:txEl>
                                          </p:spTgt>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86019">
                                            <p:txEl>
                                              <p:pRg st="7" end="7"/>
                                            </p:txEl>
                                          </p:spTgt>
                                        </p:tgtEl>
                                        <p:attrNameLst>
                                          <p:attrName>style.visibility</p:attrName>
                                        </p:attrNameLst>
                                      </p:cBhvr>
                                      <p:to>
                                        <p:strVal val="visible"/>
                                      </p:to>
                                    </p:set>
                                    <p:animEffect transition="in" filter="fade">
                                      <p:cBhvr>
                                        <p:cTn id="35" dur="250"/>
                                        <p:tgtEl>
                                          <p:spTgt spid="86019">
                                            <p:txEl>
                                              <p:pRg st="7" end="7"/>
                                            </p:txEl>
                                          </p:spTgt>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86019">
                                            <p:txEl>
                                              <p:pRg st="8" end="8"/>
                                            </p:txEl>
                                          </p:spTgt>
                                        </p:tgtEl>
                                        <p:attrNameLst>
                                          <p:attrName>style.visibility</p:attrName>
                                        </p:attrNameLst>
                                      </p:cBhvr>
                                      <p:to>
                                        <p:strVal val="visible"/>
                                      </p:to>
                                    </p:set>
                                    <p:animEffect transition="in" filter="fade">
                                      <p:cBhvr>
                                        <p:cTn id="39" dur="250"/>
                                        <p:tgtEl>
                                          <p:spTgt spid="86019">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86019">
                                            <p:txEl>
                                              <p:pRg st="9" end="9"/>
                                            </p:txEl>
                                          </p:spTgt>
                                        </p:tgtEl>
                                        <p:attrNameLst>
                                          <p:attrName>style.visibility</p:attrName>
                                        </p:attrNameLst>
                                      </p:cBhvr>
                                      <p:to>
                                        <p:strVal val="visible"/>
                                      </p:to>
                                    </p:set>
                                    <p:animEffect transition="in" filter="fade">
                                      <p:cBhvr>
                                        <p:cTn id="44" dur="500"/>
                                        <p:tgtEl>
                                          <p:spTgt spid="86019">
                                            <p:txEl>
                                              <p:pRg st="9" end="9"/>
                                            </p:txEl>
                                          </p:spTgt>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fontScale="90000"/>
          </a:bodyPr>
          <a:lstStyle/>
          <a:p>
            <a:r>
              <a:rPr lang="zh-TW" altLang="en-US" sz="3600" dirty="0"/>
              <a:t/>
            </a:r>
            <a:br>
              <a:rPr lang="zh-TW" altLang="en-US" sz="3600" dirty="0"/>
            </a:br>
            <a:r>
              <a:rPr lang="zh-TW" altLang="en-US" sz="3600" dirty="0"/>
              <a:t/>
            </a:r>
            <a:br>
              <a:rPr lang="zh-TW" altLang="en-US" sz="3600" dirty="0"/>
            </a:br>
            <a:r>
              <a:rPr lang="zh-TW" altLang="en-US" sz="3600" dirty="0">
                <a:latin typeface="Times New Roman" pitchFamily="18" charset="0"/>
                <a:ea typeface="標楷體" pitchFamily="65" charset="-120"/>
              </a:rPr>
              <a:t>研究過程</a:t>
            </a:r>
            <a:r>
              <a:rPr lang="en-US" altLang="zh-TW" sz="2800" dirty="0">
                <a:latin typeface="Times New Roman" pitchFamily="18" charset="0"/>
                <a:ea typeface="標楷體" pitchFamily="65" charset="-120"/>
              </a:rPr>
              <a:t>【</a:t>
            </a:r>
            <a:r>
              <a:rPr lang="zh-TW" altLang="en-US" sz="2800" dirty="0">
                <a:latin typeface="Times New Roman" pitchFamily="18" charset="0"/>
                <a:ea typeface="標楷體" pitchFamily="65" charset="-120"/>
              </a:rPr>
              <a:t>研究程序</a:t>
            </a:r>
            <a:r>
              <a:rPr lang="en-US" altLang="zh-TW" sz="2800" dirty="0">
                <a:latin typeface="Times New Roman" pitchFamily="18" charset="0"/>
                <a:ea typeface="標楷體" pitchFamily="65" charset="-120"/>
              </a:rPr>
              <a:t>】</a:t>
            </a:r>
            <a:endParaRPr lang="zh-TW" altLang="en-US" sz="3600" dirty="0"/>
          </a:p>
        </p:txBody>
      </p:sp>
      <p:graphicFrame>
        <p:nvGraphicFramePr>
          <p:cNvPr id="10" name="內容版面配置區 9"/>
          <p:cNvGraphicFramePr>
            <a:graphicFrameLocks noGrp="1"/>
          </p:cNvGraphicFramePr>
          <p:nvPr>
            <p:ph idx="1"/>
          </p:nvPr>
        </p:nvGraphicFramePr>
        <p:xfrm>
          <a:off x="2207568" y="1700213"/>
          <a:ext cx="7772400" cy="4432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投影片編號版面配置區 1"/>
          <p:cNvSpPr>
            <a:spLocks noGrp="1"/>
          </p:cNvSpPr>
          <p:nvPr>
            <p:ph type="sldNum" sz="quarter" idx="12"/>
          </p:nvPr>
        </p:nvSpPr>
        <p:spPr/>
        <p:txBody>
          <a:bodyPr/>
          <a:lstStyle/>
          <a:p>
            <a:fld id="{4657EBC0-DB40-486E-B7F0-E808831A5712}" type="slidenum">
              <a:rPr lang="en-US" altLang="zh-TW" smtClean="0"/>
              <a:pPr/>
              <a:t>20</a:t>
            </a:fld>
            <a:endParaRPr lang="en-US" altLang="zh-TW"/>
          </a:p>
        </p:txBody>
      </p:sp>
      <p:sp>
        <p:nvSpPr>
          <p:cNvPr id="9" name="圓角矩形 8"/>
          <p:cNvSpPr/>
          <p:nvPr/>
        </p:nvSpPr>
        <p:spPr>
          <a:xfrm>
            <a:off x="2711624" y="3217738"/>
            <a:ext cx="4320480" cy="136815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p:cNvSpPr txBox="1"/>
          <p:nvPr/>
        </p:nvSpPr>
        <p:spPr>
          <a:xfrm>
            <a:off x="7176119" y="476673"/>
            <a:ext cx="1850185" cy="646331"/>
          </a:xfrm>
          <a:prstGeom prst="rect">
            <a:avLst/>
          </a:prstGeom>
          <a:noFill/>
          <a:ln w="28575">
            <a:solidFill>
              <a:srgbClr val="FF0000"/>
            </a:solidFill>
          </a:ln>
        </p:spPr>
        <p:txBody>
          <a:bodyPr wrap="square" rtlCol="0">
            <a:spAutoFit/>
          </a:bodyPr>
          <a:lstStyle/>
          <a:p>
            <a:pPr algn="ctr"/>
            <a:r>
              <a:rPr lang="zh-TW" altLang="en-US" dirty="0">
                <a:latin typeface="標楷體" panose="03000509000000000000" pitchFamily="65" charset="-120"/>
                <a:ea typeface="標楷體" panose="03000509000000000000" pitchFamily="65" charset="-120"/>
              </a:rPr>
              <a:t>一般所謂的</a:t>
            </a:r>
            <a:r>
              <a:rPr lang="en-US" altLang="zh-TW" dirty="0">
                <a:latin typeface="標楷體" panose="03000509000000000000" pitchFamily="65" charset="-120"/>
                <a:ea typeface="標楷體" panose="03000509000000000000" pitchFamily="65" charset="-120"/>
              </a:rPr>
              <a:t/>
            </a:r>
            <a:br>
              <a:rPr lang="en-US" altLang="zh-TW" dirty="0">
                <a:latin typeface="標楷體" panose="03000509000000000000" pitchFamily="65" charset="-120"/>
                <a:ea typeface="標楷體" panose="03000509000000000000" pitchFamily="65" charset="-120"/>
              </a:rPr>
            </a:br>
            <a:r>
              <a:rPr lang="zh-TW" altLang="en-US" b="1" u="sng" dirty="0">
                <a:latin typeface="標楷體" panose="03000509000000000000" pitchFamily="65" charset="-120"/>
                <a:ea typeface="標楷體" panose="03000509000000000000" pitchFamily="65" charset="-120"/>
              </a:rPr>
              <a:t>研究方法</a:t>
            </a:r>
            <a:r>
              <a:rPr lang="zh-TW" altLang="en-US" dirty="0">
                <a:latin typeface="標楷體" panose="03000509000000000000" pitchFamily="65" charset="-120"/>
                <a:ea typeface="標楷體" panose="03000509000000000000" pitchFamily="65" charset="-120"/>
              </a:rPr>
              <a:t>或</a:t>
            </a:r>
            <a:r>
              <a:rPr lang="zh-TW" altLang="en-US" b="1" u="sng" dirty="0">
                <a:latin typeface="標楷體" panose="03000509000000000000" pitchFamily="65" charset="-120"/>
                <a:ea typeface="標楷體" panose="03000509000000000000" pitchFamily="65" charset="-120"/>
              </a:rPr>
              <a:t>研方</a:t>
            </a:r>
          </a:p>
        </p:txBody>
      </p:sp>
      <p:cxnSp>
        <p:nvCxnSpPr>
          <p:cNvPr id="12" name="弧形接點 11"/>
          <p:cNvCxnSpPr>
            <a:stCxn id="6" idx="2"/>
          </p:cNvCxnSpPr>
          <p:nvPr/>
        </p:nvCxnSpPr>
        <p:spPr>
          <a:xfrm rot="5400000">
            <a:off x="6447289" y="1563815"/>
            <a:ext cx="2094735" cy="1213112"/>
          </a:xfrm>
          <a:prstGeom prst="curvedConnector3">
            <a:avLst>
              <a:gd name="adj1" fmla="val 50000"/>
            </a:avLst>
          </a:prstGeom>
          <a:ln>
            <a:solidFill>
              <a:srgbClr val="6011D3"/>
            </a:solidFill>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2515222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2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P spid="9"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4657EBC0-DB40-486E-B7F0-E808831A5712}" type="slidenum">
              <a:rPr lang="en-US" altLang="zh-TW" smtClean="0"/>
              <a:pPr/>
              <a:t>21</a:t>
            </a:fld>
            <a:endParaRPr lang="en-US" altLang="zh-TW"/>
          </a:p>
        </p:txBody>
      </p:sp>
      <p:pic>
        <p:nvPicPr>
          <p:cNvPr id="3" name="圖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3017820" y="197014"/>
            <a:ext cx="9144000" cy="6463972"/>
          </a:xfrm>
          <a:prstGeom prst="rect">
            <a:avLst/>
          </a:prstGeom>
        </p:spPr>
      </p:pic>
      <p:sp>
        <p:nvSpPr>
          <p:cNvPr id="4" name="橢圓 3"/>
          <p:cNvSpPr/>
          <p:nvPr/>
        </p:nvSpPr>
        <p:spPr>
          <a:xfrm>
            <a:off x="4061428" y="1484784"/>
            <a:ext cx="1224136" cy="41044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p:cNvSpPr/>
          <p:nvPr/>
        </p:nvSpPr>
        <p:spPr>
          <a:xfrm>
            <a:off x="8021868" y="576310"/>
            <a:ext cx="936104" cy="6204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7877852" y="1556792"/>
            <a:ext cx="1512168" cy="3168352"/>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p:cNvGrpSpPr/>
          <p:nvPr/>
        </p:nvGrpSpPr>
        <p:grpSpPr>
          <a:xfrm>
            <a:off x="9822069" y="260648"/>
            <a:ext cx="1704007" cy="1022404"/>
            <a:chOff x="644478" y="1704947"/>
            <a:chExt cx="1704007" cy="1022404"/>
          </a:xfrm>
        </p:grpSpPr>
        <p:sp>
          <p:nvSpPr>
            <p:cNvPr id="9" name="圓角矩形 8"/>
            <p:cNvSpPr/>
            <p:nvPr/>
          </p:nvSpPr>
          <p:spPr>
            <a:xfrm>
              <a:off x="644478" y="1704947"/>
              <a:ext cx="1704007" cy="1022404"/>
            </a:xfrm>
            <a:prstGeom prst="roundRect">
              <a:avLst>
                <a:gd name="adj" fmla="val 10000"/>
              </a:avLst>
            </a:prstGeom>
            <a:solidFill>
              <a:schemeClr val="accent1">
                <a:lumMod val="20000"/>
                <a:lumOff val="80000"/>
              </a:schemeClr>
            </a:solidFill>
            <a:ln>
              <a:solidFill>
                <a:schemeClr val="accent1">
                  <a:lumMod val="75000"/>
                </a:schemeClr>
              </a:solidFill>
            </a:ln>
          </p:spPr>
          <p:style>
            <a:lnRef idx="2">
              <a:scrgbClr r="0" g="0" b="0"/>
            </a:lnRef>
            <a:fillRef idx="1">
              <a:scrgbClr r="0" g="0" b="0"/>
            </a:fillRef>
            <a:effectRef idx="0">
              <a:schemeClr val="accent5">
                <a:shade val="50000"/>
                <a:hueOff val="-99460"/>
                <a:satOff val="36283"/>
                <a:lumOff val="28028"/>
                <a:alphaOff val="0"/>
              </a:schemeClr>
            </a:effectRef>
            <a:fontRef idx="minor">
              <a:schemeClr val="lt1"/>
            </a:fontRef>
          </p:style>
        </p:sp>
        <p:sp>
          <p:nvSpPr>
            <p:cNvPr id="10" name="圓角矩形 4"/>
            <p:cNvSpPr/>
            <p:nvPr/>
          </p:nvSpPr>
          <p:spPr>
            <a:xfrm>
              <a:off x="674423" y="1734892"/>
              <a:ext cx="1644117" cy="9625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algn="ctr" defTabSz="889000">
                <a:lnSpc>
                  <a:spcPct val="90000"/>
                </a:lnSpc>
                <a:spcAft>
                  <a:spcPct val="35000"/>
                </a:spcAft>
              </a:pPr>
              <a:r>
                <a:rPr lang="zh-TW" altLang="en-US" sz="2000" b="1" dirty="0">
                  <a:solidFill>
                    <a:schemeClr val="tx1"/>
                  </a:solidFill>
                  <a:latin typeface="標楷體" panose="03000509000000000000" pitchFamily="65" charset="-120"/>
                  <a:ea typeface="標楷體" panose="03000509000000000000" pitchFamily="65" charset="-120"/>
                </a:rPr>
                <a:t>資料蒐集</a:t>
              </a:r>
              <a:r>
                <a:rPr lang="en-US" altLang="zh-TW" sz="2000" b="1" dirty="0">
                  <a:solidFill>
                    <a:schemeClr val="tx1"/>
                  </a:solidFill>
                  <a:latin typeface="標楷體" panose="03000509000000000000" pitchFamily="65" charset="-120"/>
                  <a:ea typeface="標楷體" panose="03000509000000000000" pitchFamily="65" charset="-120"/>
                </a:rPr>
                <a:t/>
              </a:r>
              <a:br>
                <a:rPr lang="en-US" altLang="zh-TW" sz="2000" b="1" dirty="0">
                  <a:solidFill>
                    <a:schemeClr val="tx1"/>
                  </a:solidFill>
                  <a:latin typeface="標楷體" panose="03000509000000000000" pitchFamily="65" charset="-120"/>
                  <a:ea typeface="標楷體" panose="03000509000000000000" pitchFamily="65" charset="-120"/>
                </a:rPr>
              </a:br>
              <a:r>
                <a:rPr lang="zh-TW" altLang="en-US" sz="2000" b="1" dirty="0">
                  <a:solidFill>
                    <a:schemeClr val="tx1"/>
                  </a:solidFill>
                  <a:latin typeface="標楷體" panose="03000509000000000000" pitchFamily="65" charset="-120"/>
                  <a:ea typeface="標楷體" panose="03000509000000000000" pitchFamily="65" charset="-120"/>
                </a:rPr>
                <a:t>與分析</a:t>
              </a:r>
            </a:p>
          </p:txBody>
        </p:sp>
      </p:grpSp>
      <p:grpSp>
        <p:nvGrpSpPr>
          <p:cNvPr id="11" name="群組 10"/>
          <p:cNvGrpSpPr/>
          <p:nvPr/>
        </p:nvGrpSpPr>
        <p:grpSpPr>
          <a:xfrm>
            <a:off x="5573597" y="260648"/>
            <a:ext cx="1704007" cy="1022404"/>
            <a:chOff x="3030089" y="1704947"/>
            <a:chExt cx="1704007" cy="1022404"/>
          </a:xfrm>
        </p:grpSpPr>
        <p:sp>
          <p:nvSpPr>
            <p:cNvPr id="12" name="圓角矩形 11"/>
            <p:cNvSpPr/>
            <p:nvPr/>
          </p:nvSpPr>
          <p:spPr>
            <a:xfrm>
              <a:off x="3030089" y="1704947"/>
              <a:ext cx="1704007" cy="1022404"/>
            </a:xfrm>
            <a:prstGeom prst="roundRect">
              <a:avLst>
                <a:gd name="adj" fmla="val 10000"/>
              </a:avLst>
            </a:prstGeom>
            <a:solidFill>
              <a:schemeClr val="accent1">
                <a:lumMod val="20000"/>
                <a:lumOff val="80000"/>
              </a:schemeClr>
            </a:solidFill>
            <a:ln>
              <a:solidFill>
                <a:schemeClr val="accent1">
                  <a:lumMod val="75000"/>
                </a:schemeClr>
              </a:solidFill>
            </a:ln>
          </p:spPr>
          <p:style>
            <a:lnRef idx="2">
              <a:scrgbClr r="0" g="0" b="0"/>
            </a:lnRef>
            <a:fillRef idx="1">
              <a:scrgbClr r="0" g="0" b="0"/>
            </a:fillRef>
            <a:effectRef idx="0">
              <a:schemeClr val="accent5">
                <a:shade val="50000"/>
                <a:hueOff val="-99460"/>
                <a:satOff val="36283"/>
                <a:lumOff val="28028"/>
                <a:alphaOff val="0"/>
              </a:schemeClr>
            </a:effectRef>
            <a:fontRef idx="minor">
              <a:schemeClr val="lt1"/>
            </a:fontRef>
          </p:style>
        </p:sp>
        <p:sp>
          <p:nvSpPr>
            <p:cNvPr id="13" name="圓角矩形 4"/>
            <p:cNvSpPr/>
            <p:nvPr/>
          </p:nvSpPr>
          <p:spPr>
            <a:xfrm>
              <a:off x="3060034" y="1734892"/>
              <a:ext cx="1644117" cy="9625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algn="ctr" defTabSz="889000">
                <a:lnSpc>
                  <a:spcPct val="90000"/>
                </a:lnSpc>
                <a:spcAft>
                  <a:spcPct val="35000"/>
                </a:spcAft>
              </a:pPr>
              <a:r>
                <a:rPr lang="zh-TW" altLang="en-US" sz="2000" b="1" dirty="0">
                  <a:solidFill>
                    <a:schemeClr val="tx1"/>
                  </a:solidFill>
                  <a:latin typeface="標楷體" panose="03000509000000000000" pitchFamily="65" charset="-120"/>
                  <a:ea typeface="標楷體" panose="03000509000000000000" pitchFamily="65" charset="-120"/>
                </a:rPr>
                <a:t>研究設計</a:t>
              </a:r>
            </a:p>
          </p:txBody>
        </p:sp>
      </p:grpSp>
      <p:cxnSp>
        <p:nvCxnSpPr>
          <p:cNvPr id="15" name="弧形接點 14"/>
          <p:cNvCxnSpPr>
            <a:endCxn id="4" idx="0"/>
          </p:cNvCxnSpPr>
          <p:nvPr/>
        </p:nvCxnSpPr>
        <p:spPr>
          <a:xfrm rot="10800000" flipV="1">
            <a:off x="4673498" y="771848"/>
            <a:ext cx="900103" cy="712936"/>
          </a:xfrm>
          <a:prstGeom prst="curvedConnector2">
            <a:avLst/>
          </a:prstGeom>
          <a:ln>
            <a:solidFill>
              <a:srgbClr val="FF0000"/>
            </a:solidFill>
            <a:tailEnd type="arrow"/>
          </a:ln>
        </p:spPr>
        <p:style>
          <a:lnRef idx="3">
            <a:schemeClr val="accent4"/>
          </a:lnRef>
          <a:fillRef idx="0">
            <a:schemeClr val="accent4"/>
          </a:fillRef>
          <a:effectRef idx="2">
            <a:schemeClr val="accent4"/>
          </a:effectRef>
          <a:fontRef idx="minor">
            <a:schemeClr val="tx1"/>
          </a:fontRef>
        </p:style>
      </p:cxnSp>
      <p:cxnSp>
        <p:nvCxnSpPr>
          <p:cNvPr id="26" name="弧形接點 25"/>
          <p:cNvCxnSpPr/>
          <p:nvPr/>
        </p:nvCxnSpPr>
        <p:spPr>
          <a:xfrm>
            <a:off x="7277604" y="771851"/>
            <a:ext cx="744265" cy="114681"/>
          </a:xfrm>
          <a:prstGeom prst="curvedConnector3">
            <a:avLst/>
          </a:prstGeom>
          <a:ln>
            <a:solidFill>
              <a:srgbClr val="FF0000"/>
            </a:solidFill>
            <a:tailEnd type="arrow"/>
          </a:ln>
        </p:spPr>
        <p:style>
          <a:lnRef idx="3">
            <a:schemeClr val="accent4"/>
          </a:lnRef>
          <a:fillRef idx="0">
            <a:schemeClr val="accent4"/>
          </a:fillRef>
          <a:effectRef idx="2">
            <a:schemeClr val="accent4"/>
          </a:effectRef>
          <a:fontRef idx="minor">
            <a:schemeClr val="tx1"/>
          </a:fontRef>
        </p:style>
      </p:cxnSp>
      <p:cxnSp>
        <p:nvCxnSpPr>
          <p:cNvPr id="28" name="弧形接點 27"/>
          <p:cNvCxnSpPr>
            <a:stCxn id="9" idx="2"/>
          </p:cNvCxnSpPr>
          <p:nvPr/>
        </p:nvCxnSpPr>
        <p:spPr>
          <a:xfrm rot="5400000">
            <a:off x="9571141" y="1101933"/>
            <a:ext cx="921812" cy="1284050"/>
          </a:xfrm>
          <a:prstGeom prst="curvedConnector2">
            <a:avLst/>
          </a:prstGeom>
          <a:ln>
            <a:solidFill>
              <a:srgbClr val="0000FF"/>
            </a:solidFill>
            <a:tailEnd type="arrow"/>
          </a:ln>
        </p:spPr>
        <p:style>
          <a:lnRef idx="3">
            <a:schemeClr val="accent4"/>
          </a:lnRef>
          <a:fillRef idx="0">
            <a:schemeClr val="accent4"/>
          </a:fillRef>
          <a:effectRef idx="2">
            <a:schemeClr val="accent4"/>
          </a:effectRef>
          <a:fontRef idx="minor">
            <a:schemeClr val="tx1"/>
          </a:fontRef>
        </p:style>
      </p:cxnSp>
      <p:pic>
        <p:nvPicPr>
          <p:cNvPr id="17" name="圖片 16"/>
          <p:cNvPicPr>
            <a:picLocks noChangeAspect="1"/>
          </p:cNvPicPr>
          <p:nvPr/>
        </p:nvPicPr>
        <p:blipFill rotWithShape="1">
          <a:blip r:embed="rId3" cstate="print">
            <a:extLst>
              <a:ext uri="{28A0092B-C50C-407E-A947-70E740481C1C}">
                <a14:useLocalDpi xmlns:a14="http://schemas.microsoft.com/office/drawing/2010/main" val="0"/>
              </a:ext>
            </a:extLst>
          </a:blip>
          <a:srcRect l="8351" t="3895" b="8449"/>
          <a:stretch/>
        </p:blipFill>
        <p:spPr>
          <a:xfrm rot="10680000">
            <a:off x="184207" y="961978"/>
            <a:ext cx="3806046" cy="5150068"/>
          </a:xfrm>
          <a:prstGeom prst="rect">
            <a:avLst/>
          </a:prstGeom>
        </p:spPr>
      </p:pic>
      <p:pic>
        <p:nvPicPr>
          <p:cNvPr id="14" name="圖片 13"/>
          <p:cNvPicPr>
            <a:picLocks noChangeAspect="1"/>
          </p:cNvPicPr>
          <p:nvPr/>
        </p:nvPicPr>
        <p:blipFill>
          <a:blip r:embed="rId4"/>
          <a:stretch>
            <a:fillRect/>
          </a:stretch>
        </p:blipFill>
        <p:spPr>
          <a:xfrm rot="21360000">
            <a:off x="9228733" y="4739363"/>
            <a:ext cx="2760679" cy="1942488"/>
          </a:xfrm>
          <a:prstGeom prst="rect">
            <a:avLst/>
          </a:prstGeom>
          <a:ln w="28575">
            <a:solidFill>
              <a:srgbClr val="FF0000"/>
            </a:solidFill>
          </a:ln>
        </p:spPr>
      </p:pic>
    </p:spTree>
    <p:extLst>
      <p:ext uri="{BB962C8B-B14F-4D97-AF65-F5344CB8AC3E}">
        <p14:creationId xmlns:p14="http://schemas.microsoft.com/office/powerpoint/2010/main" val="412168769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TW" altLang="en-US" sz="3600">
                <a:solidFill>
                  <a:schemeClr val="tx1"/>
                </a:solidFill>
                <a:latin typeface="Times New Roman" pitchFamily="18" charset="0"/>
                <a:ea typeface="標楷體" pitchFamily="65" charset="-120"/>
              </a:rPr>
              <a:t>研究是如何進行的？</a:t>
            </a:r>
          </a:p>
        </p:txBody>
      </p:sp>
      <p:sp>
        <p:nvSpPr>
          <p:cNvPr id="66565" name="投影片編號版面配置區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fld id="{14D815FE-4683-4147-9803-17E7AB786F99}" type="slidenum">
              <a:rPr kumimoji="0" lang="en-US" altLang="zh-TW" sz="1400">
                <a:latin typeface="Times New Roman" pitchFamily="18" charset="0"/>
              </a:rPr>
              <a:pPr/>
              <a:t>22</a:t>
            </a:fld>
            <a:endParaRPr kumimoji="0" lang="en-US" altLang="zh-TW" sz="1400">
              <a:latin typeface="Times New Roman" pitchFamily="18" charset="0"/>
            </a:endParaRPr>
          </a:p>
        </p:txBody>
      </p:sp>
      <p:sp>
        <p:nvSpPr>
          <p:cNvPr id="66563" name="Rectangle 3"/>
          <p:cNvSpPr>
            <a:spLocks noGrp="1" noChangeArrowheads="1"/>
          </p:cNvSpPr>
          <p:nvPr>
            <p:ph type="body" sz="half" idx="4294967295"/>
          </p:nvPr>
        </p:nvSpPr>
        <p:spPr>
          <a:xfrm>
            <a:off x="3754438" y="5324475"/>
            <a:ext cx="8437562" cy="912813"/>
          </a:xfrm>
        </p:spPr>
        <p:txBody>
          <a:bodyPr>
            <a:normAutofit fontScale="92500" lnSpcReduction="10000"/>
          </a:bodyPr>
          <a:lstStyle/>
          <a:p>
            <a:pPr eaLnBrk="1" hangingPunct="1">
              <a:lnSpc>
                <a:spcPct val="95000"/>
              </a:lnSpc>
            </a:pPr>
            <a:r>
              <a:rPr lang="zh-TW" altLang="en-US" sz="1800" dirty="0">
                <a:latin typeface="Times New Roman" pitchFamily="18" charset="0"/>
                <a:ea typeface="標楷體" pitchFamily="65" charset="-120"/>
              </a:rPr>
              <a:t>針對某問題之研究設計與執行，我們希望能由</a:t>
            </a:r>
            <a:r>
              <a:rPr lang="zh-TW" altLang="en-US" sz="1800" u="sng" dirty="0">
                <a:latin typeface="Times New Roman" pitchFamily="18" charset="0"/>
                <a:ea typeface="標楷體" pitchFamily="65" charset="-120"/>
              </a:rPr>
              <a:t>研究結果</a:t>
            </a:r>
            <a:r>
              <a:rPr lang="zh-TW" altLang="en-US" sz="1800" dirty="0">
                <a:latin typeface="Times New Roman" pitchFamily="18" charset="0"/>
                <a:ea typeface="標楷體" pitchFamily="65" charset="-120"/>
              </a:rPr>
              <a:t>合理推論到</a:t>
            </a:r>
            <a:r>
              <a:rPr lang="zh-TW" altLang="en-US" sz="1800" u="sng" dirty="0">
                <a:latin typeface="Times New Roman" pitchFamily="18" charset="0"/>
                <a:ea typeface="標楷體" pitchFamily="65" charset="-120"/>
              </a:rPr>
              <a:t>宇宙真相</a:t>
            </a:r>
          </a:p>
          <a:p>
            <a:pPr eaLnBrk="1" hangingPunct="1">
              <a:lnSpc>
                <a:spcPct val="95000"/>
              </a:lnSpc>
            </a:pPr>
            <a:r>
              <a:rPr lang="zh-TW" altLang="en-US" sz="1800" dirty="0">
                <a:latin typeface="Times New Roman" pitchFamily="18" charset="0"/>
                <a:ea typeface="標楷體" pitchFamily="65" charset="-120"/>
              </a:rPr>
              <a:t>資料來源：</a:t>
            </a:r>
            <a:r>
              <a:rPr lang="en-US" altLang="zh-TW" sz="1800" dirty="0" err="1">
                <a:latin typeface="Times New Roman" pitchFamily="18" charset="0"/>
                <a:ea typeface="標楷體" pitchFamily="65" charset="-120"/>
              </a:rPr>
              <a:t>Hulley</a:t>
            </a:r>
            <a:r>
              <a:rPr lang="en-US" altLang="zh-TW" sz="1800" dirty="0">
                <a:latin typeface="Times New Roman" pitchFamily="18" charset="0"/>
                <a:ea typeface="標楷體" pitchFamily="65" charset="-120"/>
              </a:rPr>
              <a:t> et al. (2001), </a:t>
            </a:r>
            <a:r>
              <a:rPr lang="en-US" altLang="zh-TW" sz="1800" u="sng" dirty="0">
                <a:latin typeface="Times New Roman" pitchFamily="18" charset="0"/>
                <a:ea typeface="標楷體" pitchFamily="65" charset="-120"/>
              </a:rPr>
              <a:t>Designing Clinical Research</a:t>
            </a:r>
            <a:r>
              <a:rPr lang="en-US" altLang="zh-TW" sz="1800" dirty="0">
                <a:latin typeface="Times New Roman" pitchFamily="18" charset="0"/>
                <a:ea typeface="標楷體" pitchFamily="65" charset="-120"/>
              </a:rPr>
              <a:t>, 2nd </a:t>
            </a:r>
            <a:r>
              <a:rPr lang="en-US" altLang="zh-TW" sz="1800" dirty="0" err="1">
                <a:latin typeface="Times New Roman" pitchFamily="18" charset="0"/>
                <a:ea typeface="標楷體" pitchFamily="65" charset="-120"/>
              </a:rPr>
              <a:t>ed</a:t>
            </a:r>
            <a:r>
              <a:rPr lang="en-US" altLang="zh-TW" sz="1800" dirty="0">
                <a:latin typeface="Times New Roman" pitchFamily="18" charset="0"/>
                <a:ea typeface="標楷體" pitchFamily="65" charset="-120"/>
              </a:rPr>
              <a:t>, PA, Lippincott Williams &amp; Wilkins, p.8.</a:t>
            </a:r>
          </a:p>
        </p:txBody>
      </p:sp>
      <p:grpSp>
        <p:nvGrpSpPr>
          <p:cNvPr id="66564" name="Group 32"/>
          <p:cNvGrpSpPr>
            <a:grpSpLocks/>
          </p:cNvGrpSpPr>
          <p:nvPr/>
        </p:nvGrpSpPr>
        <p:grpSpPr bwMode="auto">
          <a:xfrm>
            <a:off x="2208214" y="2133601"/>
            <a:ext cx="7704137" cy="2663825"/>
            <a:chOff x="431" y="1344"/>
            <a:chExt cx="4853" cy="1678"/>
          </a:xfrm>
        </p:grpSpPr>
        <p:sp>
          <p:nvSpPr>
            <p:cNvPr id="66566" name="AutoShape 14"/>
            <p:cNvSpPr>
              <a:spLocks noChangeArrowheads="1"/>
            </p:cNvSpPr>
            <p:nvPr/>
          </p:nvSpPr>
          <p:spPr bwMode="auto">
            <a:xfrm>
              <a:off x="431" y="1389"/>
              <a:ext cx="1225" cy="1633"/>
            </a:xfrm>
            <a:prstGeom prst="flowChartAlternate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zh-TW" altLang="zh-TW">
                <a:latin typeface="Times New Roman" pitchFamily="18" charset="0"/>
                <a:ea typeface="標楷體" pitchFamily="65" charset="-120"/>
              </a:endParaRPr>
            </a:p>
          </p:txBody>
        </p:sp>
        <p:sp>
          <p:nvSpPr>
            <p:cNvPr id="66567" name="AutoShape 15"/>
            <p:cNvSpPr>
              <a:spLocks noChangeArrowheads="1"/>
            </p:cNvSpPr>
            <p:nvPr/>
          </p:nvSpPr>
          <p:spPr bwMode="auto">
            <a:xfrm>
              <a:off x="2290" y="1389"/>
              <a:ext cx="1179" cy="1633"/>
            </a:xfrm>
            <a:prstGeom prst="flowChartAlternate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TW" altLang="en-US"/>
            </a:p>
          </p:txBody>
        </p:sp>
        <p:sp>
          <p:nvSpPr>
            <p:cNvPr id="66568" name="AutoShape 16"/>
            <p:cNvSpPr>
              <a:spLocks noChangeArrowheads="1"/>
            </p:cNvSpPr>
            <p:nvPr/>
          </p:nvSpPr>
          <p:spPr bwMode="auto">
            <a:xfrm>
              <a:off x="4105" y="1344"/>
              <a:ext cx="1179" cy="1678"/>
            </a:xfrm>
            <a:prstGeom prst="flowChartAlternate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TW" altLang="en-US"/>
            </a:p>
          </p:txBody>
        </p:sp>
        <p:sp>
          <p:nvSpPr>
            <p:cNvPr id="66569" name="Line 17"/>
            <p:cNvSpPr>
              <a:spLocks noChangeShapeType="1"/>
            </p:cNvSpPr>
            <p:nvPr/>
          </p:nvSpPr>
          <p:spPr bwMode="auto">
            <a:xfrm>
              <a:off x="1746" y="1706"/>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66570" name="Line 18"/>
            <p:cNvSpPr>
              <a:spLocks noChangeShapeType="1"/>
            </p:cNvSpPr>
            <p:nvPr/>
          </p:nvSpPr>
          <p:spPr bwMode="auto">
            <a:xfrm>
              <a:off x="3515" y="1661"/>
              <a:ext cx="5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66571" name="Line 19"/>
            <p:cNvSpPr>
              <a:spLocks noChangeShapeType="1"/>
            </p:cNvSpPr>
            <p:nvPr/>
          </p:nvSpPr>
          <p:spPr bwMode="auto">
            <a:xfrm flipH="1">
              <a:off x="1746" y="2523"/>
              <a:ext cx="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66572" name="Line 20"/>
            <p:cNvSpPr>
              <a:spLocks noChangeShapeType="1"/>
            </p:cNvSpPr>
            <p:nvPr/>
          </p:nvSpPr>
          <p:spPr bwMode="auto">
            <a:xfrm flipH="1">
              <a:off x="3515" y="2478"/>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66573" name="Text Box 21"/>
            <p:cNvSpPr txBox="1">
              <a:spLocks noChangeArrowheads="1"/>
            </p:cNvSpPr>
            <p:nvPr/>
          </p:nvSpPr>
          <p:spPr bwMode="auto">
            <a:xfrm>
              <a:off x="657" y="1494"/>
              <a:ext cx="7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endParaRPr lang="zh-TW" altLang="zh-TW" sz="1800" b="1">
                <a:latin typeface="Times New Roman" pitchFamily="18" charset="0"/>
                <a:ea typeface="標楷體" pitchFamily="65" charset="-120"/>
              </a:endParaRPr>
            </a:p>
          </p:txBody>
        </p:sp>
        <p:sp>
          <p:nvSpPr>
            <p:cNvPr id="66574" name="Text Box 22"/>
            <p:cNvSpPr txBox="1">
              <a:spLocks noChangeArrowheads="1"/>
            </p:cNvSpPr>
            <p:nvPr/>
          </p:nvSpPr>
          <p:spPr bwMode="auto">
            <a:xfrm>
              <a:off x="657" y="1571"/>
              <a:ext cx="77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algn="ctr" eaLnBrk="1" hangingPunct="1">
                <a:spcBef>
                  <a:spcPct val="50000"/>
                </a:spcBef>
              </a:pPr>
              <a:r>
                <a:rPr lang="zh-TW" altLang="en-US" sz="1800" b="1" dirty="0">
                  <a:latin typeface="Times New Roman" pitchFamily="18" charset="0"/>
                  <a:ea typeface="標楷體" pitchFamily="65" charset="-120"/>
                </a:rPr>
                <a:t>研究題目</a:t>
              </a:r>
              <a:r>
                <a:rPr lang="en-US" altLang="zh-TW" sz="1800" b="1" dirty="0">
                  <a:latin typeface="Times New Roman" pitchFamily="18" charset="0"/>
                  <a:ea typeface="標楷體" pitchFamily="65" charset="-120"/>
                </a:rPr>
                <a:t/>
              </a:r>
              <a:br>
                <a:rPr lang="en-US" altLang="zh-TW" sz="1800" b="1" dirty="0">
                  <a:latin typeface="Times New Roman" pitchFamily="18" charset="0"/>
                  <a:ea typeface="標楷體" pitchFamily="65" charset="-120"/>
                </a:rPr>
              </a:br>
              <a:r>
                <a:rPr lang="zh-TW" altLang="en-US" sz="1800" dirty="0">
                  <a:solidFill>
                    <a:schemeClr val="bg1">
                      <a:lumMod val="50000"/>
                    </a:schemeClr>
                  </a:solidFill>
                  <a:latin typeface="Times New Roman" pitchFamily="18" charset="0"/>
                  <a:ea typeface="標楷體" pitchFamily="65" charset="-120"/>
                </a:rPr>
                <a:t>母體</a:t>
              </a:r>
            </a:p>
          </p:txBody>
        </p:sp>
        <p:sp>
          <p:nvSpPr>
            <p:cNvPr id="66575" name="Text Box 23"/>
            <p:cNvSpPr txBox="1">
              <a:spLocks noChangeArrowheads="1"/>
            </p:cNvSpPr>
            <p:nvPr/>
          </p:nvSpPr>
          <p:spPr bwMode="auto">
            <a:xfrm>
              <a:off x="657" y="2387"/>
              <a:ext cx="72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宇宙真相</a:t>
              </a:r>
            </a:p>
          </p:txBody>
        </p:sp>
        <p:sp>
          <p:nvSpPr>
            <p:cNvPr id="66576" name="Text Box 24"/>
            <p:cNvSpPr txBox="1">
              <a:spLocks noChangeArrowheads="1"/>
            </p:cNvSpPr>
            <p:nvPr/>
          </p:nvSpPr>
          <p:spPr bwMode="auto">
            <a:xfrm>
              <a:off x="2472" y="1525"/>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研究計畫</a:t>
              </a:r>
            </a:p>
          </p:txBody>
        </p:sp>
        <p:sp>
          <p:nvSpPr>
            <p:cNvPr id="66577" name="Text Box 25"/>
            <p:cNvSpPr txBox="1">
              <a:spLocks noChangeArrowheads="1"/>
            </p:cNvSpPr>
            <p:nvPr/>
          </p:nvSpPr>
          <p:spPr bwMode="auto">
            <a:xfrm>
              <a:off x="4332" y="1525"/>
              <a:ext cx="771"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algn="ctr" eaLnBrk="1" hangingPunct="1">
                <a:spcBef>
                  <a:spcPct val="50000"/>
                </a:spcBef>
              </a:pPr>
              <a:r>
                <a:rPr lang="zh-TW" altLang="en-US" sz="1800" b="1" dirty="0">
                  <a:latin typeface="Times New Roman" pitchFamily="18" charset="0"/>
                  <a:ea typeface="標楷體" pitchFamily="65" charset="-120"/>
                </a:rPr>
                <a:t>實際研究</a:t>
              </a:r>
              <a:r>
                <a:rPr lang="en-US" altLang="zh-TW" sz="1800" b="1" dirty="0">
                  <a:latin typeface="Times New Roman" pitchFamily="18" charset="0"/>
                  <a:ea typeface="標楷體" pitchFamily="65" charset="-120"/>
                </a:rPr>
                <a:t/>
              </a:r>
              <a:br>
                <a:rPr lang="en-US" altLang="zh-TW" sz="1800" b="1" dirty="0">
                  <a:latin typeface="Times New Roman" pitchFamily="18" charset="0"/>
                  <a:ea typeface="標楷體" pitchFamily="65" charset="-120"/>
                </a:rPr>
              </a:br>
              <a:r>
                <a:rPr lang="zh-TW" altLang="en-US" sz="1800" dirty="0">
                  <a:solidFill>
                    <a:schemeClr val="bg1">
                      <a:lumMod val="50000"/>
                    </a:schemeClr>
                  </a:solidFill>
                  <a:latin typeface="Times New Roman" pitchFamily="18" charset="0"/>
                  <a:ea typeface="標楷體" pitchFamily="65" charset="-120"/>
                </a:rPr>
                <a:t>樣本</a:t>
              </a:r>
            </a:p>
          </p:txBody>
        </p:sp>
        <p:sp>
          <p:nvSpPr>
            <p:cNvPr id="66578" name="Text Box 26"/>
            <p:cNvSpPr txBox="1">
              <a:spLocks noChangeArrowheads="1"/>
            </p:cNvSpPr>
            <p:nvPr/>
          </p:nvSpPr>
          <p:spPr bwMode="auto">
            <a:xfrm>
              <a:off x="4332" y="2387"/>
              <a:ext cx="817"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研究結果</a:t>
              </a:r>
            </a:p>
            <a:p>
              <a:pPr eaLnBrk="1" hangingPunct="1">
                <a:spcBef>
                  <a:spcPct val="50000"/>
                </a:spcBef>
              </a:pPr>
              <a:endParaRPr lang="en-US" altLang="zh-TW" sz="1800" b="1">
                <a:latin typeface="Times New Roman" pitchFamily="18" charset="0"/>
                <a:ea typeface="標楷體" pitchFamily="65" charset="-120"/>
              </a:endParaRPr>
            </a:p>
          </p:txBody>
        </p:sp>
        <p:sp>
          <p:nvSpPr>
            <p:cNvPr id="66579" name="Text Box 27"/>
            <p:cNvSpPr txBox="1">
              <a:spLocks noChangeArrowheads="1"/>
            </p:cNvSpPr>
            <p:nvPr/>
          </p:nvSpPr>
          <p:spPr bwMode="auto">
            <a:xfrm>
              <a:off x="2472" y="2387"/>
              <a:ext cx="7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研究真相</a:t>
              </a:r>
            </a:p>
          </p:txBody>
        </p:sp>
        <p:sp>
          <p:nvSpPr>
            <p:cNvPr id="66580" name="Text Box 28"/>
            <p:cNvSpPr txBox="1">
              <a:spLocks noChangeArrowheads="1"/>
            </p:cNvSpPr>
            <p:nvPr/>
          </p:nvSpPr>
          <p:spPr bwMode="auto">
            <a:xfrm>
              <a:off x="1746" y="1480"/>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設計</a:t>
              </a:r>
            </a:p>
          </p:txBody>
        </p:sp>
        <p:sp>
          <p:nvSpPr>
            <p:cNvPr id="66581" name="Text Box 29"/>
            <p:cNvSpPr txBox="1">
              <a:spLocks noChangeArrowheads="1"/>
            </p:cNvSpPr>
            <p:nvPr/>
          </p:nvSpPr>
          <p:spPr bwMode="auto">
            <a:xfrm>
              <a:off x="3560" y="1435"/>
              <a:ext cx="4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執行</a:t>
              </a:r>
            </a:p>
          </p:txBody>
        </p:sp>
        <p:sp>
          <p:nvSpPr>
            <p:cNvPr id="66582" name="Text Box 30"/>
            <p:cNvSpPr txBox="1">
              <a:spLocks noChangeArrowheads="1"/>
            </p:cNvSpPr>
            <p:nvPr/>
          </p:nvSpPr>
          <p:spPr bwMode="auto">
            <a:xfrm>
              <a:off x="3560" y="2251"/>
              <a:ext cx="40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推論</a:t>
              </a:r>
            </a:p>
          </p:txBody>
        </p:sp>
        <p:sp>
          <p:nvSpPr>
            <p:cNvPr id="66583" name="Text Box 31"/>
            <p:cNvSpPr txBox="1">
              <a:spLocks noChangeArrowheads="1"/>
            </p:cNvSpPr>
            <p:nvPr/>
          </p:nvSpPr>
          <p:spPr bwMode="auto">
            <a:xfrm>
              <a:off x="1746" y="2296"/>
              <a:ext cx="409"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200">
                  <a:solidFill>
                    <a:schemeClr val="tx1"/>
                  </a:solidFill>
                  <a:latin typeface="Tahoma" pitchFamily="34" charset="0"/>
                  <a:ea typeface="新細明體" charset="-120"/>
                </a:defRPr>
              </a:lvl1pPr>
              <a:lvl2pPr>
                <a:defRPr kumimoji="1" sz="2800">
                  <a:solidFill>
                    <a:schemeClr val="tx1"/>
                  </a:solidFill>
                  <a:latin typeface="Tahoma" pitchFamily="34" charset="0"/>
                  <a:ea typeface="新細明體" charset="-120"/>
                </a:defRPr>
              </a:lvl2pPr>
              <a:lvl3pPr>
                <a:defRPr kumimoji="1" sz="2400">
                  <a:solidFill>
                    <a:schemeClr val="tx1"/>
                  </a:solidFill>
                  <a:latin typeface="Tahoma" pitchFamily="34" charset="0"/>
                  <a:ea typeface="新細明體" charset="-120"/>
                </a:defRPr>
              </a:lvl3pPr>
              <a:lvl4pPr>
                <a:defRPr kumimoji="1" sz="2000">
                  <a:solidFill>
                    <a:schemeClr val="tx1"/>
                  </a:solidFill>
                  <a:latin typeface="Tahoma" pitchFamily="34" charset="0"/>
                  <a:ea typeface="新細明體" charset="-120"/>
                </a:defRPr>
              </a:lvl4pPr>
              <a:lvl5pPr>
                <a:defRPr kumimoji="1" sz="2000">
                  <a:solidFill>
                    <a:schemeClr val="tx1"/>
                  </a:solidFill>
                  <a:latin typeface="Tahoma" pitchFamily="34" charset="0"/>
                  <a:ea typeface="新細明體" charset="-120"/>
                </a:defRPr>
              </a:lvl5pPr>
              <a:lvl6pPr eaLnBrk="0" hangingPunct="0">
                <a:defRPr kumimoji="1" sz="2000">
                  <a:solidFill>
                    <a:schemeClr val="tx1"/>
                  </a:solidFill>
                  <a:latin typeface="Tahoma" pitchFamily="34" charset="0"/>
                  <a:ea typeface="新細明體" charset="-120"/>
                </a:defRPr>
              </a:lvl6pPr>
              <a:lvl7pPr eaLnBrk="0" hangingPunct="0">
                <a:defRPr kumimoji="1" sz="2000">
                  <a:solidFill>
                    <a:schemeClr val="tx1"/>
                  </a:solidFill>
                  <a:latin typeface="Tahoma" pitchFamily="34" charset="0"/>
                  <a:ea typeface="新細明體" charset="-120"/>
                </a:defRPr>
              </a:lvl7pPr>
              <a:lvl8pPr eaLnBrk="0" hangingPunct="0">
                <a:defRPr kumimoji="1" sz="2000">
                  <a:solidFill>
                    <a:schemeClr val="tx1"/>
                  </a:solidFill>
                  <a:latin typeface="Tahoma" pitchFamily="34" charset="0"/>
                  <a:ea typeface="新細明體" charset="-120"/>
                </a:defRPr>
              </a:lvl8pPr>
              <a:lvl9pPr eaLnBrk="0" hangingPunct="0">
                <a:defRPr kumimoji="1" sz="2000">
                  <a:solidFill>
                    <a:schemeClr val="tx1"/>
                  </a:solidFill>
                  <a:latin typeface="Tahoma" pitchFamily="34" charset="0"/>
                  <a:ea typeface="新細明體" charset="-120"/>
                </a:defRPr>
              </a:lvl9pPr>
            </a:lstStyle>
            <a:p>
              <a:pPr eaLnBrk="1" hangingPunct="1">
                <a:spcBef>
                  <a:spcPct val="50000"/>
                </a:spcBef>
              </a:pPr>
              <a:r>
                <a:rPr lang="zh-TW" altLang="en-US" sz="1800" b="1">
                  <a:latin typeface="Times New Roman" pitchFamily="18" charset="0"/>
                  <a:ea typeface="標楷體" pitchFamily="65" charset="-120"/>
                </a:rPr>
                <a:t>推論</a:t>
              </a:r>
            </a:p>
            <a:p>
              <a:pPr eaLnBrk="1" hangingPunct="1">
                <a:spcBef>
                  <a:spcPct val="50000"/>
                </a:spcBef>
              </a:pPr>
              <a:endParaRPr lang="en-US" altLang="zh-TW" sz="1800" b="1">
                <a:latin typeface="Times New Roman" pitchFamily="18" charset="0"/>
                <a:ea typeface="標楷體" pitchFamily="65" charset="-120"/>
              </a:endParaRPr>
            </a:p>
          </p:txBody>
        </p:sp>
      </p:grpSp>
      <p:pic>
        <p:nvPicPr>
          <p:cNvPr id="2" name="圖片 1"/>
          <p:cNvPicPr>
            <a:picLocks noChangeAspect="1"/>
          </p:cNvPicPr>
          <p:nvPr/>
        </p:nvPicPr>
        <p:blipFill>
          <a:blip r:embed="rId3"/>
          <a:stretch>
            <a:fillRect/>
          </a:stretch>
        </p:blipFill>
        <p:spPr>
          <a:xfrm rot="21360000">
            <a:off x="7960784" y="962499"/>
            <a:ext cx="3266174" cy="754708"/>
          </a:xfrm>
          <a:prstGeom prst="rect">
            <a:avLst/>
          </a:prstGeom>
          <a:ln>
            <a:solidFill>
              <a:srgbClr val="FF0000"/>
            </a:solidFill>
          </a:ln>
        </p:spPr>
      </p:pic>
    </p:spTree>
    <p:extLst>
      <p:ext uri="{BB962C8B-B14F-4D97-AF65-F5344CB8AC3E}">
        <p14:creationId xmlns:p14="http://schemas.microsoft.com/office/powerpoint/2010/main" val="90607322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4AB38381-061E-70D0-F839-F81EAA5688F1}"/>
              </a:ext>
            </a:extLst>
          </p:cNvPr>
          <p:cNvSpPr txBox="1"/>
          <p:nvPr/>
        </p:nvSpPr>
        <p:spPr>
          <a:xfrm>
            <a:off x="2921876" y="2921876"/>
            <a:ext cx="5827236" cy="1446550"/>
          </a:xfrm>
          <a:prstGeom prst="rect">
            <a:avLst/>
          </a:prstGeom>
          <a:noFill/>
        </p:spPr>
        <p:txBody>
          <a:bodyPr wrap="none" rtlCol="0">
            <a:spAutoFit/>
          </a:bodyPr>
          <a:lstStyle/>
          <a:p>
            <a:r>
              <a:rPr kumimoji="1" lang="zh-TW" altLang="en-US" sz="4400" dirty="0"/>
              <a:t>準備好迎接挑戰了嗎？</a:t>
            </a:r>
          </a:p>
          <a:p>
            <a:endParaRPr kumimoji="1" lang="zh-TW" altLang="en-US" sz="4400" dirty="0"/>
          </a:p>
        </p:txBody>
      </p:sp>
    </p:spTree>
    <p:extLst>
      <p:ext uri="{BB962C8B-B14F-4D97-AF65-F5344CB8AC3E}">
        <p14:creationId xmlns:p14="http://schemas.microsoft.com/office/powerpoint/2010/main" val="524396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BF13AB-9AD5-CA36-CAA0-D606411F05EA}"/>
              </a:ext>
            </a:extLst>
          </p:cNvPr>
          <p:cNvSpPr>
            <a:spLocks noGrp="1"/>
          </p:cNvSpPr>
          <p:nvPr>
            <p:ph type="title"/>
          </p:nvPr>
        </p:nvSpPr>
        <p:spPr/>
        <p:txBody>
          <a:bodyPr/>
          <a:lstStyle/>
          <a:p>
            <a:r>
              <a:rPr kumimoji="1" lang="zh-TW" altLang="en-US" dirty="0"/>
              <a:t>課程規劃</a:t>
            </a:r>
          </a:p>
        </p:txBody>
      </p:sp>
      <p:sp>
        <p:nvSpPr>
          <p:cNvPr id="3" name="內容版面配置區 2">
            <a:extLst>
              <a:ext uri="{FF2B5EF4-FFF2-40B4-BE49-F238E27FC236}">
                <a16:creationId xmlns:a16="http://schemas.microsoft.com/office/drawing/2014/main" id="{DE1278B0-9D18-7CE3-D433-1586DB76F542}"/>
              </a:ext>
            </a:extLst>
          </p:cNvPr>
          <p:cNvSpPr>
            <a:spLocks noGrp="1"/>
          </p:cNvSpPr>
          <p:nvPr>
            <p:ph idx="1"/>
          </p:nvPr>
        </p:nvSpPr>
        <p:spPr/>
        <p:txBody>
          <a:bodyPr/>
          <a:lstStyle/>
          <a:p>
            <a:r>
              <a:rPr kumimoji="1" lang="zh-TW" altLang="en-US" dirty="0"/>
              <a:t>系統性介紹基本研究方法及研究倫理觀念</a:t>
            </a:r>
            <a:endParaRPr kumimoji="1" lang="en-US" altLang="zh-TW" dirty="0"/>
          </a:p>
          <a:p>
            <a:r>
              <a:rPr kumimoji="1" lang="zh-TW" altLang="en-US" dirty="0"/>
              <a:t>基礎統計教學</a:t>
            </a:r>
          </a:p>
          <a:p>
            <a:r>
              <a:rPr kumimoji="1" lang="zh-TW" altLang="en-US" dirty="0"/>
              <a:t>簡介論文寫作及格式規範</a:t>
            </a:r>
            <a:endParaRPr kumimoji="1" lang="en-US" altLang="zh-TW" dirty="0"/>
          </a:p>
          <a:p>
            <a:r>
              <a:rPr kumimoji="1" lang="zh-TW" altLang="en-US" dirty="0"/>
              <a:t>探討基本領域研究及研究設計</a:t>
            </a:r>
          </a:p>
          <a:p>
            <a:r>
              <a:rPr kumimoji="1" lang="zh-TW" altLang="en-US" dirty="0"/>
              <a:t>討論論文題目及研究大綱</a:t>
            </a:r>
            <a:endParaRPr kumimoji="1" lang="en-US" altLang="zh-TW" dirty="0"/>
          </a:p>
          <a:p>
            <a:endParaRPr kumimoji="1" lang="en-US" altLang="zh-TW" dirty="0"/>
          </a:p>
        </p:txBody>
      </p:sp>
    </p:spTree>
    <p:extLst>
      <p:ext uri="{BB962C8B-B14F-4D97-AF65-F5344CB8AC3E}">
        <p14:creationId xmlns:p14="http://schemas.microsoft.com/office/powerpoint/2010/main" val="2395862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54376B-6C5D-966B-3C43-246D428BA4C1}"/>
              </a:ext>
            </a:extLst>
          </p:cNvPr>
          <p:cNvSpPr>
            <a:spLocks noGrp="1"/>
          </p:cNvSpPr>
          <p:nvPr>
            <p:ph type="title"/>
          </p:nvPr>
        </p:nvSpPr>
        <p:spPr/>
        <p:txBody>
          <a:bodyPr/>
          <a:lstStyle/>
          <a:p>
            <a:r>
              <a:rPr kumimoji="1" lang="zh-TW" altLang="en-US" dirty="0"/>
              <a:t>課程要求及評分</a:t>
            </a:r>
          </a:p>
        </p:txBody>
      </p:sp>
      <p:sp>
        <p:nvSpPr>
          <p:cNvPr id="3" name="內容版面配置區 2">
            <a:extLst>
              <a:ext uri="{FF2B5EF4-FFF2-40B4-BE49-F238E27FC236}">
                <a16:creationId xmlns:a16="http://schemas.microsoft.com/office/drawing/2014/main" id="{15E50FB0-BEBB-2D42-3816-B87A008CBFA0}"/>
              </a:ext>
            </a:extLst>
          </p:cNvPr>
          <p:cNvSpPr>
            <a:spLocks noGrp="1"/>
          </p:cNvSpPr>
          <p:nvPr>
            <p:ph idx="1"/>
          </p:nvPr>
        </p:nvSpPr>
        <p:spPr/>
        <p:txBody>
          <a:bodyPr>
            <a:normAutofit/>
          </a:bodyPr>
          <a:lstStyle/>
          <a:p>
            <a:r>
              <a:rPr kumimoji="1" lang="zh-TW" altLang="en-US" dirty="0">
                <a:latin typeface="+mn-ea"/>
              </a:rPr>
              <a:t>分組學習、報告及討論</a:t>
            </a:r>
            <a:endParaRPr kumimoji="1" lang="en-US" altLang="zh-TW" dirty="0">
              <a:latin typeface="+mn-ea"/>
            </a:endParaRPr>
          </a:p>
          <a:p>
            <a:pPr marL="742950" lvl="1" indent="-285750">
              <a:buFont typeface="Arial" panose="020B0604020202020204" pitchFamily="34" charset="0"/>
              <a:buChar char="•"/>
              <a:tabLst>
                <a:tab pos="914400" algn="l"/>
              </a:tabLst>
            </a:pPr>
            <a:r>
              <a:rPr lang="zh-TW" altLang="zh-TW" kern="100" dirty="0">
                <a:effectLst/>
                <a:latin typeface="+mn-ea"/>
                <a:cs typeface="Times New Roman" panose="02020603050405020304" pitchFamily="18" charset="0"/>
              </a:rPr>
              <a:t>每組報告一篇文章並負責</a:t>
            </a:r>
            <a:r>
              <a:rPr lang="en-US" altLang="zh-TW" kern="100" dirty="0">
                <a:effectLst/>
                <a:latin typeface="+mn-ea"/>
                <a:cs typeface="Times New Roman" panose="02020603050405020304" pitchFamily="18" charset="0"/>
              </a:rPr>
              <a:t>Q&amp;A </a:t>
            </a:r>
            <a:r>
              <a:rPr lang="zh-TW" altLang="zh-TW" kern="100" dirty="0">
                <a:effectLst/>
                <a:latin typeface="+mn-ea"/>
                <a:cs typeface="Times New Roman" panose="02020603050405020304" pitchFamily="18" charset="0"/>
              </a:rPr>
              <a:t>（</a:t>
            </a:r>
            <a:r>
              <a:rPr lang="en-US" altLang="zh-TW" kern="100" dirty="0">
                <a:effectLst/>
                <a:latin typeface="+mn-ea"/>
                <a:cs typeface="Times New Roman" panose="02020603050405020304" pitchFamily="18" charset="0"/>
              </a:rPr>
              <a:t>35%</a:t>
            </a:r>
            <a:r>
              <a:rPr lang="zh-TW" altLang="zh-TW" kern="100" dirty="0">
                <a:effectLst/>
                <a:latin typeface="+mn-ea"/>
                <a:cs typeface="Times New Roman" panose="02020603050405020304" pitchFamily="18" charset="0"/>
              </a:rPr>
              <a:t>）</a:t>
            </a:r>
          </a:p>
          <a:p>
            <a:pPr lvl="1"/>
            <a:r>
              <a:rPr kumimoji="1" lang="zh-TW" altLang="en-US" dirty="0">
                <a:latin typeface="+mn-ea"/>
              </a:rPr>
              <a:t>每組在期末提出一個研究計畫並進行報告   （</a:t>
            </a:r>
            <a:r>
              <a:rPr kumimoji="1" lang="en-US" altLang="zh-TW" dirty="0">
                <a:latin typeface="+mn-ea"/>
              </a:rPr>
              <a:t>40%</a:t>
            </a:r>
            <a:r>
              <a:rPr kumimoji="1" lang="zh-TW" altLang="en-US" dirty="0">
                <a:latin typeface="+mn-ea"/>
              </a:rPr>
              <a:t>）</a:t>
            </a:r>
            <a:endParaRPr kumimoji="1" lang="en-US" altLang="zh-TW" dirty="0">
              <a:latin typeface="+mn-ea"/>
            </a:endParaRPr>
          </a:p>
          <a:p>
            <a:r>
              <a:rPr kumimoji="1" lang="zh-TW" altLang="en-US" dirty="0">
                <a:latin typeface="+mn-ea"/>
              </a:rPr>
              <a:t>大量閱讀及提問與回答</a:t>
            </a:r>
            <a:endParaRPr kumimoji="1" lang="en-US" altLang="zh-TW" dirty="0">
              <a:latin typeface="+mn-ea"/>
            </a:endParaRPr>
          </a:p>
          <a:p>
            <a:pPr lvl="1"/>
            <a:r>
              <a:rPr kumimoji="1" lang="zh-TW" altLang="en-US" dirty="0">
                <a:latin typeface="+mn-ea"/>
              </a:rPr>
              <a:t>每週讀</a:t>
            </a:r>
            <a:r>
              <a:rPr kumimoji="1" lang="en-US" altLang="zh-TW" dirty="0">
                <a:latin typeface="+mn-ea"/>
              </a:rPr>
              <a:t>1-2</a:t>
            </a:r>
            <a:r>
              <a:rPr kumimoji="1" lang="zh-TW" altLang="en-US" dirty="0">
                <a:latin typeface="+mn-ea"/>
              </a:rPr>
              <a:t>篇研究文章</a:t>
            </a:r>
            <a:endParaRPr kumimoji="1" lang="en-US" altLang="zh-TW" dirty="0">
              <a:latin typeface="+mn-ea"/>
            </a:endParaRPr>
          </a:p>
          <a:p>
            <a:pPr lvl="1"/>
            <a:r>
              <a:rPr kumimoji="1" lang="zh-TW" altLang="en-US" dirty="0">
                <a:latin typeface="+mn-ea"/>
              </a:rPr>
              <a:t>提出問題（每組對每週每篇文章提出一到兩個問題）及課堂討論（</a:t>
            </a:r>
            <a:r>
              <a:rPr kumimoji="1" lang="en-US" altLang="zh-TW" dirty="0">
                <a:latin typeface="+mn-ea"/>
              </a:rPr>
              <a:t>15%</a:t>
            </a:r>
            <a:r>
              <a:rPr kumimoji="1" lang="zh-TW" altLang="en-US" dirty="0">
                <a:latin typeface="+mn-ea"/>
              </a:rPr>
              <a:t>）</a:t>
            </a:r>
            <a:endParaRPr kumimoji="1" lang="en-US" altLang="zh-TW" dirty="0">
              <a:latin typeface="+mn-ea"/>
            </a:endParaRPr>
          </a:p>
          <a:p>
            <a:r>
              <a:rPr kumimoji="1" lang="zh-TW" altLang="en-US" dirty="0">
                <a:latin typeface="+mn-ea"/>
              </a:rPr>
              <a:t>出席 （</a:t>
            </a:r>
            <a:r>
              <a:rPr kumimoji="1" lang="en-US" altLang="zh-TW" dirty="0">
                <a:latin typeface="+mn-ea"/>
              </a:rPr>
              <a:t>10%</a:t>
            </a:r>
            <a:r>
              <a:rPr kumimoji="1" lang="zh-TW" altLang="en-US" dirty="0">
                <a:latin typeface="+mn-ea"/>
              </a:rPr>
              <a:t>）</a:t>
            </a:r>
            <a:endParaRPr kumimoji="1" lang="en-US" altLang="zh-TW" dirty="0">
              <a:latin typeface="+mn-ea"/>
            </a:endParaRPr>
          </a:p>
          <a:p>
            <a:pPr lvl="1"/>
            <a:r>
              <a:rPr lang="zh-TW" altLang="zh-TW" sz="2400" kern="100" dirty="0">
                <a:effectLst/>
                <a:latin typeface="+mn-ea"/>
                <a:cs typeface="Times New Roman" panose="02020603050405020304" pitchFamily="18" charset="0"/>
              </a:rPr>
              <a:t>每次無故缺席扣除</a:t>
            </a:r>
            <a:r>
              <a:rPr lang="en-US" altLang="zh-TW" sz="2400" kern="100" dirty="0">
                <a:effectLst/>
                <a:latin typeface="+mn-ea"/>
                <a:cs typeface="Times New Roman" panose="02020603050405020304" pitchFamily="18" charset="0"/>
              </a:rPr>
              <a:t>3</a:t>
            </a:r>
            <a:r>
              <a:rPr lang="zh-TW" altLang="zh-TW" sz="2400" kern="100" dirty="0">
                <a:effectLst/>
                <a:latin typeface="+mn-ea"/>
                <a:cs typeface="Times New Roman" panose="02020603050405020304" pitchFamily="18" charset="0"/>
              </a:rPr>
              <a:t>分</a:t>
            </a:r>
            <a:endParaRPr lang="en-US" altLang="zh-TW" sz="2400" kern="100" dirty="0">
              <a:effectLst/>
              <a:latin typeface="+mn-ea"/>
              <a:cs typeface="Times New Roman" panose="02020603050405020304" pitchFamily="18" charset="0"/>
            </a:endParaRPr>
          </a:p>
          <a:p>
            <a:pPr lvl="1"/>
            <a:r>
              <a:rPr lang="zh-TW" altLang="en-US" kern="100" dirty="0">
                <a:latin typeface="+mn-ea"/>
                <a:cs typeface="Times New Roman" panose="02020603050405020304" pitchFamily="18" charset="0"/>
              </a:rPr>
              <a:t>請假數超過</a:t>
            </a:r>
            <a:r>
              <a:rPr lang="en-US" altLang="zh-TW" kern="100" dirty="0">
                <a:latin typeface="+mn-ea"/>
                <a:cs typeface="Times New Roman" panose="02020603050405020304" pitchFamily="18" charset="0"/>
              </a:rPr>
              <a:t>3</a:t>
            </a:r>
            <a:r>
              <a:rPr lang="zh-TW" altLang="en-US" kern="100" dirty="0">
                <a:latin typeface="+mn-ea"/>
                <a:cs typeface="Times New Roman" panose="02020603050405020304" pitchFamily="18" charset="0"/>
              </a:rPr>
              <a:t>次後每次請假扣</a:t>
            </a:r>
            <a:r>
              <a:rPr lang="en-US" altLang="zh-TW" kern="100" dirty="0">
                <a:latin typeface="+mn-ea"/>
                <a:cs typeface="Times New Roman" panose="02020603050405020304" pitchFamily="18" charset="0"/>
              </a:rPr>
              <a:t>3</a:t>
            </a:r>
            <a:r>
              <a:rPr lang="zh-TW" altLang="en-US" kern="100" dirty="0">
                <a:latin typeface="+mn-ea"/>
                <a:cs typeface="Times New Roman" panose="02020603050405020304" pitchFamily="18" charset="0"/>
              </a:rPr>
              <a:t>分</a:t>
            </a:r>
            <a:r>
              <a:rPr lang="en-US" altLang="zh-TW" kern="100" dirty="0">
                <a:latin typeface="+mn-ea"/>
                <a:cs typeface="Times New Roman" panose="02020603050405020304" pitchFamily="18" charset="0"/>
              </a:rPr>
              <a:t>, </a:t>
            </a:r>
            <a:r>
              <a:rPr lang="zh-TW" altLang="en-US" kern="100" dirty="0">
                <a:latin typeface="+mn-ea"/>
                <a:cs typeface="Times New Roman" panose="02020603050405020304" pitchFamily="18" charset="0"/>
              </a:rPr>
              <a:t>六次直接當掉</a:t>
            </a:r>
            <a:endParaRPr lang="zh-TW" altLang="zh-TW" kern="100" dirty="0">
              <a:latin typeface="+mn-ea"/>
              <a:cs typeface="Times New Roman" panose="02020603050405020304" pitchFamily="18" charset="0"/>
            </a:endParaRPr>
          </a:p>
          <a:p>
            <a:pPr lvl="1"/>
            <a:endParaRPr kumimoji="1" lang="en-US" altLang="zh-TW" dirty="0"/>
          </a:p>
          <a:p>
            <a:endParaRPr kumimoji="1" lang="en-US" altLang="zh-TW" dirty="0"/>
          </a:p>
          <a:p>
            <a:endParaRPr kumimoji="1" lang="zh-TW" altLang="en-US" dirty="0"/>
          </a:p>
        </p:txBody>
      </p:sp>
    </p:spTree>
    <p:extLst>
      <p:ext uri="{BB962C8B-B14F-4D97-AF65-F5344CB8AC3E}">
        <p14:creationId xmlns:p14="http://schemas.microsoft.com/office/powerpoint/2010/main" val="857538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FFBD2F-D2B4-9C50-E65F-D07F6ED877D1}"/>
              </a:ext>
            </a:extLst>
          </p:cNvPr>
          <p:cNvSpPr>
            <a:spLocks noGrp="1"/>
          </p:cNvSpPr>
          <p:nvPr>
            <p:ph type="title"/>
          </p:nvPr>
        </p:nvSpPr>
        <p:spPr/>
        <p:txBody>
          <a:bodyPr/>
          <a:lstStyle/>
          <a:p>
            <a:r>
              <a:rPr kumimoji="1" lang="zh-TW" altLang="en-US" dirty="0"/>
              <a:t>分組報告</a:t>
            </a:r>
          </a:p>
        </p:txBody>
      </p:sp>
      <p:sp>
        <p:nvSpPr>
          <p:cNvPr id="3" name="內容版面配置區 2">
            <a:extLst>
              <a:ext uri="{FF2B5EF4-FFF2-40B4-BE49-F238E27FC236}">
                <a16:creationId xmlns:a16="http://schemas.microsoft.com/office/drawing/2014/main" id="{D1800BC4-84F9-7B39-99FC-FFB26489990C}"/>
              </a:ext>
            </a:extLst>
          </p:cNvPr>
          <p:cNvSpPr>
            <a:spLocks noGrp="1"/>
          </p:cNvSpPr>
          <p:nvPr>
            <p:ph idx="1"/>
          </p:nvPr>
        </p:nvSpPr>
        <p:spPr/>
        <p:txBody>
          <a:bodyPr>
            <a:normAutofit/>
          </a:bodyPr>
          <a:lstStyle/>
          <a:p>
            <a:r>
              <a:rPr lang="zh-TW" altLang="en-US" dirty="0">
                <a:effectLst/>
                <a:latin typeface="Helvetica" pitchFamily="2" charset="0"/>
              </a:rPr>
              <a:t>老師提供文章，報告組需要精讀所有內容，製作投影片，為大家導讀並回答非報告組提出的問題。非報告組需要讀完文章後每組對每篇文章提出一到兩個問題，</a:t>
            </a:r>
            <a:r>
              <a:rPr lang="zh-TW" altLang="en-US" dirty="0" smtClean="0">
                <a:effectLst/>
                <a:latin typeface="Helvetica" pitchFamily="2" charset="0"/>
              </a:rPr>
              <a:t>在</a:t>
            </a:r>
            <a:r>
              <a:rPr lang="zh-TW" altLang="en-US" dirty="0">
                <a:latin typeface="Helvetica" pitchFamily="2" charset="0"/>
              </a:rPr>
              <a:t>星期三</a:t>
            </a:r>
            <a:r>
              <a:rPr lang="zh-TW" altLang="en-US" dirty="0" smtClean="0">
                <a:effectLst/>
                <a:latin typeface="Helvetica" pitchFamily="2" charset="0"/>
              </a:rPr>
              <a:t>中午</a:t>
            </a:r>
            <a:r>
              <a:rPr lang="en-US" altLang="zh-TW" dirty="0">
                <a:effectLst/>
                <a:latin typeface="Helvetica" pitchFamily="2" charset="0"/>
              </a:rPr>
              <a:t>12:30</a:t>
            </a:r>
            <a:r>
              <a:rPr lang="zh-TW" altLang="en-US" dirty="0">
                <a:effectLst/>
                <a:latin typeface="Helvetica" pitchFamily="2" charset="0"/>
              </a:rPr>
              <a:t>前上傳</a:t>
            </a:r>
            <a:endParaRPr lang="en-US" altLang="zh-TW" dirty="0">
              <a:effectLst/>
              <a:latin typeface="Helvetica" pitchFamily="2" charset="0"/>
            </a:endParaRPr>
          </a:p>
          <a:p>
            <a:pPr lvl="1"/>
            <a:r>
              <a:rPr lang="zh-TW" altLang="en-US" dirty="0">
                <a:latin typeface="Helvetica" pitchFamily="2" charset="0"/>
              </a:rPr>
              <a:t>報告時間</a:t>
            </a:r>
            <a:r>
              <a:rPr lang="en-US" altLang="zh-TW" dirty="0">
                <a:latin typeface="Helvetica" pitchFamily="2" charset="0"/>
              </a:rPr>
              <a:t>20-25</a:t>
            </a:r>
            <a:r>
              <a:rPr lang="zh-TW" altLang="en-US" dirty="0">
                <a:latin typeface="Helvetica" pitchFamily="2" charset="0"/>
              </a:rPr>
              <a:t>分鐘</a:t>
            </a:r>
            <a:endParaRPr lang="en-US" altLang="zh-TW" dirty="0">
              <a:latin typeface="Helvetica" pitchFamily="2" charset="0"/>
            </a:endParaRPr>
          </a:p>
          <a:p>
            <a:pPr lvl="1"/>
            <a:r>
              <a:rPr lang="zh-TW" altLang="en-US" dirty="0">
                <a:effectLst/>
                <a:latin typeface="Helvetica" pitchFamily="2" charset="0"/>
              </a:rPr>
              <a:t>回答問題 </a:t>
            </a:r>
            <a:r>
              <a:rPr lang="en-US" altLang="zh-TW" dirty="0" smtClean="0">
                <a:effectLst/>
                <a:latin typeface="Helvetica" pitchFamily="2" charset="0"/>
              </a:rPr>
              <a:t>20</a:t>
            </a:r>
            <a:r>
              <a:rPr lang="zh-TW" altLang="en-US" dirty="0" smtClean="0">
                <a:effectLst/>
                <a:latin typeface="Helvetica" pitchFamily="2" charset="0"/>
              </a:rPr>
              <a:t>分鐘</a:t>
            </a:r>
            <a:endParaRPr lang="en-US" altLang="zh-TW" dirty="0">
              <a:latin typeface="Helvetica" pitchFamily="2" charset="0"/>
            </a:endParaRPr>
          </a:p>
          <a:p>
            <a:pPr lvl="1"/>
            <a:r>
              <a:rPr lang="zh-TW" altLang="en-US" i="1" dirty="0">
                <a:latin typeface="Helvetica" pitchFamily="2" charset="0"/>
              </a:rPr>
              <a:t>報告組回答不出的問題由老師回答，請在上課當天中午</a:t>
            </a:r>
            <a:r>
              <a:rPr lang="en-US" altLang="zh-TW" i="1" dirty="0">
                <a:latin typeface="Helvetica" pitchFamily="2" charset="0"/>
              </a:rPr>
              <a:t>12</a:t>
            </a:r>
            <a:r>
              <a:rPr lang="zh-TW" altLang="en-US" i="1" dirty="0">
                <a:latin typeface="Helvetica" pitchFamily="2" charset="0"/>
              </a:rPr>
              <a:t>點前把問題寄給老師</a:t>
            </a:r>
            <a:endParaRPr lang="en-US" altLang="zh-TW" i="1" dirty="0">
              <a:effectLst/>
              <a:latin typeface="Helvetica" pitchFamily="2" charset="0"/>
            </a:endParaRPr>
          </a:p>
          <a:p>
            <a:endParaRPr kumimoji="1" lang="zh-TW" altLang="en-US" dirty="0"/>
          </a:p>
        </p:txBody>
      </p:sp>
    </p:spTree>
    <p:extLst>
      <p:ext uri="{BB962C8B-B14F-4D97-AF65-F5344CB8AC3E}">
        <p14:creationId xmlns:p14="http://schemas.microsoft.com/office/powerpoint/2010/main" val="887003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90C5B-D9C3-E186-BC46-D576B6A35C2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2A353145-E9D7-80D0-4FE0-0773BA09EE3F}"/>
              </a:ext>
            </a:extLst>
          </p:cNvPr>
          <p:cNvSpPr>
            <a:spLocks noGrp="1"/>
          </p:cNvSpPr>
          <p:nvPr>
            <p:ph type="title"/>
          </p:nvPr>
        </p:nvSpPr>
        <p:spPr/>
        <p:txBody>
          <a:bodyPr/>
          <a:lstStyle/>
          <a:p>
            <a:r>
              <a:rPr kumimoji="1" lang="zh-TW" altLang="en-US" dirty="0"/>
              <a:t>期末報告</a:t>
            </a:r>
          </a:p>
        </p:txBody>
      </p:sp>
      <p:sp>
        <p:nvSpPr>
          <p:cNvPr id="3" name="內容版面配置區 2">
            <a:extLst>
              <a:ext uri="{FF2B5EF4-FFF2-40B4-BE49-F238E27FC236}">
                <a16:creationId xmlns:a16="http://schemas.microsoft.com/office/drawing/2014/main" id="{E766E5CE-42C8-8BAF-C5D3-2FBF1BEB708E}"/>
              </a:ext>
            </a:extLst>
          </p:cNvPr>
          <p:cNvSpPr>
            <a:spLocks noGrp="1"/>
          </p:cNvSpPr>
          <p:nvPr>
            <p:ph idx="1"/>
          </p:nvPr>
        </p:nvSpPr>
        <p:spPr/>
        <p:txBody>
          <a:bodyPr>
            <a:normAutofit/>
          </a:bodyPr>
          <a:lstStyle/>
          <a:p>
            <a:r>
              <a:rPr lang="zh-TW" altLang="en-US" i="1">
                <a:effectLst/>
                <a:latin typeface="Helvetica" pitchFamily="2" charset="0"/>
              </a:rPr>
              <a:t>每人準備 </a:t>
            </a:r>
            <a:r>
              <a:rPr lang="en-US" altLang="zh-TW" i="1" dirty="0">
                <a:latin typeface="Helvetica" pitchFamily="2" charset="0"/>
              </a:rPr>
              <a:t>7</a:t>
            </a:r>
            <a:r>
              <a:rPr lang="zh-TW" altLang="en-US" i="1" dirty="0">
                <a:effectLst/>
                <a:latin typeface="Helvetica" pitchFamily="2" charset="0"/>
              </a:rPr>
              <a:t>分鐘的論文構想報告</a:t>
            </a:r>
            <a:endParaRPr lang="en-US" altLang="zh-TW" i="1" dirty="0">
              <a:effectLst/>
              <a:latin typeface="Helvetica" pitchFamily="2" charset="0"/>
            </a:endParaRPr>
          </a:p>
          <a:p>
            <a:pPr lvl="1"/>
            <a:r>
              <a:rPr lang="zh-TW" altLang="en-US" i="1" dirty="0">
                <a:effectLst/>
                <a:latin typeface="Helvetica" pitchFamily="2" charset="0"/>
              </a:rPr>
              <a:t>一般論文報告應包括：</a:t>
            </a:r>
            <a:endParaRPr lang="zh-TW" altLang="en-US" dirty="0">
              <a:effectLst/>
              <a:latin typeface="Helvetica" pitchFamily="2" charset="0"/>
            </a:endParaRPr>
          </a:p>
          <a:p>
            <a:pPr marL="457200" lvl="1" indent="0">
              <a:buNone/>
            </a:pPr>
            <a:r>
              <a:rPr lang="en-US" altLang="zh-TW" i="1" dirty="0">
                <a:effectLst/>
                <a:latin typeface="Helvetica" pitchFamily="2" charset="0"/>
              </a:rPr>
              <a:t>(1) </a:t>
            </a:r>
            <a:r>
              <a:rPr lang="zh-TW" altLang="en-US" i="1" dirty="0">
                <a:effectLst/>
                <a:latin typeface="Helvetica" pitchFamily="2" charset="0"/>
              </a:rPr>
              <a:t>論文題目</a:t>
            </a:r>
            <a:endParaRPr lang="zh-TW" altLang="en-US" dirty="0">
              <a:effectLst/>
              <a:latin typeface="Helvetica" pitchFamily="2" charset="0"/>
            </a:endParaRPr>
          </a:p>
          <a:p>
            <a:pPr marL="457200" lvl="1" indent="0">
              <a:buNone/>
            </a:pPr>
            <a:r>
              <a:rPr lang="en-US" altLang="zh-TW" i="1" dirty="0">
                <a:effectLst/>
                <a:latin typeface="Helvetica" pitchFamily="2" charset="0"/>
              </a:rPr>
              <a:t>(2) </a:t>
            </a:r>
            <a:r>
              <a:rPr lang="zh-TW" altLang="en-US" i="1" dirty="0">
                <a:effectLst/>
                <a:latin typeface="Helvetica" pitchFamily="2" charset="0"/>
              </a:rPr>
              <a:t>研究目的及動機</a:t>
            </a:r>
            <a:endParaRPr lang="zh-TW" altLang="en-US" dirty="0">
              <a:effectLst/>
              <a:latin typeface="Helvetica" pitchFamily="2" charset="0"/>
            </a:endParaRPr>
          </a:p>
          <a:p>
            <a:pPr marL="457200" lvl="1" indent="0">
              <a:buNone/>
            </a:pPr>
            <a:r>
              <a:rPr lang="en-US" altLang="zh-TW" i="1" dirty="0">
                <a:effectLst/>
                <a:latin typeface="Helvetica" pitchFamily="2" charset="0"/>
              </a:rPr>
              <a:t>(3) </a:t>
            </a:r>
            <a:r>
              <a:rPr lang="zh-TW" altLang="en-US" i="1" dirty="0">
                <a:effectLst/>
                <a:latin typeface="Helvetica" pitchFamily="2" charset="0"/>
              </a:rPr>
              <a:t>研究問題</a:t>
            </a:r>
            <a:endParaRPr lang="zh-TW" altLang="en-US" dirty="0">
              <a:effectLst/>
              <a:latin typeface="Helvetica" pitchFamily="2" charset="0"/>
            </a:endParaRPr>
          </a:p>
          <a:p>
            <a:pPr marL="457200" lvl="1" indent="0">
              <a:buNone/>
            </a:pPr>
            <a:r>
              <a:rPr lang="en-US" altLang="zh-TW" i="1" dirty="0">
                <a:effectLst/>
                <a:latin typeface="Helvetica" pitchFamily="2" charset="0"/>
              </a:rPr>
              <a:t>(4) </a:t>
            </a:r>
            <a:r>
              <a:rPr lang="zh-TW" altLang="en-US" i="1" dirty="0">
                <a:effectLst/>
                <a:latin typeface="Helvetica" pitchFamily="2" charset="0"/>
              </a:rPr>
              <a:t>研究假設</a:t>
            </a:r>
            <a:r>
              <a:rPr lang="en-US" altLang="zh-TW" i="1" dirty="0">
                <a:effectLst/>
                <a:latin typeface="Helvetica" pitchFamily="2" charset="0"/>
              </a:rPr>
              <a:t>(</a:t>
            </a:r>
            <a:r>
              <a:rPr lang="zh-TW" altLang="en-US" i="1" dirty="0">
                <a:effectLst/>
                <a:latin typeface="Helvetica" pitchFamily="2" charset="0"/>
              </a:rPr>
              <a:t>或探討議題</a:t>
            </a:r>
            <a:r>
              <a:rPr lang="en-US" altLang="zh-TW" i="1" dirty="0">
                <a:effectLst/>
                <a:latin typeface="Helvetica" pitchFamily="2" charset="0"/>
              </a:rPr>
              <a:t>)</a:t>
            </a:r>
            <a:endParaRPr lang="zh-TW" altLang="en-US" dirty="0">
              <a:effectLst/>
              <a:latin typeface="Helvetica" pitchFamily="2" charset="0"/>
            </a:endParaRPr>
          </a:p>
          <a:p>
            <a:pPr marL="457200" lvl="1" indent="0">
              <a:buNone/>
            </a:pPr>
            <a:r>
              <a:rPr lang="en-US" altLang="zh-TW" i="1" dirty="0">
                <a:effectLst/>
                <a:latin typeface="Helvetica" pitchFamily="2" charset="0"/>
              </a:rPr>
              <a:t>(5) </a:t>
            </a:r>
            <a:r>
              <a:rPr lang="zh-TW" altLang="en-US" i="1" dirty="0">
                <a:effectLst/>
                <a:latin typeface="Helvetica" pitchFamily="2" charset="0"/>
              </a:rPr>
              <a:t>研究方法及研究設計</a:t>
            </a:r>
            <a:endParaRPr lang="zh-TW" altLang="en-US" dirty="0">
              <a:effectLst/>
              <a:latin typeface="Helvetica" pitchFamily="2" charset="0"/>
            </a:endParaRPr>
          </a:p>
          <a:p>
            <a:pPr marL="457200" lvl="1" indent="0">
              <a:buNone/>
            </a:pPr>
            <a:r>
              <a:rPr lang="en-US" altLang="zh-TW" i="1" dirty="0">
                <a:effectLst/>
                <a:latin typeface="Helvetica" pitchFamily="2" charset="0"/>
              </a:rPr>
              <a:t>(6) </a:t>
            </a:r>
            <a:r>
              <a:rPr lang="zh-TW" altLang="en-US" i="1" dirty="0">
                <a:effectLst/>
                <a:latin typeface="Helvetica" pitchFamily="2" charset="0"/>
              </a:rPr>
              <a:t>預期結果</a:t>
            </a:r>
            <a:endParaRPr lang="zh-TW" altLang="en-US" dirty="0">
              <a:effectLst/>
              <a:latin typeface="Helvetica" pitchFamily="2" charset="0"/>
            </a:endParaRPr>
          </a:p>
          <a:p>
            <a:pPr marL="457200" lvl="1" indent="0">
              <a:buNone/>
            </a:pPr>
            <a:r>
              <a:rPr lang="en-US" altLang="zh-TW" i="1" dirty="0">
                <a:effectLst/>
                <a:latin typeface="Helvetica" pitchFamily="2" charset="0"/>
              </a:rPr>
              <a:t>(7) </a:t>
            </a:r>
            <a:r>
              <a:rPr lang="zh-TW" altLang="en-US" i="1" dirty="0">
                <a:effectLst/>
                <a:latin typeface="Helvetica" pitchFamily="2" charset="0"/>
              </a:rPr>
              <a:t>研究貢獻</a:t>
            </a:r>
            <a:endParaRPr lang="zh-TW" altLang="en-US" dirty="0">
              <a:effectLst/>
              <a:latin typeface="Helvetica" pitchFamily="2" charset="0"/>
            </a:endParaRPr>
          </a:p>
          <a:p>
            <a:pPr marL="457200" lvl="1" indent="0">
              <a:buNone/>
            </a:pPr>
            <a:r>
              <a:rPr lang="en-US" altLang="zh-TW" i="1" dirty="0">
                <a:effectLst/>
                <a:latin typeface="Helvetica" pitchFamily="2" charset="0"/>
              </a:rPr>
              <a:t>(8) </a:t>
            </a:r>
            <a:r>
              <a:rPr lang="zh-TW" altLang="en-US" i="1" dirty="0">
                <a:effectLst/>
                <a:latin typeface="Helvetica" pitchFamily="2" charset="0"/>
              </a:rPr>
              <a:t>參考文獻</a:t>
            </a:r>
            <a:r>
              <a:rPr lang="en-US" altLang="zh-TW" i="1" dirty="0">
                <a:effectLst/>
                <a:latin typeface="Helvetica" pitchFamily="2" charset="0"/>
              </a:rPr>
              <a:t>(</a:t>
            </a:r>
            <a:r>
              <a:rPr lang="zh-TW" altLang="en-US" i="1" dirty="0">
                <a:effectLst/>
                <a:latin typeface="Helvetica" pitchFamily="2" charset="0"/>
              </a:rPr>
              <a:t>列出自己預計相關可參考之文獻清單</a:t>
            </a:r>
            <a:r>
              <a:rPr lang="en-US" altLang="zh-TW" i="1" dirty="0">
                <a:effectLst/>
                <a:latin typeface="Helvetica" pitchFamily="2" charset="0"/>
              </a:rPr>
              <a:t>)</a:t>
            </a:r>
            <a:endParaRPr lang="zh-TW" altLang="en-US" dirty="0">
              <a:effectLst/>
              <a:latin typeface="Helvetica" pitchFamily="2" charset="0"/>
            </a:endParaRPr>
          </a:p>
          <a:p>
            <a:endParaRPr kumimoji="1" lang="zh-TW" altLang="en-US" dirty="0"/>
          </a:p>
        </p:txBody>
      </p:sp>
    </p:spTree>
    <p:extLst>
      <p:ext uri="{BB962C8B-B14F-4D97-AF65-F5344CB8AC3E}">
        <p14:creationId xmlns:p14="http://schemas.microsoft.com/office/powerpoint/2010/main" val="2574378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B739D2-64DD-A781-F0F2-2045B0B876A5}"/>
              </a:ext>
            </a:extLst>
          </p:cNvPr>
          <p:cNvSpPr>
            <a:spLocks noGrp="1"/>
          </p:cNvSpPr>
          <p:nvPr>
            <p:ph type="title"/>
          </p:nvPr>
        </p:nvSpPr>
        <p:spPr/>
        <p:txBody>
          <a:bodyPr/>
          <a:lstStyle/>
          <a:p>
            <a:endParaRPr kumimoji="1" lang="zh-TW" altLang="en-US"/>
          </a:p>
        </p:txBody>
      </p:sp>
      <p:sp>
        <p:nvSpPr>
          <p:cNvPr id="3" name="內容版面配置區 2">
            <a:extLst>
              <a:ext uri="{FF2B5EF4-FFF2-40B4-BE49-F238E27FC236}">
                <a16:creationId xmlns:a16="http://schemas.microsoft.com/office/drawing/2014/main" id="{6CC57035-1AB5-25E1-1DE6-1E9634AF903F}"/>
              </a:ext>
            </a:extLst>
          </p:cNvPr>
          <p:cNvSpPr>
            <a:spLocks noGrp="1"/>
          </p:cNvSpPr>
          <p:nvPr>
            <p:ph idx="1"/>
          </p:nvPr>
        </p:nvSpPr>
        <p:spPr/>
        <p:txBody>
          <a:bodyPr/>
          <a:lstStyle/>
          <a:p>
            <a:r>
              <a:rPr kumimoji="1" lang="zh-TW" altLang="en-US"/>
              <a:t>哈佛個案論文</a:t>
            </a:r>
            <a:r>
              <a:rPr lang="zh-TW" altLang="en-US" i="1">
                <a:effectLst/>
                <a:latin typeface="Helvetica" pitchFamily="2" charset="0"/>
              </a:rPr>
              <a:t>報告應包括</a:t>
            </a:r>
            <a:endParaRPr lang="en-US" altLang="zh-TW" i="1" dirty="0">
              <a:effectLst/>
              <a:latin typeface="Helvetica" pitchFamily="2" charset="0"/>
            </a:endParaRPr>
          </a:p>
          <a:p>
            <a:r>
              <a:rPr kumimoji="1" lang="zh-TW" altLang="en-US" i="1">
                <a:latin typeface="Helvetica" pitchFamily="2" charset="0"/>
              </a:rPr>
              <a:t>個案內容概要</a:t>
            </a:r>
            <a:endParaRPr kumimoji="1" lang="en-US" altLang="zh-TW" i="1" dirty="0">
              <a:latin typeface="Helvetica" pitchFamily="2" charset="0"/>
            </a:endParaRPr>
          </a:p>
          <a:p>
            <a:r>
              <a:rPr kumimoji="1" lang="zh-TW" altLang="en-US" i="1">
                <a:latin typeface="Helvetica" pitchFamily="2" charset="0"/>
              </a:rPr>
              <a:t>討論問題</a:t>
            </a:r>
            <a:endParaRPr kumimoji="1" lang="en-US" altLang="zh-TW" i="1" dirty="0">
              <a:latin typeface="Helvetica" pitchFamily="2" charset="0"/>
            </a:endParaRPr>
          </a:p>
          <a:p>
            <a:r>
              <a:rPr kumimoji="1" lang="zh-TW" altLang="en-US" i="1">
                <a:latin typeface="Helvetica" pitchFamily="2" charset="0"/>
              </a:rPr>
              <a:t>教學重點</a:t>
            </a:r>
            <a:endParaRPr kumimoji="1" lang="en-US" altLang="zh-TW" i="1" dirty="0">
              <a:latin typeface="Helvetica" pitchFamily="2" charset="0"/>
            </a:endParaRPr>
          </a:p>
          <a:p>
            <a:r>
              <a:rPr kumimoji="1" lang="zh-TW" altLang="en-US" i="1">
                <a:latin typeface="Helvetica" pitchFamily="2" charset="0"/>
              </a:rPr>
              <a:t>板書規劃</a:t>
            </a:r>
            <a:endParaRPr kumimoji="1" lang="en-US" altLang="zh-TW" i="1" dirty="0">
              <a:latin typeface="Helvetica" pitchFamily="2" charset="0"/>
            </a:endParaRPr>
          </a:p>
        </p:txBody>
      </p:sp>
    </p:spTree>
    <p:extLst>
      <p:ext uri="{BB962C8B-B14F-4D97-AF65-F5344CB8AC3E}">
        <p14:creationId xmlns:p14="http://schemas.microsoft.com/office/powerpoint/2010/main" val="4060131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D1BCB0-A9AE-9066-B0F5-5899D87176C4}"/>
              </a:ext>
            </a:extLst>
          </p:cNvPr>
          <p:cNvSpPr>
            <a:spLocks noGrp="1"/>
          </p:cNvSpPr>
          <p:nvPr>
            <p:ph type="title"/>
          </p:nvPr>
        </p:nvSpPr>
        <p:spPr/>
        <p:txBody>
          <a:bodyPr/>
          <a:lstStyle/>
          <a:p>
            <a:endParaRPr kumimoji="1" lang="zh-TW" altLang="en-US"/>
          </a:p>
        </p:txBody>
      </p:sp>
      <p:sp>
        <p:nvSpPr>
          <p:cNvPr id="3" name="內容版面配置區 2">
            <a:extLst>
              <a:ext uri="{FF2B5EF4-FFF2-40B4-BE49-F238E27FC236}">
                <a16:creationId xmlns:a16="http://schemas.microsoft.com/office/drawing/2014/main" id="{B4F87B2B-05E9-F523-7EEF-F74B75B622FD}"/>
              </a:ext>
            </a:extLst>
          </p:cNvPr>
          <p:cNvSpPr>
            <a:spLocks noGrp="1"/>
          </p:cNvSpPr>
          <p:nvPr>
            <p:ph idx="1"/>
          </p:nvPr>
        </p:nvSpPr>
        <p:spPr/>
        <p:txBody>
          <a:bodyPr/>
          <a:lstStyle/>
          <a:p>
            <a:r>
              <a:rPr kumimoji="1" lang="zh-TW" altLang="en-US" dirty="0"/>
              <a:t>照</a:t>
            </a:r>
            <a:r>
              <a:rPr kumimoji="1" lang="en-US" altLang="zh-TW" dirty="0"/>
              <a:t>_____</a:t>
            </a:r>
            <a:r>
              <a:rPr kumimoji="1" lang="zh-TW" altLang="en-US" dirty="0"/>
              <a:t>畫</a:t>
            </a:r>
            <a:r>
              <a:rPr kumimoji="1" lang="en-US" altLang="zh-TW" dirty="0"/>
              <a:t>_____</a:t>
            </a:r>
          </a:p>
          <a:p>
            <a:r>
              <a:rPr kumimoji="1" lang="zh-TW" altLang="en-US" dirty="0"/>
              <a:t>作中學</a:t>
            </a:r>
          </a:p>
          <a:p>
            <a:pPr marL="0" indent="0">
              <a:buNone/>
            </a:pPr>
            <a:endParaRPr kumimoji="1" lang="en-US" altLang="zh-TW" dirty="0"/>
          </a:p>
          <a:p>
            <a:pPr marL="0" indent="0">
              <a:buNone/>
            </a:pPr>
            <a:r>
              <a:rPr kumimoji="1" lang="zh-TW" altLang="en-US" dirty="0"/>
              <a:t>目標：</a:t>
            </a:r>
            <a:endParaRPr kumimoji="1" lang="en-US" altLang="zh-TW" dirty="0"/>
          </a:p>
          <a:p>
            <a:pPr marL="0" indent="0">
              <a:buNone/>
            </a:pPr>
            <a:r>
              <a:rPr kumimoji="1" lang="zh-TW" altLang="en-US" dirty="0"/>
              <a:t>通過一學期的腦力激盪與學習，每個人都找到適合自己的研究方法、議題及理論，完成論文的第一步</a:t>
            </a:r>
            <a:endParaRPr kumimoji="1" lang="en-US" altLang="zh-TW" dirty="0"/>
          </a:p>
          <a:p>
            <a:pPr marL="0" indent="0">
              <a:buNone/>
            </a:pPr>
            <a:r>
              <a:rPr kumimoji="1" lang="zh-TW" altLang="en-US" dirty="0"/>
              <a:t>建立系統的分析能力</a:t>
            </a:r>
            <a:endParaRPr kumimoji="1" lang="en-US" altLang="zh-TW" dirty="0"/>
          </a:p>
          <a:p>
            <a:pPr marL="0" indent="0">
              <a:buNone/>
            </a:pPr>
            <a:endParaRPr kumimoji="1" lang="zh-TW" altLang="en-US" dirty="0"/>
          </a:p>
        </p:txBody>
      </p:sp>
    </p:spTree>
    <p:extLst>
      <p:ext uri="{BB962C8B-B14F-4D97-AF65-F5344CB8AC3E}">
        <p14:creationId xmlns:p14="http://schemas.microsoft.com/office/powerpoint/2010/main" val="2541735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97C10B-78CB-A400-BDE3-CA74E14F45D6}"/>
              </a:ext>
            </a:extLst>
          </p:cNvPr>
          <p:cNvSpPr>
            <a:spLocks noGrp="1"/>
          </p:cNvSpPr>
          <p:nvPr>
            <p:ph type="title"/>
          </p:nvPr>
        </p:nvSpPr>
        <p:spPr/>
        <p:txBody>
          <a:bodyPr/>
          <a:lstStyle/>
          <a:p>
            <a:r>
              <a:rPr kumimoji="1" lang="zh-TW" altLang="en-US" dirty="0"/>
              <a:t>上課時間調整</a:t>
            </a:r>
          </a:p>
        </p:txBody>
      </p:sp>
      <p:sp>
        <p:nvSpPr>
          <p:cNvPr id="3" name="內容版面配置區 2">
            <a:extLst>
              <a:ext uri="{FF2B5EF4-FFF2-40B4-BE49-F238E27FC236}">
                <a16:creationId xmlns:a16="http://schemas.microsoft.com/office/drawing/2014/main" id="{D72B0EED-1C1C-46AF-51D1-C739AF737B30}"/>
              </a:ext>
            </a:extLst>
          </p:cNvPr>
          <p:cNvSpPr>
            <a:spLocks noGrp="1"/>
          </p:cNvSpPr>
          <p:nvPr>
            <p:ph idx="1"/>
          </p:nvPr>
        </p:nvSpPr>
        <p:spPr/>
        <p:txBody>
          <a:bodyPr/>
          <a:lstStyle/>
          <a:p>
            <a:r>
              <a:rPr kumimoji="1" lang="en-US" altLang="zh-TW" dirty="0"/>
              <a:t>18:40-9:20</a:t>
            </a:r>
          </a:p>
          <a:p>
            <a:endParaRPr kumimoji="1" lang="zh-TW" altLang="en-US" dirty="0"/>
          </a:p>
        </p:txBody>
      </p:sp>
    </p:spTree>
    <p:extLst>
      <p:ext uri="{BB962C8B-B14F-4D97-AF65-F5344CB8AC3E}">
        <p14:creationId xmlns:p14="http://schemas.microsoft.com/office/powerpoint/2010/main" val="407918909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2268</Words>
  <Application>Microsoft Office PowerPoint</Application>
  <PresentationFormat>寬螢幕</PresentationFormat>
  <Paragraphs>316</Paragraphs>
  <Slides>30</Slides>
  <Notes>14</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30</vt:i4>
      </vt:variant>
    </vt:vector>
  </HeadingPairs>
  <TitlesOfParts>
    <vt:vector size="42" baseType="lpstr">
      <vt:lpstr>Microsoft JhengHei</vt:lpstr>
      <vt:lpstr>Microsoft JhengHei</vt:lpstr>
      <vt:lpstr>新細明體</vt:lpstr>
      <vt:lpstr>標楷體</vt:lpstr>
      <vt:lpstr>Arial</vt:lpstr>
      <vt:lpstr>Calibri</vt:lpstr>
      <vt:lpstr>Garamond</vt:lpstr>
      <vt:lpstr>Helvetica</vt:lpstr>
      <vt:lpstr>Times New Roman</vt:lpstr>
      <vt:lpstr>Trebuchet MS</vt:lpstr>
      <vt:lpstr>Wingdings</vt:lpstr>
      <vt:lpstr>Office 佈景主題</vt:lpstr>
      <vt:lpstr>研究方法</vt:lpstr>
      <vt:lpstr>PowerPoint 簡報</vt:lpstr>
      <vt:lpstr>PowerPoint 簡報</vt:lpstr>
      <vt:lpstr>特別感謝</vt:lpstr>
      <vt:lpstr>關於研究方法</vt:lpstr>
      <vt:lpstr>碩士生有什麼不一樣？</vt:lpstr>
      <vt:lpstr>唸研究所：最重要之目的！</vt:lpstr>
      <vt:lpstr>研究之目的</vt:lpstr>
      <vt:lpstr>研究之目的</vt:lpstr>
      <vt:lpstr>研究進行之三步驟：【理論建構】</vt:lpstr>
      <vt:lpstr>好研究：如何做的？</vt:lpstr>
      <vt:lpstr>好研究：如何做的？</vt:lpstr>
      <vt:lpstr>科學研究定義</vt:lpstr>
      <vt:lpstr>理論及假說的指引？</vt:lpstr>
      <vt:lpstr>理論的意義</vt:lpstr>
      <vt:lpstr>研究和理論有何關係？</vt:lpstr>
      <vt:lpstr>科學研究的侷限性</vt:lpstr>
      <vt:lpstr>社會科學研究</vt:lpstr>
      <vt:lpstr>研究過程的解剖 Anatomy: What it’s made of?</vt:lpstr>
      <vt:lpstr>  研究過程【研究程序】</vt:lpstr>
      <vt:lpstr>PowerPoint 簡報</vt:lpstr>
      <vt:lpstr>研究是如何進行的？</vt:lpstr>
      <vt:lpstr>PowerPoint 簡報</vt:lpstr>
      <vt:lpstr>課程規劃</vt:lpstr>
      <vt:lpstr>課程要求及評分</vt:lpstr>
      <vt:lpstr>分組報告</vt:lpstr>
      <vt:lpstr>期末報告</vt:lpstr>
      <vt:lpstr>PowerPoint 簡報</vt:lpstr>
      <vt:lpstr>PowerPoint 簡報</vt:lpstr>
      <vt:lpstr>上課時間調整</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研究方法</dc:title>
  <dc:creator>yzhu</dc:creator>
  <cp:lastModifiedBy>user</cp:lastModifiedBy>
  <cp:revision>12</cp:revision>
  <dcterms:created xsi:type="dcterms:W3CDTF">2024-08-29T13:26:46Z</dcterms:created>
  <dcterms:modified xsi:type="dcterms:W3CDTF">2026-09-11T12:15:27Z</dcterms:modified>
</cp:coreProperties>
</file>