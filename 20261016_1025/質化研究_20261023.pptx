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404" r:id="rId2"/>
    <p:sldId id="392" r:id="rId3"/>
    <p:sldId id="277" r:id="rId4"/>
    <p:sldId id="397" r:id="rId5"/>
    <p:sldId id="399" r:id="rId6"/>
    <p:sldId id="402" r:id="rId7"/>
    <p:sldId id="403" r:id="rId8"/>
    <p:sldId id="398" r:id="rId9"/>
    <p:sldId id="393" r:id="rId10"/>
    <p:sldId id="394" r:id="rId11"/>
    <p:sldId id="283" r:id="rId12"/>
    <p:sldId id="290" r:id="rId13"/>
    <p:sldId id="360" r:id="rId14"/>
    <p:sldId id="294" r:id="rId15"/>
    <p:sldId id="387" r:id="rId16"/>
    <p:sldId id="386" r:id="rId17"/>
    <p:sldId id="401" r:id="rId18"/>
    <p:sldId id="385" r:id="rId19"/>
    <p:sldId id="364" r:id="rId20"/>
    <p:sldId id="384" r:id="rId21"/>
    <p:sldId id="395" r:id="rId22"/>
    <p:sldId id="400" r:id="rId23"/>
    <p:sldId id="316" r:id="rId24"/>
    <p:sldId id="323" r:id="rId25"/>
    <p:sldId id="380" r:id="rId26"/>
    <p:sldId id="361" r:id="rId27"/>
    <p:sldId id="309" r:id="rId28"/>
    <p:sldId id="313" r:id="rId29"/>
    <p:sldId id="325" r:id="rId30"/>
    <p:sldId id="345" r:id="rId31"/>
    <p:sldId id="326" r:id="rId32"/>
    <p:sldId id="307" r:id="rId33"/>
    <p:sldId id="363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64231-1C1A-E545-8874-5D2E6A9AB0FA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1D6D-A6B1-7746-B88F-FB06FB1617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1872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86" tIns="48092" rIns="96186" bIns="48092" anchor="b"/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40BCFC7A-FF2A-4EF7-97DD-AB580354056A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tIns="48087" rIns="96175" bIns="48087" anchor="b"/>
          <a:lstStyle>
            <a:lvl1pPr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C8B587FC-AFC3-4914-958A-D3DE16D2BFBE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2" name="Rectangle 7"/>
          <p:cNvSpPr txBox="1">
            <a:spLocks noGrp="1" noChangeArrowheads="1"/>
          </p:cNvSpPr>
          <p:nvPr/>
        </p:nvSpPr>
        <p:spPr bwMode="auto">
          <a:xfrm>
            <a:off x="4022937" y="9719538"/>
            <a:ext cx="3074721" cy="51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tIns="48087" rIns="96175" bIns="48087" anchor="b"/>
          <a:lstStyle>
            <a:lvl1pPr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E24317E-CFF8-4DE5-AAD0-08D12AEC9F98}" type="slidenum">
              <a:rPr lang="en-US" altLang="zh-TW" sz="1300"/>
              <a:pPr algn="r" eaLnBrk="1" hangingPunct="1"/>
              <a:t>1</a:t>
            </a:fld>
            <a:endParaRPr lang="en-US" altLang="zh-TW" sz="1300" dirty="0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19900" cy="3836987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930" y="4861443"/>
            <a:ext cx="5679440" cy="460724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5" rIns="96175"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91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13044" indent="-274247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096991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535787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974584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413380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852176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290972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729769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BB7D7C4-EAB0-46A9-8598-D2FCB53707B4}" type="slidenum">
              <a:rPr lang="en-US" altLang="zh-TW">
                <a:latin typeface="Arial" panose="020B0604020202020204" pitchFamily="34" charset="0"/>
              </a:rPr>
              <a:pPr eaLnBrk="1" hangingPunct="1"/>
              <a:t>2</a:t>
            </a:fld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00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7490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287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23B67B8-4112-4741-8FB4-E833D26EACA8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 dirty="0"/>
          </a:p>
        </p:txBody>
      </p:sp>
      <p:sp>
        <p:nvSpPr>
          <p:cNvPr id="99331" name="Rectangle 7"/>
          <p:cNvSpPr txBox="1">
            <a:spLocks noGrp="1" noChangeArrowheads="1"/>
          </p:cNvSpPr>
          <p:nvPr/>
        </p:nvSpPr>
        <p:spPr bwMode="auto">
          <a:xfrm>
            <a:off x="3886200" y="8683625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37" tIns="45568" rIns="91137" bIns="45568" anchor="b"/>
          <a:lstStyle>
            <a:lvl1pPr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5A90DC-2947-48A2-A1CA-35E768E42E60}" type="slidenum">
              <a:rPr lang="en-US" altLang="zh-TW"/>
              <a:pPr algn="r" eaLnBrk="1" hangingPunct="1">
                <a:spcBef>
                  <a:spcPct val="0"/>
                </a:spcBef>
              </a:pPr>
              <a:t>5</a:t>
            </a:fld>
            <a:endParaRPr lang="en-US" altLang="zh-TW" dirty="0"/>
          </a:p>
        </p:txBody>
      </p:sp>
      <p:sp>
        <p:nvSpPr>
          <p:cNvPr id="99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5800"/>
            <a:ext cx="6091237" cy="3427413"/>
          </a:xfrm>
          <a:ln/>
        </p:spPr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137" tIns="45568" rIns="91137" bIns="45568"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6865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6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6781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7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0723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23B67B8-4112-4741-8FB4-E833D26EACA8}" type="slidenum">
              <a:rPr lang="en-US" altLang="zh-TW"/>
              <a:pPr>
                <a:spcBef>
                  <a:spcPct val="0"/>
                </a:spcBef>
              </a:pPr>
              <a:t>8</a:t>
            </a:fld>
            <a:endParaRPr lang="en-US" altLang="zh-TW" dirty="0"/>
          </a:p>
        </p:txBody>
      </p:sp>
      <p:sp>
        <p:nvSpPr>
          <p:cNvPr id="99331" name="Rectangle 7"/>
          <p:cNvSpPr txBox="1">
            <a:spLocks noGrp="1" noChangeArrowheads="1"/>
          </p:cNvSpPr>
          <p:nvPr/>
        </p:nvSpPr>
        <p:spPr bwMode="auto">
          <a:xfrm>
            <a:off x="3886200" y="8683625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37" tIns="45568" rIns="91137" bIns="45568" anchor="b"/>
          <a:lstStyle>
            <a:lvl1pPr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5A90DC-2947-48A2-A1CA-35E768E42E60}" type="slidenum">
              <a:rPr lang="en-US" altLang="zh-TW"/>
              <a:pPr algn="r" eaLnBrk="1" hangingPunct="1">
                <a:spcBef>
                  <a:spcPct val="0"/>
                </a:spcBef>
              </a:pPr>
              <a:t>8</a:t>
            </a:fld>
            <a:endParaRPr lang="en-US" altLang="zh-TW" dirty="0"/>
          </a:p>
        </p:txBody>
      </p:sp>
      <p:sp>
        <p:nvSpPr>
          <p:cNvPr id="99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5800"/>
            <a:ext cx="6091237" cy="3427413"/>
          </a:xfrm>
          <a:ln/>
        </p:spPr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137" tIns="45568" rIns="91137" bIns="45568"/>
          <a:lstStyle/>
          <a:p>
            <a:pPr eaLnBrk="1" hangingPunct="1"/>
            <a:endParaRPr lang="zh-TW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3899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89F761D-02F7-4907-A02F-B1FA53E8C94A}" type="slidenum">
              <a:rPr lang="en-US" altLang="zh-TW"/>
              <a:pPr>
                <a:spcBef>
                  <a:spcPct val="0"/>
                </a:spcBef>
              </a:pPr>
              <a:t>9</a:t>
            </a:fld>
            <a:endParaRPr lang="en-US" altLang="zh-TW" dirty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4396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89F761D-02F7-4907-A02F-B1FA53E8C94A}" type="slidenum">
              <a:rPr lang="en-US" altLang="zh-TW"/>
              <a:pPr>
                <a:spcBef>
                  <a:spcPct val="0"/>
                </a:spcBef>
              </a:pPr>
              <a:t>10</a:t>
            </a:fld>
            <a:endParaRPr lang="en-US" altLang="zh-TW" dirty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8499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DF107D4-E09B-42F9-B475-1890D62137EF}" type="slidenum">
              <a:rPr lang="en-US" altLang="zh-TW"/>
              <a:pPr>
                <a:spcBef>
                  <a:spcPct val="0"/>
                </a:spcBef>
              </a:pPr>
              <a:t>11</a:t>
            </a:fld>
            <a:endParaRPr lang="en-US" altLang="zh-TW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079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3A50650-992E-4A9A-94B8-2946A2DBE785}" type="slidenum">
              <a:rPr lang="en-US" altLang="zh-TW"/>
              <a:pPr>
                <a:spcBef>
                  <a:spcPct val="0"/>
                </a:spcBef>
              </a:pPr>
              <a:t>12</a:t>
            </a:fld>
            <a:endParaRPr lang="en-US" altLang="zh-TW" dirty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1684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89F761D-02F7-4907-A02F-B1FA53E8C94A}" type="slidenum">
              <a:rPr lang="en-US" altLang="zh-TW"/>
              <a:pPr>
                <a:spcBef>
                  <a:spcPct val="0"/>
                </a:spcBef>
              </a:pPr>
              <a:t>13</a:t>
            </a:fld>
            <a:endParaRPr lang="en-US" altLang="zh-TW" dirty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1308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AF94DAE-0AD8-4D51-8E4F-87269CBD8887}" type="slidenum">
              <a:rPr lang="en-US" altLang="zh-TW"/>
              <a:pPr>
                <a:spcBef>
                  <a:spcPct val="0"/>
                </a:spcBef>
              </a:pPr>
              <a:t>14</a:t>
            </a:fld>
            <a:endParaRPr lang="en-US" altLang="zh-TW" dirty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2911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E09C09B-FE0E-49A7-B7F5-9B899ECF4C36}" type="slidenum">
              <a:rPr lang="en-US" altLang="zh-TW"/>
              <a:pPr>
                <a:spcBef>
                  <a:spcPct val="0"/>
                </a:spcBef>
              </a:pPr>
              <a:t>15</a:t>
            </a:fld>
            <a:endParaRPr lang="en-US" altLang="zh-TW" dirty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6782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16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1567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17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0254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18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759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F5B7C9C-6BE8-4FF3-A6BB-37608B6E04BD}" type="slidenum">
              <a:rPr lang="en-US" altLang="zh-TW"/>
              <a:pPr>
                <a:spcBef>
                  <a:spcPct val="0"/>
                </a:spcBef>
              </a:pPr>
              <a:t>19</a:t>
            </a:fld>
            <a:endParaRPr lang="en-US" altLang="zh-TW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3773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0345E8-850F-4A98-A8D2-C1B961BE6EF3}" type="slidenum">
              <a:rPr lang="en-US" altLang="zh-TW"/>
              <a:pPr>
                <a:spcBef>
                  <a:spcPct val="0"/>
                </a:spcBef>
              </a:pPr>
              <a:t>20</a:t>
            </a:fld>
            <a:endParaRPr lang="en-US" altLang="zh-TW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88934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13044" indent="-274247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096991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535787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974584" indent="-219398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413380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852176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290972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729769" indent="-21939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BB7D7C4-EAB0-46A9-8598-D2FCB53707B4}" type="slidenum">
              <a:rPr lang="en-US" altLang="zh-TW">
                <a:latin typeface="Arial" panose="020B0604020202020204" pitchFamily="34" charset="0"/>
              </a:rPr>
              <a:pPr eaLnBrk="1" hangingPunct="1"/>
              <a:t>21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470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C1C498C-0148-4C87-B4A1-CFD9E80E0FF1}" type="slidenum">
              <a:rPr lang="en-US" altLang="zh-TW"/>
              <a:pPr>
                <a:spcBef>
                  <a:spcPct val="0"/>
                </a:spcBef>
              </a:pPr>
              <a:t>23</a:t>
            </a:fld>
            <a:endParaRPr lang="en-US" altLang="zh-TW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4743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E1FBBE1-F869-4C53-A84F-8C6076352D01}" type="slidenum">
              <a:rPr lang="en-US" altLang="zh-TW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0989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C28A30C-5373-4094-A819-1369712D2973}" type="slidenum">
              <a:rPr lang="en-US" altLang="zh-TW"/>
              <a:pPr>
                <a:spcBef>
                  <a:spcPct val="0"/>
                </a:spcBef>
              </a:pPr>
              <a:t>26</a:t>
            </a:fld>
            <a:endParaRPr lang="en-US" altLang="zh-TW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2696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8A1F229-5378-402B-A50E-45DA5DED7BFC}" type="slidenum">
              <a:rPr lang="en-US" altLang="zh-TW"/>
              <a:pPr>
                <a:spcBef>
                  <a:spcPct val="0"/>
                </a:spcBef>
              </a:pPr>
              <a:t>27</a:t>
            </a:fld>
            <a:endParaRPr lang="en-US" altLang="zh-TW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1289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DBB1E9-8F66-4F58-8E58-6C3D9C53B727}" type="slidenum">
              <a:rPr lang="en-US" altLang="zh-TW"/>
              <a:pPr>
                <a:spcBef>
                  <a:spcPct val="0"/>
                </a:spcBef>
              </a:pPr>
              <a:t>28</a:t>
            </a:fld>
            <a:endParaRPr lang="en-US" altLang="zh-TW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59515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91073F7-89CF-497D-A5FB-C783963ECC65}" type="slidenum">
              <a:rPr lang="en-US" altLang="zh-TW"/>
              <a:pPr>
                <a:spcBef>
                  <a:spcPct val="0"/>
                </a:spcBef>
              </a:pPr>
              <a:t>29</a:t>
            </a:fld>
            <a:endParaRPr lang="en-US" altLang="zh-TW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5873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4B346AD-A6FD-47F6-8B0E-D0E5478CAFD9}" type="slidenum">
              <a:rPr lang="en-US" altLang="zh-TW"/>
              <a:pPr>
                <a:spcBef>
                  <a:spcPct val="0"/>
                </a:spcBef>
              </a:pPr>
              <a:t>30</a:t>
            </a:fld>
            <a:endParaRPr lang="en-US" altLang="zh-TW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06341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11BEB84-8A53-4129-B3B8-2050CA82D5BD}" type="slidenum">
              <a:rPr lang="en-US" altLang="zh-TW"/>
              <a:pPr>
                <a:spcBef>
                  <a:spcPct val="0"/>
                </a:spcBef>
              </a:pPr>
              <a:t>31</a:t>
            </a:fld>
            <a:endParaRPr lang="en-US" altLang="zh-TW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1532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96F07FF-1BC3-4D8E-A1A4-98376A702C31}" type="slidenum">
              <a:rPr lang="en-US" altLang="zh-TW"/>
              <a:pPr>
                <a:spcBef>
                  <a:spcPct val="0"/>
                </a:spcBef>
              </a:pPr>
              <a:t>32</a:t>
            </a:fld>
            <a:endParaRPr lang="en-US" altLang="zh-TW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2722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ECBED84-92F4-4BE5-9619-60F1126CB55F}" type="slidenum">
              <a:rPr lang="en-US" altLang="zh-TW"/>
              <a:pPr>
                <a:spcBef>
                  <a:spcPct val="0"/>
                </a:spcBef>
              </a:pPr>
              <a:t>33</a:t>
            </a:fld>
            <a:endParaRPr lang="en-US" altLang="zh-TW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768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83E68-320B-2B35-6B56-0423A0DE2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466809-E2A3-C87F-2906-D607E2A13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AC6519-1B62-C619-596B-84FB9012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150A40-79D7-72A1-B482-697E6AF4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E6019A-6CF8-5F51-E77F-6DDEB83A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812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E838A-4249-753B-1669-E5CB39D8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44CB2F-E59D-359C-2513-C715C799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6497FC-FEF3-23A5-54B7-8880D68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A9996A-6137-51F4-0BF8-7D61120F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1BDEE7-9443-113C-B898-0F5ECA96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470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033076-B85C-2BAD-BE42-6417C699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C8D97-C1E4-59CE-56FC-97E08C27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D009C7-DBE0-A050-CDEC-F270F14A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ADA908-A721-E145-127A-4D8A09F2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98C580-FBD6-C081-B9EA-57C36F59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375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CBCB1C-9213-3C3E-F66D-4D7A3D61E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CA0C2F-E354-61BD-888B-D8C753C5E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775DF7-986B-1884-5624-7E234A4D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5F914B-92D1-8D49-E2E8-439E54A8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7E430D-10C1-5E2B-F7D3-D78D1255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7C389E-648E-7DD2-7090-C33F7B60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559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8F043-2437-DC1A-4258-1918F849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21E39C-BDDE-EA9B-A853-E0F2AEAD9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F45E90-71D5-3DE1-DDBC-68D419B56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778C841-B58A-712E-191C-858920B0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839C106-415D-3DF6-24B6-6042322BA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2ED0C6E-1CF9-A83B-64DD-6001F8C3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72AD83B-0132-06D7-2576-1E6B238F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3B4BC5-CECE-B5A9-51F4-03CF0ADF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710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63196D-3690-0B14-F778-E24B4949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7CF0140-A828-B4B1-321E-790BD061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9DF313-CD7F-7298-4D2C-B0DC0D4E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0F6B91D-EFF0-E410-ADBC-367658BE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523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719404-C0D1-D223-7FAD-3D45BED4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146CDC-5B06-7C9A-0EF7-61B0A43A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03C0BA-A438-0398-1511-F2E80471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9874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DCEB72-8D38-9452-1C82-D8628B89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728FC5-7633-6156-9CBC-8D41C6FF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9BBBE4-D63F-F403-8EDA-2BF141C68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06213B-B277-8E44-9A6B-B929CFC6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59AE01-C290-61BE-79C5-1DF421DF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B63696-3E67-2EAD-DE04-E7BD0F8E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379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1B98C2-E6E7-555B-CC0F-5DD0C7AB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0727B3-232B-0663-2E71-F6530E476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FC5138-C515-464F-600A-1FD6F836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C8EA6C-82FA-70F4-33B1-1A2EDEDA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FF16FE-4894-FA68-1DA2-1D576069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5A9184-202F-C94F-CBAF-4638D03E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227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287A7-A2D5-33F8-69E9-21D934A3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63E9E9-58CE-7723-9B82-75747A28F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FB2B43-8369-0785-B92D-6CF0AA9A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599141-60B4-45C9-6194-AE5F1A88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9FCE98-D159-C8F5-E36F-4D854415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9033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1A51AA-5382-23F4-5E65-BFE53682A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6F07DA-05A6-D477-8D8D-9DB3B4ADC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D7B845-A509-6295-3F60-DFE65AE1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DBE551-45DC-ADCD-6EF8-AAF7D61D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69BD8C-7691-378C-3C09-482A757C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439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31E987-9D67-A1BD-BFF4-8382290C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20DB0B-E8C1-9011-404D-37D18743D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333967-CFD5-CAB8-7DF2-65AD8CB01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C455E-9D12-6C41-B9CB-BA0E57A7B645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404C8C-606C-669C-497D-F1AEBE9CF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E42137-A98A-92B5-C872-9135E0F71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64FFB-589C-A443-BCFB-6D03C681C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37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VhwsRjb3-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448105" y="1268760"/>
            <a:ext cx="7488832" cy="179987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臺灣科技大學．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管研所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EMBA</a:t>
            </a:r>
            <a:b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研究方法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406873" y="3529016"/>
            <a:ext cx="8461746" cy="2446271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zh-TW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研究設計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_</a:t>
            </a:r>
            <a:r>
              <a:rPr lang="zh-TW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質化研究</a:t>
            </a:r>
          </a:p>
          <a:p>
            <a:pPr marL="609600" indent="-609600">
              <a:lnSpc>
                <a:spcPct val="80000"/>
              </a:lnSpc>
              <a:buNone/>
            </a:pPr>
            <a:endParaRPr kumimoji="0" lang="zh-TW" altLang="en-US" sz="4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609600" indent="-609600">
              <a:lnSpc>
                <a:spcPct val="80000"/>
              </a:lnSpc>
              <a:buNone/>
            </a:pPr>
            <a:endParaRPr kumimoji="0"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609600" indent="-609600">
              <a:lnSpc>
                <a:spcPct val="80000"/>
              </a:lnSpc>
              <a:buNone/>
            </a:pPr>
            <a:endParaRPr kumimoji="0"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38527" y="1551997"/>
            <a:ext cx="2743473" cy="39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2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8FBB72F-7652-4001-99EB-C2C2060E84A6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2</a:t>
            </a:fld>
            <a:endParaRPr kumimoji="0"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課程大綱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6660" y="1700213"/>
            <a:ext cx="7731122" cy="4432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質化研究的意義與方式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observation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interviews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field study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質化資料的分析和呈現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grounded theory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content analysis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critical incident technique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個案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case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圖形 6" descr="有向左箭號的圓圈">
            <a:extLst>
              <a:ext uri="{FF2B5EF4-FFF2-40B4-BE49-F238E27FC236}">
                <a16:creationId xmlns:a16="http://schemas.microsoft.com/office/drawing/2014/main" id="{CA1978D9-91EA-442B-AF0B-59ECC1768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456" y="1706294"/>
            <a:ext cx="397934" cy="397934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168" y="1556792"/>
            <a:ext cx="2743473" cy="39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 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Qualitative Research</a:t>
            </a:r>
            <a:r>
              <a:rPr lang="zh-TW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的意義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700213"/>
            <a:ext cx="9289032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是使用檔案資料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、觀察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observation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、訪談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interviews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或田野調查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field study</a:t>
            </a:r>
            <a:r>
              <a:rPr lang="zh-TW" altLang="en-US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等方式，與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做較近距離之接觸或互動，以系統化蒐集、整理與歸納資料，來瞭解研究問題之本質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又稱質性研究、或定性研究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相對於</a:t>
            </a:r>
            <a:r>
              <a:rPr lang="zh-TW" altLang="en-US" sz="1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量化研究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是社會科學、教育學、管理學常用的方法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也適用於自然科學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質化研究的主要方式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observation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interviews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field study</a:t>
            </a:r>
            <a:r>
              <a:rPr lang="zh-TW" altLang="en-US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913711" y="4012725"/>
            <a:ext cx="5834061" cy="144194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質化前的一些考量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6768" y="1700213"/>
            <a:ext cx="8199512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我的研究該採用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or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兩者有何不同？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採用的時機？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哪種較優？哪種較難？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 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6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若採用質化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該如何衡量？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該蒐集多少樣本？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該如何進行？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</a:t>
            </a:r>
          </a:p>
          <a:p>
            <a:pPr eaLnBrk="1" hangingPunct="1">
              <a:spcBef>
                <a:spcPts val="6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可以質化、量化並用嗎？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基本上，研究多應</a:t>
            </a:r>
            <a:r>
              <a:rPr lang="zh-TW" altLang="en-US" sz="18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由</a:t>
            </a:r>
            <a:r>
              <a:rPr lang="zh-TW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質化的聊天</a:t>
            </a:r>
            <a:r>
              <a:rPr lang="zh-TW" altLang="en-US" sz="18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開始</a:t>
            </a:r>
            <a:endParaRPr lang="en-US" altLang="zh-TW" sz="1800" b="1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做</a:t>
            </a:r>
            <a:r>
              <a:rPr lang="zh-TW" altLang="en-US" sz="18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的同學亦應先找老師、朋友、消費者、</a:t>
            </a:r>
            <a:r>
              <a:rPr lang="zh-TW" altLang="en-US" sz="18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業界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聊聊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會大大幫助我們，對研究問題的更深入瞭解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6410">
            <a:off x="5428942" y="627309"/>
            <a:ext cx="3764009" cy="1224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559" y="3021705"/>
            <a:ext cx="6872591" cy="143074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2BDFB25-C5DF-4C0A-B337-418EFDB39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680" y="94050"/>
            <a:ext cx="2073470" cy="29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質化前的一些考量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41312" y="1700213"/>
            <a:ext cx="10363200" cy="44323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所有研究者都希望：</a:t>
            </a:r>
            <a:r>
              <a:rPr lang="zh-TW" altLang="en-US" sz="2400" u="sng" dirty="0">
                <a:latin typeface="Times New Roman" pitchFamily="18" charset="0"/>
                <a:ea typeface="標楷體" pitchFamily="65" charset="-120"/>
              </a:rPr>
              <a:t>研究結果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具說服力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convincing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】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ts val="1200"/>
              </a:spcBef>
              <a:defRPr/>
            </a:pP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量化：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假說檢定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sz="1800" dirty="0">
                <a:latin typeface="Times New Roman" pitchFamily="18" charset="0"/>
                <a:ea typeface="標楷體" pitchFamily="65" charset="-120"/>
              </a:rPr>
              <a:t>假設檢定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】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hypothesis testing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在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0.05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或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0.01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的顯著水準下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sz="1800" dirty="0">
                <a:latin typeface="Times New Roman" pitchFamily="18" charset="0"/>
                <a:ea typeface="標楷體" pitchFamily="65" charset="-120"/>
              </a:rPr>
              <a:t>拒絕</a:t>
            </a:r>
            <a:r>
              <a:rPr lang="zh-TW" altLang="en-US" sz="1800" u="sng" dirty="0">
                <a:latin typeface="Times New Roman" pitchFamily="18" charset="0"/>
                <a:ea typeface="標楷體" pitchFamily="65" charset="-120"/>
              </a:rPr>
              <a:t>虛無假設</a:t>
            </a:r>
            <a:r>
              <a:rPr lang="zh-TW" altLang="en-US" sz="1800" dirty="0">
                <a:latin typeface="Times New Roman" pitchFamily="18" charset="0"/>
                <a:ea typeface="標楷體" pitchFamily="65" charset="-120"/>
              </a:rPr>
              <a:t>而支持</a:t>
            </a:r>
            <a:r>
              <a:rPr lang="zh-TW" altLang="en-US" sz="1800" u="sng" dirty="0">
                <a:latin typeface="Times New Roman" pitchFamily="18" charset="0"/>
                <a:ea typeface="標楷體" pitchFamily="65" charset="-120"/>
              </a:rPr>
              <a:t>對立假設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】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雖有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Type</a:t>
            </a:r>
            <a:r>
              <a:rPr lang="zh-TW" altLang="en-US" sz="2000" i="1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I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&amp;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Type</a:t>
            </a:r>
            <a:r>
              <a:rPr lang="zh-TW" altLang="en-US" sz="2000" i="1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II</a:t>
            </a:r>
            <a:r>
              <a:rPr lang="zh-TW" altLang="en-US" sz="2000" i="1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en-US" altLang="zh-TW" sz="2000" i="1" dirty="0">
                <a:latin typeface="Times New Roman" pitchFamily="18" charset="0"/>
                <a:ea typeface="標楷體" pitchFamily="65" charset="-120"/>
              </a:rPr>
              <a:t>error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 顧慮，但已有相當嚴謹性、並約定成俗</a:t>
            </a:r>
            <a:endParaRPr lang="en-US" altLang="zh-TW" sz="20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… …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質化：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樣本太少</a:t>
            </a:r>
            <a:endParaRPr lang="en-US" altLang="zh-TW" sz="20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樣本不具代表性</a:t>
            </a:r>
            <a:endParaRPr lang="en-US" altLang="zh-TW" sz="20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太</a:t>
            </a:r>
            <a:r>
              <a:rPr lang="zh-TW" altLang="en-US" sz="2000" u="sng" dirty="0">
                <a:latin typeface="Times New Roman" pitchFamily="18" charset="0"/>
                <a:ea typeface="標楷體" pitchFamily="65" charset="-120"/>
              </a:rPr>
              <a:t>主觀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的認定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sz="1800" dirty="0">
                <a:latin typeface="Times New Roman" pitchFamily="18" charset="0"/>
                <a:ea typeface="標楷體" pitchFamily="65" charset="-120"/>
              </a:rPr>
              <a:t>非</a:t>
            </a:r>
            <a:r>
              <a:rPr lang="zh-TW" altLang="en-US" sz="1800" u="sng" dirty="0">
                <a:latin typeface="Times New Roman" pitchFamily="18" charset="0"/>
                <a:ea typeface="標楷體" pitchFamily="65" charset="-120"/>
              </a:rPr>
              <a:t>客觀</a:t>
            </a:r>
            <a:r>
              <a:rPr lang="zh-TW" altLang="en-US" sz="1800" dirty="0">
                <a:latin typeface="Times New Roman" pitchFamily="18" charset="0"/>
                <a:ea typeface="標楷體" pitchFamily="65" charset="-120"/>
              </a:rPr>
              <a:t>的存在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】</a:t>
            </a:r>
            <a:endParaRPr lang="en-US" altLang="zh-TW" sz="2000" dirty="0">
              <a:latin typeface="Times New Roman" pitchFamily="18" charset="0"/>
              <a:ea typeface="標楷體" pitchFamily="65" charset="-120"/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…</a:t>
            </a:r>
          </a:p>
        </p:txBody>
      </p:sp>
      <p:sp>
        <p:nvSpPr>
          <p:cNvPr id="9830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0DAB52-51A8-4109-AD2A-8669580334E1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2048">
            <a:off x="8439731" y="235638"/>
            <a:ext cx="2013711" cy="130166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" name="文字方塊 1"/>
          <p:cNvSpPr txBox="1"/>
          <p:nvPr/>
        </p:nvSpPr>
        <p:spPr>
          <a:xfrm>
            <a:off x="2548036" y="3864154"/>
            <a:ext cx="341632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ea typeface="標楷體" pitchFamily="65" charset="-120"/>
              </a:rPr>
              <a:t>但，質化要怎樣才可說服讀者？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6733">
            <a:off x="8583223" y="1811718"/>
            <a:ext cx="3307341" cy="1906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文字方塊 3"/>
          <p:cNvSpPr txBox="1"/>
          <p:nvPr/>
        </p:nvSpPr>
        <p:spPr>
          <a:xfrm>
            <a:off x="2129428" y="2129304"/>
            <a:ext cx="425353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en-US" altLang="zh-TW" i="1" dirty="0">
                <a:latin typeface="Times New Roman" pitchFamily="18" charset="0"/>
                <a:ea typeface="標楷體" pitchFamily="65" charset="-120"/>
              </a:rPr>
              <a:t>… results are significant at p &lt; 0.05 …</a:t>
            </a:r>
            <a:r>
              <a:rPr lang="en-US" altLang="zh-TW" dirty="0">
                <a:latin typeface="Times New Roman" pitchFamily="18" charset="0"/>
                <a:ea typeface="標楷體" pitchFamily="65" charset="-120"/>
              </a:rPr>
              <a:t>】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049D9F0-89AC-4255-8088-C0BE1D940B2F}"/>
              </a:ext>
            </a:extLst>
          </p:cNvPr>
          <p:cNvSpPr txBox="1"/>
          <p:nvPr/>
        </p:nvSpPr>
        <p:spPr>
          <a:xfrm rot="21480000">
            <a:off x="6091075" y="4556067"/>
            <a:ext cx="5623408" cy="92333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b="1" u="sng" dirty="0">
                <a:latin typeface="Times New Roman" pitchFamily="18" charset="0"/>
                <a:ea typeface="標楷體" pitchFamily="65" charset="-120"/>
              </a:rPr>
              <a:t>量化研究</a:t>
            </a:r>
            <a:r>
              <a:rPr lang="zh-TW" altLang="en-US" dirty="0">
                <a:latin typeface="Times New Roman" pitchFamily="18" charset="0"/>
                <a:ea typeface="標楷體" pitchFamily="65" charset="-120"/>
              </a:rPr>
              <a:t>因有具體的數據，似乎較容易說服讀者</a:t>
            </a:r>
            <a:endParaRPr lang="en-US" altLang="zh-TW" dirty="0">
              <a:latin typeface="Times New Roman" pitchFamily="18" charset="0"/>
              <a:ea typeface="標楷體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b="1" u="sng" dirty="0">
                <a:latin typeface="Times New Roman" pitchFamily="18" charset="0"/>
                <a:ea typeface="標楷體" pitchFamily="65" charset="-120"/>
              </a:rPr>
              <a:t>質化研究</a:t>
            </a:r>
            <a:r>
              <a:rPr lang="zh-TW" altLang="en-US" dirty="0">
                <a:latin typeface="Times New Roman" pitchFamily="18" charset="0"/>
                <a:ea typeface="標楷體" pitchFamily="65" charset="-120"/>
              </a:rPr>
              <a:t>也有數據</a:t>
            </a:r>
            <a:r>
              <a:rPr lang="en-US" altLang="zh-TW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dirty="0">
                <a:latin typeface="Times New Roman" pitchFamily="18" charset="0"/>
                <a:ea typeface="標楷體" pitchFamily="65" charset="-120"/>
              </a:rPr>
              <a:t>多為文字</a:t>
            </a:r>
            <a:r>
              <a:rPr lang="en-US" altLang="zh-TW" dirty="0">
                <a:latin typeface="Times New Roman" pitchFamily="18" charset="0"/>
                <a:ea typeface="標楷體" pitchFamily="65" charset="-120"/>
              </a:rPr>
              <a:t>】</a:t>
            </a:r>
            <a:r>
              <a:rPr lang="zh-TW" altLang="en-US" dirty="0">
                <a:latin typeface="Times New Roman" pitchFamily="18" charset="0"/>
                <a:ea typeface="標楷體" pitchFamily="65" charset="-120"/>
              </a:rPr>
              <a:t>，只要說理清楚、邏輯嚴謹，也很容易說服讀者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9DC617-3DE4-4C42-95EF-DD3E040DB260}"/>
              </a:ext>
            </a:extLst>
          </p:cNvPr>
          <p:cNvSpPr txBox="1"/>
          <p:nvPr/>
        </p:nvSpPr>
        <p:spPr>
          <a:xfrm>
            <a:off x="1535266" y="5619384"/>
            <a:ext cx="36728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Times New Roman" pitchFamily="18" charset="0"/>
                <a:ea typeface="標楷體" pitchFamily="65" charset="-120"/>
              </a:rPr>
              <a:t>這些批評，看似有理，其實並不正確！</a:t>
            </a:r>
          </a:p>
        </p:txBody>
      </p:sp>
    </p:spTree>
    <p:extLst>
      <p:ext uri="{BB962C8B-B14F-4D97-AF65-F5344CB8AC3E}">
        <p14:creationId xmlns:p14="http://schemas.microsoft.com/office/powerpoint/2010/main" val="54732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  <p:bldP spid="2" grpId="0" animBg="1"/>
      <p:bldP spid="4" grpId="0" animBg="1"/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Why qualitative?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質化研究的運用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344" y="1700808"/>
            <a:ext cx="10657184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對事物的本質不很瞭解，而需有探索性的研究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常用於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某現象或主題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研究的初期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對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該現象或主題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所知有限，故透過各種管道蒐集資料，以瞭解現象的確實存在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透過文獻、觀察、訪談或融入現象的場景，以瞭解可能包含的概念或變數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前因與後果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新產品或新功能發展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的情境：跟消費者直接互動，或融入產品使用情境，從消費者的使用經驗、評價和期望中，找出量化研究不易找出的產品新功能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建構更清楚的研究方向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量化研究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的前行步驟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透過和業者、消費者、專家或學者的訪談，釐清研究問題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非常有助於量化資料蒐集的完整性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衡量的</a:t>
            </a:r>
            <a:r>
              <a:rPr lang="zh-TW" altLang="en-US" sz="1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構念效度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zh-TW" altLang="en-US" sz="1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內部效度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67773">
            <a:off x="7442597" y="4080982"/>
            <a:ext cx="4635858" cy="159668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7917487" y="314624"/>
            <a:ext cx="3857320" cy="9144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6829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Why qualitative?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質化研究的運用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1556792"/>
            <a:ext cx="9572600" cy="4575721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多重檢核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triangulation</a:t>
            </a:r>
          </a:p>
          <a:p>
            <a:pPr lvl="1" eaLnBrk="1" hangingPunct="1"/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也常是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量化研究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結果的後續步驟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量化分析結果：一堆數字或圖表，但真正意義？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數字背後，常有很多意想不到的原因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研究者並非都很清楚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將結果簡要呈現給業者，進行研究後的訪談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常可得到不同見解，對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研究結果的解釋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研究意涵的豐富化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有非常大助益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較理想的研究設計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【Study 1】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</a:t>
            </a:r>
            <a:r>
              <a:rPr lang="zh-TW" altLang="en-US" sz="20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質化的聊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開始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【Study 2】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蒐集資料，進行</a:t>
            </a:r>
            <a:r>
              <a:rPr lang="zh-TW" altLang="en-US" sz="20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量化研究</a:t>
            </a:r>
            <a:endParaRPr lang="en-US" altLang="zh-TW" sz="2000" b="1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【Study 3】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有研究結果後，再將結果給相關人士，討論實務或管理意涵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3179">
            <a:off x="4450096" y="1550006"/>
            <a:ext cx="2441855" cy="4448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4E45DF2-149D-4484-BC54-9ACF05CD6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7653208" y="3451678"/>
            <a:ext cx="3830845" cy="78594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837DC68-6430-4C54-9077-244A124B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618" y="5050804"/>
            <a:ext cx="5289523" cy="164700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AEC3DE6-EFED-4917-857B-ED75D789E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652" y="160193"/>
            <a:ext cx="4496978" cy="182864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2448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優良的質化研究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1.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確認有好的質化</a:t>
            </a:r>
            <a:r>
              <a:rPr lang="zh-TW" altLang="en-US" sz="2400" u="sng" dirty="0">
                <a:latin typeface="Times New Roman" pitchFamily="18" charset="0"/>
                <a:ea typeface="標楷體" pitchFamily="65" charset="-120"/>
              </a:rPr>
              <a:t>資料來源</a:t>
            </a:r>
            <a:endParaRPr lang="en-US" altLang="zh-TW" sz="2400" u="sng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2.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</a:t>
            </a:r>
            <a:r>
              <a:rPr lang="zh-TW" altLang="en-US" sz="2400" u="sng" dirty="0">
                <a:latin typeface="Times New Roman" pitchFamily="18" charset="0"/>
                <a:ea typeface="標楷體" pitchFamily="65" charset="-120"/>
              </a:rPr>
              <a:t>明確的研究題目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來導引資料的蒐集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3.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確實做好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文獻回顧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】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4.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研究設計與執行須交代清楚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en-US" altLang="zh-TW" sz="1800" i="1" dirty="0">
                <a:latin typeface="Times New Roman" pitchFamily="18" charset="0"/>
                <a:ea typeface="標楷體" pitchFamily="65" charset="-120"/>
              </a:rPr>
              <a:t>transparency</a:t>
            </a:r>
            <a:r>
              <a:rPr lang="en-US" altLang="zh-TW" sz="1800" dirty="0">
                <a:latin typeface="Times New Roman" pitchFamily="18" charset="0"/>
                <a:ea typeface="標楷體" pitchFamily="65" charset="-120"/>
              </a:rPr>
              <a:t>】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5.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說一個有趣的故事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6.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與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【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</a:rPr>
              <a:t>過去文獻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</a:rPr>
              <a:t>】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之間的關聯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標楷體" pitchFamily="65" charset="-120"/>
              </a:rPr>
              <a:t>7.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 實務上的意涵為何</a:t>
            </a:r>
            <a:endParaRPr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 marL="0" indent="0" eaLnBrk="1" hangingPunct="1">
              <a:spcBef>
                <a:spcPts val="1200"/>
              </a:spcBef>
              <a:buNone/>
              <a:defRPr/>
            </a:pPr>
            <a:r>
              <a:rPr lang="en-US" altLang="zh-TW" sz="1600" b="1" dirty="0">
                <a:latin typeface="Times New Roman" pitchFamily="18" charset="0"/>
                <a:ea typeface="標楷體" pitchFamily="65" charset="-120"/>
              </a:rPr>
              <a:t>Source: </a:t>
            </a:r>
            <a:br>
              <a:rPr lang="en-US" altLang="zh-TW" sz="1600" b="1" dirty="0">
                <a:latin typeface="Times New Roman" pitchFamily="18" charset="0"/>
                <a:ea typeface="標楷體" pitchFamily="65" charset="-120"/>
              </a:rPr>
            </a:br>
            <a:r>
              <a:rPr lang="en-US" altLang="zh-TW" sz="1600" dirty="0">
                <a:latin typeface="Times New Roman" pitchFamily="18" charset="0"/>
                <a:ea typeface="標楷體" pitchFamily="65" charset="-120"/>
              </a:rPr>
              <a:t>Reay, Trish (2014), "Publishing Qualitative Research," </a:t>
            </a:r>
            <a:r>
              <a:rPr lang="en-US" altLang="zh-TW" sz="1600" i="1" dirty="0">
                <a:latin typeface="Times New Roman" pitchFamily="18" charset="0"/>
                <a:ea typeface="標楷體" pitchFamily="65" charset="-120"/>
              </a:rPr>
              <a:t>Family Business Review</a:t>
            </a:r>
            <a:r>
              <a:rPr lang="en-US" altLang="zh-TW" sz="1600" dirty="0">
                <a:latin typeface="Times New Roman" pitchFamily="18" charset="0"/>
                <a:ea typeface="標楷體" pitchFamily="65" charset="-120"/>
              </a:rPr>
              <a:t>, 27 (2), 95-102.</a:t>
            </a:r>
          </a:p>
        </p:txBody>
      </p:sp>
      <p:sp>
        <p:nvSpPr>
          <p:cNvPr id="9830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0DAB52-51A8-4109-AD2A-8669580334E1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2048">
            <a:off x="8364913" y="238119"/>
            <a:ext cx="2090252" cy="135113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1800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96" y="214660"/>
            <a:ext cx="7793037" cy="1054100"/>
          </a:xfrm>
        </p:spPr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660996"/>
            <a:ext cx="10009112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藉由對過去的日記、書籍、文獻、照片、錄音、影片或實物陳列等資料的閱讀或整理，以發覺存在的問題，及其形成的原因</a:t>
            </a:r>
            <a:endParaRPr lang="en-US" altLang="zh-TW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簡單講：文獻回顧或文獻探討</a:t>
            </a:r>
            <a:endParaRPr lang="en-US" altLang="zh-TW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由有趣的現象中，回頭找尋文獻，以瞭解人類知識體系的已知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由文獻回顧中，找出缺口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例：德國科學家</a:t>
            </a:r>
            <a:r>
              <a:rPr lang="zh-TW" altLang="en-US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阿爾弗雷德</a:t>
            </a:r>
            <a:r>
              <a:rPr lang="en-US" altLang="zh-TW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·</a:t>
            </a:r>
            <a:r>
              <a:rPr lang="zh-TW" altLang="en-US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韋格納</a:t>
            </a: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大陸漂移說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continental drift theory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古生物化石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由書籍照片中發現，大西洋兩岸的動植物化石很相近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大陸邊緣的吻合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南美洲東岸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非洲西岸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的海岸線可相重合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1912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提出，太大膽的假說，而一直未被接受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16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Continental drift was just too incredible to believe. As a result, his discovery was largely ignored.</a:t>
            </a:r>
            <a:endParaRPr lang="en-US" altLang="zh-TW" sz="18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至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1960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年代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海洋擴張說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提出才獲接受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29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A6017C-957A-44F0-9295-2952B7B2B1AB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1026" name="Picture 2" descr="https://upload.wikimedia.org/wikipedia/commons/8/8e/Pangea_animation_03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59" y="4869160"/>
            <a:ext cx="1919189" cy="153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33813">
            <a:off x="7711266" y="5149087"/>
            <a:ext cx="1930722" cy="148162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832" y="4869160"/>
            <a:ext cx="1908816" cy="153535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C3D5695-BAA6-4AEB-8235-D413C603B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3252" y="81880"/>
            <a:ext cx="2607404" cy="153535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4081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415" y="214313"/>
            <a:ext cx="10390716" cy="1054100"/>
          </a:xfrm>
        </p:spPr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628800"/>
            <a:ext cx="9361040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經典案例：門德烈夫的</a:t>
            </a:r>
            <a:r>
              <a:rPr lang="zh-TW" altLang="en-US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週期表</a:t>
            </a:r>
            <a:endParaRPr lang="en-US" altLang="zh-TW" sz="2300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宇宙萬事萬物，何其繁雜！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規律，卻是如此的清晰！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化學史上最偉大的發現之一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近期案例：</a:t>
            </a:r>
            <a:endParaRPr lang="en-US" altLang="zh-TW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在實務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觀察到的現象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與文獻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</a:t>
            </a:r>
            <a:r>
              <a:rPr lang="zh-TW" altLang="en-US" sz="19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交叉比對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中，找出有趣的</a:t>
            </a:r>
            <a:r>
              <a:rPr lang="zh-TW" altLang="en-US" sz="19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研究缺口</a:t>
            </a:r>
            <a:endParaRPr lang="en-US" altLang="zh-TW" sz="1900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例：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2015 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科技部的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專題研究計畫成果發表會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29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A6017C-957A-44F0-9295-2952B7B2B1AB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7496">
            <a:off x="8689174" y="4048600"/>
            <a:ext cx="3151812" cy="1541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129" y="4229493"/>
            <a:ext cx="3368111" cy="2223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144" y="119843"/>
            <a:ext cx="4637539" cy="3093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075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04" y="260648"/>
            <a:ext cx="7793037" cy="1054100"/>
          </a:xfrm>
        </p:spPr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觀察法 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observation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700213"/>
            <a:ext cx="9135616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藉由對被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之直接查看，以瞭解其行為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觀察法之特性</a:t>
            </a:r>
          </a:p>
          <a:p>
            <a:pPr lvl="1" eaLnBrk="1" hangingPunct="1">
              <a:spcBef>
                <a:spcPts val="9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直接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directness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：研究者可直接觀察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行為，而得到真實的資料，並感受現場的震撼</a:t>
            </a:r>
          </a:p>
          <a:p>
            <a:pPr lvl="1" eaLnBrk="1" hangingPunct="1">
              <a:spcBef>
                <a:spcPts val="9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自然情境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natural settings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：研究在自然情境下進行，特別是當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並不知他被觀察時，常可得到最真實的行為資料</a:t>
            </a:r>
          </a:p>
          <a:p>
            <a:pPr lvl="1" eaLnBrk="1" hangingPunct="1">
              <a:spcBef>
                <a:spcPts val="9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適用於非語言化的現象或行為，或某些無法以豐富辭彙表達其內心想法的被研究者：如兒童行為的研究、智障者之研究</a:t>
            </a:r>
          </a:p>
          <a:p>
            <a:pPr lvl="1" eaLnBrk="1" hangingPunct="1">
              <a:spcBef>
                <a:spcPts val="9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適用於無意願表達的行為：如有些人不願對政治立場表示意見，此時只能以觀察法替代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9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也適用於很多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自然科學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的研究</a:t>
            </a:r>
          </a:p>
        </p:txBody>
      </p:sp>
      <p:sp>
        <p:nvSpPr>
          <p:cNvPr id="1843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7CEC57-3C1A-4774-A6F1-087BAAB681E1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F943362-3403-4F8A-A8DF-A0F8C8E9D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252" y="81880"/>
            <a:ext cx="2607404" cy="153535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</a:rPr>
              <a:t>觀察法的限制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1700213"/>
            <a:ext cx="10668653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費時、費錢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只能觀察外在行為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或由此推測內在想法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有些行為很難觀察到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珍古德的黑猩猩研究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珍古德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】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短片搶先看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https://www.youtube.com/watch?v=zVhwsRjb3-w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</a:p>
          <a:p>
            <a:pPr eaLnBrk="1" hangingPunct="1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題外話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珍古德與台科大的密切關係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為台科大榮譽博士校友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行政大樓與圖書館轉角，有很大的石雕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多次訪問台科大，並在校園內植樹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機械系中庭的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烏心石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，即為珍古德手植 </a:t>
            </a:r>
          </a:p>
        </p:txBody>
      </p:sp>
      <p:sp>
        <p:nvSpPr>
          <p:cNvPr id="20484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EEEC3E-CDFC-420E-A8E5-B30706F0C98D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332E288-6DA9-45D8-B2D1-309031216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79194">
            <a:off x="7347112" y="1602031"/>
            <a:ext cx="4170277" cy="2319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04" y="286668"/>
            <a:ext cx="7793037" cy="1054100"/>
          </a:xfrm>
        </p:spPr>
        <p:txBody>
          <a:bodyPr/>
          <a:lstStyle/>
          <a:p>
            <a:pPr eaLnBrk="1" hangingPunct="1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 </a:t>
            </a:r>
            <a:r>
              <a:rPr lang="en-US" altLang="zh-TW" sz="3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interview</a:t>
            </a:r>
            <a:endParaRPr lang="zh-TW" altLang="en-US" sz="32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1" y="1628800"/>
            <a:ext cx="9423648" cy="45365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使用頻率很高的</a:t>
            </a:r>
            <a:r>
              <a:rPr lang="zh-TW" altLang="en-US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</a:t>
            </a: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  <a:endParaRPr lang="en-US" altLang="zh-TW" sz="23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各人背景不同，看法也不同；術業有專攻、各具擅長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集思廣益，彙總眾人看法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藉由口語與</a:t>
            </a:r>
            <a:r>
              <a:rPr lang="zh-TW" altLang="en-US" sz="23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溝通，以進行資料蒐集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事先設計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訪談問卷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，以確保涵蓋相關的問題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問卷需事先給受訪者過目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訪談過程常需錄音，而後將</a:t>
            </a:r>
            <a:r>
              <a:rPr kumimoji="0"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錄音檔打成逐字稿</a:t>
            </a:r>
          </a:p>
          <a:p>
            <a:pPr lvl="1" eaLnBrk="1" hangingPunct="1">
              <a:spcBef>
                <a:spcPts val="300"/>
              </a:spcBef>
            </a:pPr>
            <a:r>
              <a:rPr kumimoji="0"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進行資料分析、萃取</a:t>
            </a:r>
          </a:p>
          <a:p>
            <a:pPr eaLnBrk="1" hangingPunct="1">
              <a:spcBef>
                <a:spcPts val="1200"/>
              </a:spcBef>
            </a:pPr>
            <a:r>
              <a:rPr lang="zh-TW" altLang="en-US" sz="23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訪談問卷類型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結構化訪問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structured interview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受訪者被要求回答一系列事先擬好之問題，且回答的選項或次序是固定的。除開放式問題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open-ended questions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外，受訪者沒有很大的空間可陳述意見</a:t>
            </a:r>
          </a:p>
          <a:p>
            <a:pPr lvl="1" eaLnBrk="1" hangingPunct="1">
              <a:spcBef>
                <a:spcPts val="6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非結構化訪問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non-structured interview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：受訪者根據研究主題自由發表意見</a:t>
            </a:r>
          </a:p>
        </p:txBody>
      </p:sp>
      <p:sp>
        <p:nvSpPr>
          <p:cNvPr id="1229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A6017C-957A-44F0-9295-2952B7B2B1AB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E1CCBB-B229-48D9-B73C-ABBB3AA2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252" y="81880"/>
            <a:ext cx="2607404" cy="153535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3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3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訪談的進行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4585" y="1700213"/>
            <a:ext cx="9457959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深度訪談（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in-depth interview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常為一對一的談話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受訪者被要求回答一系列事先擬好之問題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回答的選項或次序固定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除開放式問題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open-ended questions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外，受訪者沒很大空間可陳述意見</a:t>
            </a: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焦點群體訪談（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focus group interview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研究者同時訪問多位受訪者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目的：希望透過團體互動與激發思考，取得個人訪問所無法獲取的資料內涵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訪談主持人需有好的訓練，也需有扎實的領域知識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</a:p>
          <a:p>
            <a:pPr lvl="1" eaLnBrk="1" hangingPunct="1">
              <a:lnSpc>
                <a:spcPct val="90000"/>
              </a:lnSpc>
            </a:pP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340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A7196C-7BE8-4DC8-84E1-1A543C4D1B6E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96" y="188640"/>
            <a:ext cx="7793037" cy="1054100"/>
          </a:xfrm>
        </p:spPr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 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field study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700213"/>
            <a:ext cx="9577064" cy="44323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源自人類學、考古學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藉融入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日常生活中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進行人類行為的研究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如：暸解人們如何生活、溝通與行動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如：人們的思考、喜怒哀樂為何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田野調查者藉由進入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研究標的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生活中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非為研究而設定的情境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，直接觀察或接觸，以取得第一手資料</a:t>
            </a: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如：人類學家居住於原始部落中，以瞭解原住民的歷史文化傳承、權力結構等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又如：直接融入遊民、風化場所，以瞭解其生活型態、困境等</a:t>
            </a:r>
          </a:p>
        </p:txBody>
      </p:sp>
      <p:sp>
        <p:nvSpPr>
          <p:cNvPr id="22533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C5010A-CDB4-46D1-ABE9-EA568776DF4C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B6BFF4F-53F8-45E6-9C75-DF3A6E096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252" y="81880"/>
            <a:ext cx="2607404" cy="153535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409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田野調查的方式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700213"/>
            <a:ext cx="9577064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採訪記錄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藉受訪者的口述、操作或表演示範，蒐集到最直接的</a:t>
            </a:r>
            <a:r>
              <a:rPr lang="zh-TW" altLang="zh-TW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影音記錄</a:t>
            </a:r>
            <a:endParaRPr lang="en-US" altLang="zh-TW" sz="2000" u="sng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將過程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摘錄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為圖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文稿，並經嚴謹考證後定稿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－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此</a:t>
            </a:r>
            <a:r>
              <a:rPr lang="zh-TW" altLang="zh-TW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文稿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即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忠實的田野採訪紀實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拍攝紀錄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自然動植物、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古建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築文化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、造型藝術或重要人物的實地拍攝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蒐集第一手的影像圖照資料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提供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調查結果的有力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佐證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田野調查的方式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1556792"/>
            <a:ext cx="8928992" cy="44323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翻製記錄</a:t>
            </a:r>
          </a:p>
          <a:p>
            <a:pPr lvl="1"/>
            <a:r>
              <a:rPr lang="zh-TW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徵得原收藏者同意，翻印或翻拍傳世祖譜、古籍、圖稿、劇本、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曲</a:t>
            </a:r>
            <a:r>
              <a:rPr lang="zh-TW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譜、秘笈或老照片等珍貴資料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 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常為博物館等級的珍貴史料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盡力保存，以作為</a:t>
            </a:r>
            <a:r>
              <a:rPr lang="zh-TW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日後進一步研究的基本材料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例：鄧雨賢生平考究與史料更正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鄧泰超之碩士論文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</a:p>
          <a:p>
            <a:pPr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鄧雨賢生平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出身桃園平鎮與龍潭地區的客家裔作曲家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畢生創作近百首曲目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《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雨夜花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》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《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望春風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》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《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月夜愁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》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《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四季紅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》</a:t>
            </a:r>
            <a:b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為代表作，合稱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『</a:t>
            </a:r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四月望雨</a:t>
            </a:r>
            <a:r>
              <a:rPr lang="en-US" altLang="zh-TW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』</a:t>
            </a:r>
          </a:p>
          <a:p>
            <a:pPr lvl="1"/>
            <a:r>
              <a:rPr lang="zh-TW" altLang="en-US" sz="1900" dirty="0">
                <a:latin typeface="Times New Roman" panose="02020603050405020304" pitchFamily="18" charset="0"/>
                <a:ea typeface="標楷體" panose="03000509000000000000" pitchFamily="65" charset="-120"/>
              </a:rPr>
              <a:t>被譽為「台灣歌謠之父」與「台灣民謠之父」</a:t>
            </a:r>
            <a:endParaRPr lang="en-US" altLang="zh-TW" sz="19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E974EB9-A81A-4580-882F-3A8F1767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69516">
            <a:off x="7890377" y="4503811"/>
            <a:ext cx="4193824" cy="151845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2" descr="File:NTUST Deng Yu Shian's Lifetime Research and History Document  Correction 2009-01.jpg - 維基百科，自由的百科全書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120" y="620688"/>
            <a:ext cx="2576334" cy="344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5192734" y="246351"/>
            <a:ext cx="3687179" cy="146257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0432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田野調查的方式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1700213"/>
            <a:ext cx="8415536" cy="443230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測繪記錄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以簡圖或描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繪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方式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重現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實際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場域或事物，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方便日後資料整理和現場復原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常配合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有空間現場的實地測量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，與照片或影片的拍攝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3573016"/>
            <a:ext cx="4426383" cy="233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0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質化研究的資料量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資料飽和度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data </a:t>
            </a:r>
            <a:r>
              <a:rPr lang="en-US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saturation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715" y="1700212"/>
            <a:ext cx="11514586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To determine the optimal number of participants, the principle of </a:t>
            </a:r>
            <a:r>
              <a:rPr lang="en-US" altLang="zh-TW" sz="17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data saturation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was applied. </a:t>
            </a:r>
            <a:r>
              <a:rPr lang="en-US" altLang="zh-TW" sz="17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Data collection stopped when no new themes that would add to the existing results appeared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(Glaser and Strauss, 1967). Data was </a:t>
            </a:r>
            <a:r>
              <a:rPr lang="en-US" altLang="zh-TW" sz="17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analysed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after each interview and these preliminary analyses lead to inviting more interviewees and to the decision on the number of interviews (11 interviews; for details, see Table I). Two practitioners decided to take part in the study on an anonymous basis.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【EJM-Strycharz_2019】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資料飽和的概念指引我們合適的訪談數目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當增加的訪談無法再蒐集到額外新資訊時，我們停止了資料的繼續蒐集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The interviews occurred over the telephone and in person and were all recorded for transcription and analysis. We continued to interview respondents until we achieved </a:t>
            </a:r>
            <a:r>
              <a:rPr lang="en-US" altLang="zh-TW" sz="17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theoretical saturation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—the point at which no new insights or understandings are gleaned from the procurement of additional data (Creswell 2007).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【JM-Johnson_2018】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我們利用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電話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zh-TW" altLang="en-US" sz="18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面對面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方式來訪談，並全程錄音，以利後續轉成文字稿和資料分析。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訪談一直持續到理論飽和才停止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沒有新想法可被記錄，或無法再增加新知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In the first phase of the research, we collected data from 13 informants until </a:t>
            </a:r>
            <a:r>
              <a:rPr lang="en-US" altLang="zh-TW" sz="1700" b="1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theoretical saturation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was reached. We then consulted the literature on boundary theory, workplace identities and value co-creation to frame and position our findings.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【EJM-Carrington_2016】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13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位後，達到資料飽和而停止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有經驗的研究者，常可在幾次訪談後，就達到資料飽和點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保險之故：可嘗試盡力取到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30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個訪談樣本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638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187D4F-92AF-4B84-A8AC-2550F1329634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2364">
            <a:off x="8875216" y="222332"/>
            <a:ext cx="2891816" cy="75622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質化</a:t>
            </a:r>
            <a:r>
              <a:rPr lang="zh-TW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zh-TW" altLang="en-US" sz="3200" u="sng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量化</a:t>
            </a:r>
            <a:r>
              <a:rPr lang="zh-TW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研究的比較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1700213"/>
            <a:ext cx="7988424" cy="4543425"/>
          </a:xfrm>
        </p:spPr>
        <p:txBody>
          <a:bodyPr>
            <a:normAutofit lnSpcReduction="10000"/>
          </a:bodyPr>
          <a:lstStyle/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研究重點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探索及解釋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描述、分析及預測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研究主題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範圍較廣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範圍明確、較狹窄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人員參與程度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高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較低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spcBef>
                <a:spcPts val="1800"/>
              </a:spcBef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研究設計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zh-TW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進行過程可改變或調整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zh-TW" sz="1800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較難回頭修改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涵蓋時間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縱斷面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橫斷面或縱斷面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樣本設計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非機率性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機率性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spcBef>
                <a:spcPts val="1800"/>
              </a:spcBef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樣本大小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小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（資料飽和）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大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（合乎統計要求，約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200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受測者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先期聯繫和準備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事先較少知情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資料型態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口語、文字、圖像、檔案</a:t>
            </a:r>
            <a:r>
              <a:rPr lang="en-US" altLang="zh-TW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多為數字，也可能文字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spcBef>
                <a:spcPts val="1800"/>
              </a:spcBef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資料分析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歸類、摘要等主觀分析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多為統計、數學分析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研究洞見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zh-TW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較深入，但</a:t>
            </a:r>
            <a:r>
              <a:rPr lang="zh-TW" altLang="zh-TW" sz="18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一般化</a:t>
            </a:r>
            <a:r>
              <a:rPr lang="zh-TW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較有疑慮</a:t>
            </a:r>
            <a:r>
              <a:rPr lang="en-US" altLang="zh-TW" sz="1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較窄範圍，較可一般化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defTabSz="1257300" eaLnBrk="1" hangingPunct="1">
              <a:tabLst>
                <a:tab pos="2332038" algn="l"/>
                <a:tab pos="5386388" algn="l"/>
              </a:tabLst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</a:p>
        </p:txBody>
      </p:sp>
      <p:sp>
        <p:nvSpPr>
          <p:cNvPr id="819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DB800-C461-47B7-B9FF-ACA17968798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17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8FBB72F-7652-4001-99EB-C2C2060E84A6}" type="slidenum">
              <a:rPr kumimoji="0" lang="en-US" altLang="zh-TW">
                <a:latin typeface="Times New Roman" panose="02020603050405020304" pitchFamily="18" charset="0"/>
              </a:rPr>
              <a:pPr eaLnBrk="1" hangingPunct="1"/>
              <a:t>21</a:t>
            </a:fld>
            <a:endParaRPr kumimoji="0" lang="en-US" altLang="zh-TW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課程大綱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644" y="1700213"/>
            <a:ext cx="7731122" cy="4432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質化研究的意義與方式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檔案資料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archival sources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interviews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observation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田野調查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field study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質化資料的分析和呈現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grounded theory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content analysis</a:t>
            </a: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critical incident technique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200"/>
              </a:spcBef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個案 </a:t>
            </a:r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case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圖形 6" descr="有向左箭號的圓圈">
            <a:extLst>
              <a:ext uri="{FF2B5EF4-FFF2-40B4-BE49-F238E27FC236}">
                <a16:creationId xmlns:a16="http://schemas.microsoft.com/office/drawing/2014/main" id="{CA1978D9-91EA-442B-AF0B-59ECC1768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440" y="3418538"/>
            <a:ext cx="397934" cy="39793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8040216" y="1268760"/>
            <a:ext cx="2743473" cy="39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E4D67-174F-4061-96AA-D0C13057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質化資料的分析結果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079440-CDD0-43C8-9D3C-491314E6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536" y="1700213"/>
            <a:ext cx="7772400" cy="4432300"/>
          </a:xfrm>
        </p:spPr>
        <p:txBody>
          <a:bodyPr/>
          <a:lstStyle/>
          <a:p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量化研究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的分析結果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常為表格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統計圖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</a:p>
          <a:p>
            <a:pPr>
              <a:spcBef>
                <a:spcPts val="1200"/>
              </a:spcBef>
            </a:pP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質化研究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的分析結果？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也有可能是表格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照片、示意圖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最多為訪談稿的摘錄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2D48-F2E2-4291-AE8B-0FDEBCFA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E6C70-9EE4-4820-99A0-11AB0699CD37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9EED4FA-9031-438B-8613-3DFC24A9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26269">
            <a:off x="5479618" y="1437642"/>
            <a:ext cx="3310780" cy="173827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01D2047-8669-4199-8226-198F6A7C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93241">
            <a:off x="7858741" y="2458407"/>
            <a:ext cx="1869546" cy="409183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8" name="接點: 弧形 7">
            <a:extLst>
              <a:ext uri="{FF2B5EF4-FFF2-40B4-BE49-F238E27FC236}">
                <a16:creationId xmlns:a16="http://schemas.microsoft.com/office/drawing/2014/main" id="{00922FC1-3C6C-4AAA-B42E-B11624E5FB64}"/>
              </a:ext>
            </a:extLst>
          </p:cNvPr>
          <p:cNvCxnSpPr>
            <a:cxnSpLocks/>
          </p:cNvCxnSpPr>
          <p:nvPr/>
        </p:nvCxnSpPr>
        <p:spPr>
          <a:xfrm>
            <a:off x="5078730" y="4686300"/>
            <a:ext cx="2313414" cy="1046956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83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512" y="214313"/>
            <a:ext cx="7793037" cy="1054100"/>
          </a:xfrm>
        </p:spPr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Grounded theory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700213"/>
            <a:ext cx="10513168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社會學家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Glaser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及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Strauss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於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1960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年代末期提出</a:t>
            </a: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研究之初，研究者並未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預先構想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理論的內容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不肯定有哪些構念或概念，或之間的關係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，而是在系統化的蒐集和分析資料中，慢慢揣測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概念間可能的因果關係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並嘗試建立理論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亦即，</a:t>
            </a:r>
            <a:r>
              <a:rPr lang="zh-TW" altLang="en-US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理論是由資料中逐漸浮現出來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>
                <a:latin typeface="Times New Roman" panose="02020603050405020304" pitchFamily="18" charset="0"/>
              </a:rPr>
              <a:t>Keaveney</a:t>
            </a:r>
            <a:r>
              <a:rPr lang="en-US" altLang="en-US" sz="2000" dirty="0">
                <a:latin typeface="Times New Roman" panose="02020603050405020304" pitchFamily="18" charset="0"/>
              </a:rPr>
              <a:t>, Susan M. (1995), "Customer Switching Behavior in Service Industries: An Exploratory Study," </a:t>
            </a:r>
            <a:r>
              <a:rPr lang="en-US" altLang="en-US" sz="2000" i="1" dirty="0">
                <a:latin typeface="Times New Roman" panose="02020603050405020304" pitchFamily="18" charset="0"/>
              </a:rPr>
              <a:t>Journal of Marketing</a:t>
            </a:r>
            <a:r>
              <a:rPr lang="en-US" altLang="en-US" sz="2000" dirty="0">
                <a:latin typeface="Times New Roman" panose="02020603050405020304" pitchFamily="18" charset="0"/>
              </a:rPr>
              <a:t>, 59 (2), 71-82.</a:t>
            </a:r>
            <a:r>
              <a:rPr lang="zh-TW" altLang="en-US" sz="2000" dirty="0">
                <a:latin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紮根理論之例子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資料分析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藉編碼程序，進行資料分析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由資料中擷取概念，再嘗試建立起概念間的關係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當概念間的關係合理、合邏輯也符合實務現象時，即逐漸發展為理論</a:t>
            </a:r>
          </a:p>
        </p:txBody>
      </p:sp>
      <p:sp>
        <p:nvSpPr>
          <p:cNvPr id="45060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E1D98F-02E6-4021-B5F2-B69D0421FA41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B325789-7F3E-4865-8E17-99A4380F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108" y="214313"/>
            <a:ext cx="2173425" cy="18304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紮根理論的編碼例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1700214"/>
            <a:ext cx="11017224" cy="4681537"/>
          </a:xfrm>
        </p:spPr>
        <p:txBody>
          <a:bodyPr/>
          <a:lstStyle/>
          <a:p>
            <a:pPr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訪談者：請告訴我青少年及使用藥物之相關問題。</a:t>
            </a:r>
          </a:p>
          <a:p>
            <a:pPr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受訪者：</a:t>
            </a:r>
          </a:p>
          <a:p>
            <a:pPr lvl="1" eaLnBrk="1" hangingPunct="1"/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我想青少年之使用藥物，是想從他們父母處獲得釋放。哦，我不知道，我只能談我自己，對我而言，那是一種經驗。你會聽到很多有關嗑藥的事。你會聽說嗑藥是很不好的事，但它們卻到處都有。你很自然就會嗑藥，因為很容易取得，而且因為它是種新奇的玩意兒，太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ㄅㄧㄤˋ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了。你知道它是不好的、是一種禁忌、一種「不」，每一個人都反對它，但如果你是一個青少年，你首先要做的事就是去試試看。（訪談原文）</a:t>
            </a:r>
          </a:p>
          <a:p>
            <a:pPr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受訪者：（</a:t>
            </a:r>
            <a:r>
              <a:rPr lang="zh-TW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紅色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為研究者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編譯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並嘗試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萃取出的概念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我想青少年之使用藥物，是想從他們父母處獲得釋放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叛逆行動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。哦，我不知道，我只能談我自己，對我而言，那是一種經驗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經驗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。你會聽到很多有關嗑藥的事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嗑藥經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。你會聽說嗑藥是很不好的事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嗑藥經的負面意涵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，但它們卻到處都有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供應無缺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。你很自然就會嗑藥，因為很容易取得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容易取得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，而且因為它是種新奇的玩意兒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新奇經驗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，太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ㄅㄧㄤˋ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了。你知道它是不好的、是一種禁忌、一種「不」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負面意涵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，每一個人都反對它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成人的負面立場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，但如果你是一個青少年，你首先要做的事就是去試試看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挑戰成人的負面立場</a:t>
            </a:r>
            <a:r>
              <a:rPr lang="en-US" altLang="zh-TW" sz="18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]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915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531332-2C29-454D-9E0D-16F6BAAB35F3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 rot="21420000">
            <a:off x="4871763" y="5921897"/>
            <a:ext cx="5187458" cy="584775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而後，再將這些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紅色概念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以合理、合邏輯也符合實務現象的原則，嘗試建立起彼此間的因果關，而形成理論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紮根理論的實例</a:t>
            </a:r>
            <a:endParaRPr lang="zh-TW" altLang="en-US" sz="3600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>
          <a:xfrm>
            <a:off x="1055440" y="1700213"/>
            <a:ext cx="4849447" cy="4432300"/>
          </a:xfrm>
        </p:spPr>
        <p:txBody>
          <a:bodyPr/>
          <a:lstStyle/>
          <a:p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陳蘊芳，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2017</a:t>
            </a:r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年「社群參與之活化」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E6C70-9EE4-4820-99A0-11AB0699CD37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7485">
            <a:off x="7274978" y="248136"/>
            <a:ext cx="3071850" cy="15536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864" y="2147120"/>
            <a:ext cx="4429632" cy="322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2" y="3006830"/>
            <a:ext cx="3742808" cy="272642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893" y="1545934"/>
            <a:ext cx="3965931" cy="73093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2707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Content analysis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1700213"/>
            <a:ext cx="8847584" cy="4432300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針對資料本文的內容進行「量化」與「質化」的分析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目的：瞭解該文之意義和內涵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量化：分析本文的用字、用詞、或某項概念出現的次數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用字頻次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】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質化：分析本文中的概念意涵與釐清某些概念間的關係</a:t>
            </a:r>
          </a:p>
        </p:txBody>
      </p:sp>
      <p:sp>
        <p:nvSpPr>
          <p:cNvPr id="3277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528DFD-75A8-42D6-960F-9D8C7B3BF293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6159AA0-801E-457B-A95D-8EDCE589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108" y="214313"/>
            <a:ext cx="2173425" cy="18304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內容分析例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4585" y="1700214"/>
            <a:ext cx="8944503" cy="4681537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用字頻次分析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word frequency analysis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一篇文章中，某特定字眼出現的次數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許多文學作品分析家認為，一位作者的用字反映他內在的思緒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每位作家的語法與用字都不同，類似其「指紋」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從用字頻次可看出文章的特殊風格</a:t>
            </a:r>
          </a:p>
          <a:p>
            <a:pPr eaLnBrk="1" hangingPunct="1">
              <a:spcBef>
                <a:spcPts val="12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用字頻次分析的應用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曾解決許多文學上的懸案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如：某篇文章作者不詳，透過作者的用字習慣，就可判斷該文章的作者，而且準確度十分高</a:t>
            </a:r>
          </a:p>
        </p:txBody>
      </p:sp>
      <p:sp>
        <p:nvSpPr>
          <p:cNvPr id="34820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931838-CB37-4115-A48A-45C0E40F8AC8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5C8CB49-040B-40D3-9856-B1B0EF46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126" y="108004"/>
            <a:ext cx="3417290" cy="144878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內容分析例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內容類別分析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category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用字頻次分析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可能曲解整篇本文的主旨。因為一位作者常使用不同的字眼來描述某些特定概念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財富可用什麼描述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金錢、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GNP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、經濟、繁榮、富裕、薪水等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有人建議除了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用字頻次分析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外，應加上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內容類別分析</a:t>
            </a:r>
          </a:p>
        </p:txBody>
      </p:sp>
      <p:sp>
        <p:nvSpPr>
          <p:cNvPr id="3686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E19CE8-35C0-40DD-82ED-86C7380CA0E5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內容分析例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700214"/>
            <a:ext cx="10801200" cy="46815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Jehn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, Karen A. (1997), "A qualitative analysis of conflict types and dimensions in organizational groups," 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Administrative Science Quarterly,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42 (3), 530-557.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組織部門間的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衝突類型與內容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80000"/>
              </a:lnSpc>
              <a:spcBef>
                <a:spcPts val="900"/>
              </a:spcBef>
            </a:pPr>
            <a:r>
              <a:rPr lang="en-US" altLang="zh-TW" sz="2000" dirty="0">
                <a:latin typeface="Times New Roman" panose="02020603050405020304" pitchFamily="18" charset="0"/>
              </a:rPr>
              <a:t>This paper presents a multifaceted </a:t>
            </a:r>
            <a:r>
              <a:rPr lang="en-US" altLang="zh-TW" sz="2000" u="sng" dirty="0">
                <a:latin typeface="Times New Roman" panose="02020603050405020304" pitchFamily="18" charset="0"/>
              </a:rPr>
              <a:t>qualitative investigation</a:t>
            </a:r>
            <a:r>
              <a:rPr lang="en-US" altLang="zh-TW" sz="2000" dirty="0">
                <a:latin typeface="Times New Roman" panose="02020603050405020304" pitchFamily="18" charset="0"/>
              </a:rPr>
              <a:t> of everyday conflict in six organizational work teams. </a:t>
            </a:r>
            <a:r>
              <a:rPr lang="en-US" altLang="zh-TW" sz="2000" b="1" u="sng" dirty="0">
                <a:latin typeface="Times New Roman" panose="02020603050405020304" pitchFamily="18" charset="0"/>
              </a:rPr>
              <a:t>Repeated interviews and on-site observations</a:t>
            </a:r>
            <a:r>
              <a:rPr lang="en-US" altLang="zh-TW" sz="2000" dirty="0">
                <a:latin typeface="Times New Roman" panose="02020603050405020304" pitchFamily="18" charset="0"/>
              </a:rPr>
              <a:t> provide data on participants‘ perceptions, behaviors, and their own analyses of their conflicts, resulting in a generalized conflict model.</a:t>
            </a:r>
            <a:r>
              <a:rPr lang="zh-TW" altLang="en-US" sz="2000" dirty="0">
                <a:latin typeface="Times New Roman" panose="02020603050405020304" pitchFamily="18" charset="0"/>
              </a:rPr>
              <a:t> </a:t>
            </a:r>
            <a:br>
              <a:rPr lang="en-US" altLang="zh-TW" sz="2000" dirty="0">
                <a:latin typeface="Times New Roman" panose="02020603050405020304" pitchFamily="18" charset="0"/>
              </a:rPr>
            </a:b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研究方法：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多次的重複訪談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以及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現場的觀察</a:t>
            </a:r>
            <a:endParaRPr lang="en-US" altLang="zh-TW" sz="2000" u="sng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80000"/>
              </a:lnSpc>
              <a:spcBef>
                <a:spcPts val="900"/>
              </a:spcBef>
            </a:pPr>
            <a:r>
              <a:rPr lang="en-US" altLang="zh-TW" sz="2000" dirty="0">
                <a:latin typeface="Times New Roman" panose="02020603050405020304" pitchFamily="18" charset="0"/>
              </a:rPr>
              <a:t>Model evaluation indicates that </a:t>
            </a:r>
            <a:r>
              <a:rPr lang="en-US" altLang="zh-TW" sz="2000" u="sng" dirty="0">
                <a:latin typeface="Times New Roman" panose="02020603050405020304" pitchFamily="18" charset="0"/>
              </a:rPr>
              <a:t>relationship conflict</a:t>
            </a:r>
            <a:r>
              <a:rPr lang="en-US" altLang="zh-TW" sz="2000" dirty="0">
                <a:latin typeface="Times New Roman" panose="02020603050405020304" pitchFamily="18" charset="0"/>
              </a:rPr>
              <a:t> is detrimental to performance and satisfaction; </a:t>
            </a:r>
            <a:r>
              <a:rPr lang="en-US" altLang="zh-TW" sz="2000" u="sng" dirty="0">
                <a:latin typeface="Times New Roman" panose="02020603050405020304" pitchFamily="18" charset="0"/>
              </a:rPr>
              <a:t>process conflict</a:t>
            </a:r>
            <a:r>
              <a:rPr lang="en-US" altLang="zh-TW" sz="2000" dirty="0">
                <a:latin typeface="Times New Roman" panose="02020603050405020304" pitchFamily="18" charset="0"/>
              </a:rPr>
              <a:t> is also detrimental to performance; and </a:t>
            </a:r>
            <a:r>
              <a:rPr lang="en-US" altLang="zh-TW" sz="2000" u="sng" dirty="0">
                <a:latin typeface="Times New Roman" panose="02020603050405020304" pitchFamily="18" charset="0"/>
              </a:rPr>
              <a:t>task conflict</a:t>
            </a:r>
            <a:r>
              <a:rPr lang="en-US" altLang="zh-TW" sz="2000" dirty="0">
                <a:latin typeface="Times New Roman" panose="02020603050405020304" pitchFamily="18" charset="0"/>
              </a:rPr>
              <a:t>‘s effects on performance depend on specified dimensions. In particular, emotionality </a:t>
            </a:r>
            <a:r>
              <a:rPr lang="en-US" altLang="zh-TW" sz="2000" b="1" dirty="0">
                <a:latin typeface="Times New Roman" panose="02020603050405020304" pitchFamily="18" charset="0"/>
              </a:rPr>
              <a:t>reduces</a:t>
            </a:r>
            <a:r>
              <a:rPr lang="en-US" altLang="zh-TW" sz="2000" dirty="0">
                <a:latin typeface="Times New Roman" panose="02020603050405020304" pitchFamily="18" charset="0"/>
              </a:rPr>
              <a:t> effectiveness, resolution potential and acceptability norms </a:t>
            </a:r>
            <a:r>
              <a:rPr lang="en-US" altLang="zh-TW" sz="2000" b="1" dirty="0">
                <a:latin typeface="Times New Roman" panose="02020603050405020304" pitchFamily="18" charset="0"/>
              </a:rPr>
              <a:t>increase</a:t>
            </a:r>
            <a:r>
              <a:rPr lang="en-US" altLang="zh-TW" sz="2000" dirty="0">
                <a:latin typeface="Times New Roman" panose="02020603050405020304" pitchFamily="18" charset="0"/>
              </a:rPr>
              <a:t> effectiveness, and importance accentuates conflict’s other effects. Groups with norms that accept task but not relationship conflict are most effective.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研究結果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80000"/>
              </a:lnSpc>
              <a:spcBef>
                <a:spcPts val="900"/>
              </a:spcBef>
            </a:pPr>
            <a:r>
              <a:rPr lang="en-US" altLang="zh-TW" sz="2000" dirty="0">
                <a:latin typeface="Times New Roman" panose="02020603050405020304" pitchFamily="18" charset="0"/>
              </a:rPr>
              <a:t>The model and the findings help to broaden understanding of dynamics of organizational conflict and suggest ways it can either be alleviated or wisely encouraged.</a:t>
            </a:r>
            <a:r>
              <a:rPr lang="zh-TW" altLang="en-US" sz="2000" dirty="0">
                <a:latin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研究貢獻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91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F28128-F15B-41CF-B8B5-DB6F880DB7BE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內容分析例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556792"/>
            <a:ext cx="9567664" cy="44323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Content analysis procedures include both general-text and keyword-context analyses (Werner and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Schoepfle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, 1987).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包含對內文及關鍵字的分析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The procedure systematically analyzes topics and themes from transcribed interviews and tree models by using a multistep procedure that involves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developing categories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 for coding material content (Carney, 1972).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分析訪談的逐字稿，並慢慢架構起樹狀的分類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To categorize the interview texts, I created keyword lists (a list containing words, often synonyms, relating to the variable of interest), using the </a:t>
            </a:r>
            <a:r>
              <a:rPr lang="en-US" altLang="zh-TW" sz="18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thesaurus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 snowball technique developed by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Jehn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 and Werner (1992).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針對研究變數，找出相關的概念（關鍵字與其同義字）</a:t>
            </a:r>
          </a:p>
        </p:txBody>
      </p:sp>
      <p:sp>
        <p:nvSpPr>
          <p:cNvPr id="40964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0A6444-A2C6-4000-BA81-AB6BE7B73E5B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4876">
            <a:off x="4658752" y="4312543"/>
            <a:ext cx="3685605" cy="223463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內容分析例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00213"/>
            <a:ext cx="9423648" cy="44323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Examples of keywords for each construct are shown in the Appendix. Group frequency counts provided an indicator of how often terms relating to a specific variable were mentioned by group members.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針對每一找出來的概念，可進一步做次數統計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For example, I scanned the relationship conflict episodes in the Domestic Coding Unit for negative affect terms and found twenty-six mentions of terms such as upset, angry, and uptight.</a:t>
            </a:r>
            <a:b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光是負面的情緒就有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26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種不同的描述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This finding is reported in table 4 and corresponds to the frequency score of 26 in the "Emotionality" row of the "Relationship conflict" section in the Domestic Coding Unit frequency column.</a:t>
            </a:r>
          </a:p>
        </p:txBody>
      </p:sp>
      <p:sp>
        <p:nvSpPr>
          <p:cNvPr id="4301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62B889-ADEF-493C-A405-47C9BB3FFB10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9890">
            <a:off x="3719736" y="4379855"/>
            <a:ext cx="5031160" cy="213759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0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critical incident technique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1700213"/>
            <a:ext cx="11532749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關鍵事件法：由美國學者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Flanagan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和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Baras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於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1954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年共同提出</a:t>
            </a:r>
          </a:p>
          <a:p>
            <a:pPr eaLnBrk="1" hangingPunct="1">
              <a:spcBef>
                <a:spcPts val="6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是由上級主管紀錄員工平時工作的關鍵事件：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特別好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特別不好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的事件</a:t>
            </a:r>
          </a:p>
          <a:p>
            <a:pPr eaLnBrk="1" hangingPunct="1">
              <a:spcBef>
                <a:spcPts val="6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由主管與被考評者討論關鍵事件的累積紀錄，做為月或年度考核依據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書面記錄員工所做的事情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有關工作成敗的關鍵性事實</a:t>
            </a:r>
          </a:p>
          <a:p>
            <a:pPr eaLnBrk="1" hangingPunct="1">
              <a:spcBef>
                <a:spcPts val="6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大量收集這些關鍵資料後，可分類而總結出</a:t>
            </a: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職務的關鍵特徵和行為表現</a:t>
            </a:r>
          </a:p>
          <a:p>
            <a:pPr eaLnBrk="1" hangingPunct="1">
              <a:spcBef>
                <a:spcPts val="600"/>
              </a:spcBef>
            </a:pPr>
            <a:r>
              <a:rPr lang="zh-TW" altLang="en-US" sz="24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能記錄職務的靜態與動態訊息，而被廣泛應用</a:t>
            </a:r>
          </a:p>
        </p:txBody>
      </p:sp>
      <p:sp>
        <p:nvSpPr>
          <p:cNvPr id="2867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EF55AC-492C-462B-A076-EE4E1BBF5C20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447E5A0-A5EF-41C1-8B55-9CFF56FF3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108" y="214313"/>
            <a:ext cx="2173425" cy="18304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</a:rPr>
              <a:t>關鍵事件法的運用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除了人資領域外，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CIT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也被廣泛用於其他學科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行銷領域之例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請回想過去三個月內，到某店消費而不滿意的例子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不滿意後的行為有哪些？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為何有這樣的行為？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…</a:t>
            </a:r>
          </a:p>
          <a:p>
            <a:pPr lvl="1" eaLnBrk="1" hangingPunct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為何沒有任何具體的行為？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為何不滿意而不抱怨？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為何不滿意而不傳負面口碑？</a:t>
            </a:r>
          </a:p>
          <a:p>
            <a:pPr eaLnBrk="1" hangingPunct="1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為何不滿意而不換另一個品牌？</a:t>
            </a:r>
            <a:endParaRPr lang="zh-TW" altLang="en-US" dirty="0"/>
          </a:p>
          <a:p>
            <a:pPr eaLnBrk="1" hangingPunct="1"/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0724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7A3B84-B3B9-42BB-9B2A-C8EBAFAF3743}" type="slidenum">
              <a:rPr kumimoji="0"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4058</Words>
  <Application>Microsoft Macintosh PowerPoint</Application>
  <PresentationFormat>寬螢幕</PresentationFormat>
  <Paragraphs>359</Paragraphs>
  <Slides>33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0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臺灣科技大學．管研所EMBA 研究方法</vt:lpstr>
      <vt:lpstr>課程大綱</vt:lpstr>
      <vt:lpstr>質化研究 Qualitative Research 的意義</vt:lpstr>
      <vt:lpstr>質化前的一些考量</vt:lpstr>
      <vt:lpstr>質化前的一些考量</vt:lpstr>
      <vt:lpstr>Why qualitative?質化研究的運用 1</vt:lpstr>
      <vt:lpstr>Why qualitative?質化研究的運用 2</vt:lpstr>
      <vt:lpstr>優良的質化研究</vt:lpstr>
      <vt:lpstr>檔案資料 archival sources</vt:lpstr>
      <vt:lpstr>檔案資料 archival sources</vt:lpstr>
      <vt:lpstr>觀察法 observation</vt:lpstr>
      <vt:lpstr>觀察法的限制</vt:lpstr>
      <vt:lpstr>訪談 interview</vt:lpstr>
      <vt:lpstr>訪談的進行</vt:lpstr>
      <vt:lpstr>田野調查 field study</vt:lpstr>
      <vt:lpstr>田野調查的方式</vt:lpstr>
      <vt:lpstr>田野調查的方式</vt:lpstr>
      <vt:lpstr>田野調查的方式</vt:lpstr>
      <vt:lpstr>質化研究的資料量【資料飽和度 data saturation】</vt:lpstr>
      <vt:lpstr>質化與量化研究的比較</vt:lpstr>
      <vt:lpstr>課程大綱</vt:lpstr>
      <vt:lpstr>質化資料的分析結果</vt:lpstr>
      <vt:lpstr>紮根理論（Grounded theory）</vt:lpstr>
      <vt:lpstr>紮根理論的編碼例</vt:lpstr>
      <vt:lpstr>紮根理論的實例</vt:lpstr>
      <vt:lpstr>內容分析（Content analysis）</vt:lpstr>
      <vt:lpstr>內容分析例</vt:lpstr>
      <vt:lpstr>內容分析例</vt:lpstr>
      <vt:lpstr>內容分析例</vt:lpstr>
      <vt:lpstr>內容分析例</vt:lpstr>
      <vt:lpstr>內容分析例</vt:lpstr>
      <vt:lpstr>關鍵事件法 (critical incident technique)</vt:lpstr>
      <vt:lpstr>關鍵事件法的運用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yzhu</dc:creator>
  <cp:lastModifiedBy>yzhu</cp:lastModifiedBy>
  <cp:revision>2</cp:revision>
  <dcterms:created xsi:type="dcterms:W3CDTF">2024-09-04T09:15:51Z</dcterms:created>
  <dcterms:modified xsi:type="dcterms:W3CDTF">2024-09-18T10:20:56Z</dcterms:modified>
</cp:coreProperties>
</file>