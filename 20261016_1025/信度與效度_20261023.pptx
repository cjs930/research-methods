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04" r:id="rId2"/>
    <p:sldId id="377" r:id="rId3"/>
    <p:sldId id="278" r:id="rId4"/>
    <p:sldId id="279" r:id="rId5"/>
    <p:sldId id="369" r:id="rId6"/>
    <p:sldId id="289" r:id="rId7"/>
    <p:sldId id="29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89A6F-6654-4A64-9372-E76F3C3A20B8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2C4D7-3F23-4659-B78B-CC5DAB392B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256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86" tIns="48092" rIns="96186" bIns="48092" anchor="b"/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40BCFC7A-FF2A-4EF7-97DD-AB580354056A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tIns="48087" rIns="96175" bIns="48087" anchor="b"/>
          <a:lstStyle>
            <a:lvl1pPr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C8B587FC-AFC3-4914-958A-D3DE16D2BFBE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2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tIns="48087" rIns="96175" bIns="48087" anchor="b"/>
          <a:lstStyle>
            <a:lvl1pPr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E24317E-CFF8-4DE5-AAD0-08D12AEC9F98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19900" cy="3836987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930" y="4861443"/>
            <a:ext cx="5679440" cy="460724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rIns="96175"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91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83B6F91-DE18-4916-93E1-B7CF18EB9C36}" type="slidenum">
              <a:rPr lang="en-US" altLang="zh-TW">
                <a:latin typeface="Arial" panose="020B0604020202020204" pitchFamily="34" charset="0"/>
              </a:rPr>
              <a:pPr eaLnBrk="1" hangingPunct="1"/>
              <a:t>2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0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83B6F91-DE18-4916-93E1-B7CF18EB9C36}" type="slidenum">
              <a:rPr lang="en-US" altLang="zh-TW">
                <a:latin typeface="Arial" panose="020B0604020202020204" pitchFamily="34" charset="0"/>
              </a:rPr>
              <a:pPr eaLnBrk="1" hangingPunct="1"/>
              <a:t>3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49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BAF9C90-F182-4E1E-9EC5-C83BBB23600C}" type="slidenum">
              <a:rPr lang="en-US" altLang="zh-TW">
                <a:latin typeface="Arial" panose="020B0604020202020204" pitchFamily="34" charset="0"/>
              </a:rPr>
              <a:pPr eaLnBrk="1" hangingPunct="1"/>
              <a:t>4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BAF9C90-F182-4E1E-9EC5-C83BBB23600C}" type="slidenum">
              <a:rPr lang="en-US" altLang="zh-TW">
                <a:latin typeface="Arial" panose="020B0604020202020204" pitchFamily="34" charset="0"/>
              </a:rPr>
              <a:pPr eaLnBrk="1" hangingPunct="1"/>
              <a:t>5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11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F70B2C8-92EE-4CCC-A822-0CCBCCCF394C}" type="slidenum">
              <a:rPr lang="en-US" altLang="zh-TW">
                <a:latin typeface="Arial" panose="020B0604020202020204" pitchFamily="34" charset="0"/>
              </a:rPr>
              <a:pPr eaLnBrk="1" hangingPunct="1"/>
              <a:t>6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578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61D398C-C55C-478B-A839-DA1135E50912}" type="slidenum">
              <a:rPr lang="en-US" altLang="zh-TW">
                <a:latin typeface="Arial" panose="020B0604020202020204" pitchFamily="34" charset="0"/>
              </a:rPr>
              <a:pPr eaLnBrk="1" hangingPunct="1"/>
              <a:t>7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0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5CDD8F-039F-4CFD-B8BD-301CE488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1AD750-2977-4B7C-A254-6188137AD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287227-DBE6-453F-A1D4-DC9D60C4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65A76C-99DE-4866-8C6E-5119B1ED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BE37E1-6BDE-448A-A04E-BA53106F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64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72C0E-C59E-4C16-A49F-33FCD51E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8648A5-0972-4CFC-92A6-647B233B7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17380A-84DC-4F44-8100-B209B78B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F09CF1-352E-47C9-909A-755E0D6F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691F52-55EF-4AA5-9C1E-01D9719C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49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55208-2F1D-4EB6-A21E-929ABE1A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FE71A3-0773-454B-8031-273DA4665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22DAC-C4C1-47EA-AA55-3859D324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DFBC63-2B20-402F-BBF1-760F4D9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D941F7-4309-4F21-B19D-1EDB0AAC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75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33B86-0F84-4CCE-8FFF-DC43BF2F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57DD02-7E05-4ED1-A854-4AF3CB142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71877D-BE39-4763-B032-FA99CF7B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CA69AC-734F-4B96-B914-58EED2C2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492447-9A8A-40E4-B987-DBCB55E3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00C607F-99CC-486A-85FF-702707D8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69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B16D6-31A7-4317-9ECD-D57626D0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F74827-9659-40C2-BE96-132D47FF8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AFA390-49E9-4D7B-ADEB-E84329ED9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746173C-3752-4FE5-873A-8E6DF46F1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28C26B7-FB31-4A0A-9F9A-2B4BBB45A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18DD82-B09B-414B-9367-6F7C1956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4999C8-C0D0-41DA-853F-DCAC68EE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5B0E36A-44DC-48EE-90F3-5AB0BE6F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30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D3E4B-8029-48AF-9FD2-0E9E1FA8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6F2C5F-8040-4760-9552-17276454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8F4614-1BD9-4E76-9F45-8006A34A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C7F79E-367F-4CCF-8B77-2F172D5F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527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3CFDE7-11F0-429B-99CA-A6BA52FF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EE6570-1370-4A6B-8428-14693663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1CF9C7-E16A-4A2E-9870-372C6DD4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7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82F31-8F6D-4A8D-BA8B-4B1AB2D2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F83C8D-DA8D-4AF7-BE1B-21DD8D7F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36C181-1952-4CC0-B945-8705E3878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000452-9FC4-4DCF-A7A5-A4C1923F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3E8D92-DC7D-4E2D-A43F-BCC10D38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98F0F7-21E1-47E4-A377-2FE6AE4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11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A1560-38F9-4409-A39C-9286CB6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003974-15AE-48CE-A065-9A32BF110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2C5F1A-D01C-465F-962A-2F7E6744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B1C346-A38A-483F-A7A8-13B08488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EF2427-2A71-440B-962A-905C007D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8256C9-C510-4BFC-9A19-CBD4F714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88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CCEF0E-85B7-4B55-AAFC-5BF218C7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183CF0-52E4-4784-BF58-10C2257FC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CFC207-C86F-4721-894A-8D3F447B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8CF6F0-2595-494C-A284-15BE344F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70244E-5BA6-4DCE-B4C4-BEB2B09A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54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659FCCE-B34A-4F3D-9148-FFEF872AD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60783B-639F-4873-8236-1EA49D8AA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F0243-DCC4-436A-9769-70B6C267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4648D4-6BDF-4BDD-8122-17D7F0C5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525EB4-FE5C-4AE4-A84F-F5B76BE3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07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0A3B4FC-FFD0-4CFC-94DB-6F3E64DD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BFFAFE-CF2F-4FBA-B38F-95B2B481D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623F92-84AD-4E38-BF01-E0CF0806B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B8A59-7E08-4C19-983F-CB35F9B3FA43}" type="datetimeFigureOut">
              <a:rPr lang="zh-TW" altLang="en-US" smtClean="0"/>
              <a:t>2024/9/26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0843D1-09B4-47B2-A980-6A513D6D7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8B7A80-F414-4B9C-816F-4CF7A1118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653F-E05C-48FA-A282-9C40A3613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1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medium.com/marketingdatascience/%E6%82%A8%E4%BA%86%E8%A7%A3%E5%BB%BA%E6%A7%8B%E6%95%88%E5%BA%A6-constructive-validity-%E5%97%8E-6fe447d7aa19" TargetMode="External"/><Relationship Id="rId4" Type="http://schemas.openxmlformats.org/officeDocument/2006/relationships/hyperlink" Target="https://www.scribbr.com/methodology/reliability-vs-validity/#how-are-reliability-and-validity-assess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448105" y="1268760"/>
            <a:ext cx="7488832" cy="179987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臺灣科技大學．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管研所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EMBA</a:t>
            </a:r>
            <a:b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研究方法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406873" y="3529016"/>
            <a:ext cx="8461746" cy="2446271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kumimoji="0"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信度與效度</a:t>
            </a:r>
          </a:p>
          <a:p>
            <a:pPr marL="609600" indent="-609600">
              <a:lnSpc>
                <a:spcPct val="80000"/>
              </a:lnSpc>
              <a:buNone/>
            </a:pPr>
            <a:endParaRPr kumimoji="0"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609600" indent="-609600">
              <a:lnSpc>
                <a:spcPct val="80000"/>
              </a:lnSpc>
              <a:buNone/>
            </a:pPr>
            <a:endParaRPr kumimoji="0"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38527" y="1551997"/>
            <a:ext cx="2743473" cy="39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2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8D86FED-D527-40BB-BA3F-853C5396ED1F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2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448" y="250385"/>
            <a:ext cx="10390716" cy="1054100"/>
          </a:xfrm>
        </p:spPr>
        <p:txBody>
          <a:bodyPr/>
          <a:lstStyle/>
          <a:p>
            <a:pPr eaLnBrk="1" hangingPunct="1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衡量尺度：</a:t>
            </a:r>
            <a:r>
              <a:rPr lang="zh-TW" alt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效度與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信度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352" y="53170"/>
            <a:ext cx="2880320" cy="2851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9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1344" y="1700808"/>
                <a:ext cx="9505056" cy="4752528"/>
              </a:xfrm>
            </p:spPr>
            <p:txBody>
              <a:bodyPr/>
              <a:lstStyle/>
              <a:p>
                <a:pPr eaLnBrk="1" hangingPunct="1">
                  <a:buSzPct val="75000"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信度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reliability:</a:t>
                </a:r>
                <a:b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</a:br>
                <a: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The extent to which the results can be reproduced when the research is repeated under the same conditions</a:t>
                </a:r>
                <a:b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</a:b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對同一現象進行重複衡量，是否可以得到相同資料值的程度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【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衡量工具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穩定的程度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  <a:endParaRPr lang="en-US" altLang="zh-TW" sz="19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精確度 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precision</a:t>
                </a: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zh-TW" altLang="en-US" sz="1600" u="sng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彈著聚在一起</a:t>
                </a:r>
                <a:r>
                  <a:rPr lang="zh-TW" altLang="en-US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的狀況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【</a:t>
                </a:r>
                <a:r>
                  <a:rPr lang="zh-TW" altLang="en-US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集中趨勢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  <a:endParaRPr lang="zh-TW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Measures that describe </a:t>
                </a:r>
                <a:r>
                  <a:rPr lang="en-US" altLang="zh-TW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the spread of the data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 are called measures of </a:t>
                </a:r>
                <a:r>
                  <a:rPr lang="en-US" altLang="zh-TW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dispersion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相當於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品質管制圖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或 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chart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【</a:t>
                </a:r>
                <a:r>
                  <a:rPr lang="en-US" altLang="zh-TW" sz="16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dispersion tendency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標準差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全距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四分位差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是常用的衡量方法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69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1344" y="1700808"/>
                <a:ext cx="9505056" cy="4752528"/>
              </a:xfrm>
              <a:blipFill>
                <a:blip r:embed="rId4"/>
                <a:stretch>
                  <a:fillRect l="-385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9713502" y="3147064"/>
            <a:ext cx="2296576" cy="108575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3563822" y="66932"/>
            <a:ext cx="2555070" cy="669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80000">
            <a:off x="1007235" y="4602094"/>
            <a:ext cx="4762159" cy="1692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80000">
            <a:off x="6511971" y="4602094"/>
            <a:ext cx="5028643" cy="1692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420000">
            <a:off x="6672214" y="534368"/>
            <a:ext cx="2227704" cy="87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8D86FED-D527-40BB-BA3F-853C5396ED1F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3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448" y="250385"/>
            <a:ext cx="10390716" cy="1054100"/>
          </a:xfrm>
        </p:spPr>
        <p:txBody>
          <a:bodyPr/>
          <a:lstStyle/>
          <a:p>
            <a:pPr eaLnBrk="1" hangingPunct="1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衡量尺度：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效度</a:t>
            </a:r>
            <a:r>
              <a:rPr lang="zh-TW" alt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與信度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352" y="53170"/>
            <a:ext cx="2880320" cy="28514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99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1344" y="1700808"/>
                <a:ext cx="9505056" cy="475252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buSzPct val="75000"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效度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validity: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b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</a:br>
                <a: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The extent to which the results really measure what they are supposed to measure.</a:t>
                </a:r>
                <a:b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</a:b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衡量方法能否如實反映</a:t>
                </a:r>
                <a: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【</a:t>
                </a: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所欲衡量對象</a:t>
                </a:r>
                <a: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的能力</a:t>
                </a:r>
                <a:br>
                  <a:rPr lang="en-US" altLang="zh-TW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</a:b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亦即</a:t>
                </a:r>
                <a:r>
                  <a:rPr lang="zh-TW" altLang="en-US" sz="19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衡量值</a:t>
                </a: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與</a:t>
                </a:r>
                <a:r>
                  <a:rPr lang="zh-TW" altLang="en-US" sz="19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實際值</a:t>
                </a:r>
                <a:r>
                  <a:rPr lang="zh-TW" altLang="en-US" sz="19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相符合的程度</a:t>
                </a:r>
                <a:endParaRPr lang="en-US" altLang="zh-TW" sz="19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 eaLnBrk="1" hangingPunct="1">
                  <a:spcBef>
                    <a:spcPts val="600"/>
                  </a:spcBef>
                  <a:buSzPct val="75000"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準確度 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accuracy</a:t>
                </a: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zh-TW" altLang="en-US" sz="1600" u="sng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打中靶心</a:t>
                </a:r>
                <a:r>
                  <a:rPr lang="zh-TW" altLang="en-US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的趨勢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【</a:t>
                </a:r>
                <a:r>
                  <a:rPr lang="zh-TW" altLang="en-US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命中趨勢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</a:p>
              <a:p>
                <a:pPr lvl="1" eaLnBrk="1" hangingPunct="1">
                  <a:spcBef>
                    <a:spcPts val="600"/>
                  </a:spcBef>
                  <a:buSzPct val="75000"/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Measures that indicate </a:t>
                </a:r>
                <a:r>
                  <a:rPr lang="en-US" altLang="zh-TW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the approximate center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of a distribution are called measures of </a:t>
                </a:r>
                <a:r>
                  <a:rPr lang="en-US" altLang="zh-TW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central tendency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 eaLnBrk="1" hangingPunct="1">
                  <a:spcBef>
                    <a:spcPts val="300"/>
                  </a:spcBef>
                  <a:buSzPct val="75000"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相當於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品質管制圖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sz="1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chart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【</a:t>
                </a:r>
                <a:r>
                  <a:rPr lang="en-US" altLang="zh-TW" sz="16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central tendency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】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平均數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中位數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zh-TW" altLang="en-US" sz="1600" u="sng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眾數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是常用的衡量方法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eaLnBrk="1" hangingPunct="1">
                  <a:spcBef>
                    <a:spcPts val="300"/>
                  </a:spcBef>
                  <a:buSzPct val="75000"/>
                </a:pP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4"/>
                  </a:rPr>
                  <a:t>https://www.scribbr.com/methodology/reliability-vs-validity/#how-are-reliability-and-validity-assessed</a:t>
                </a:r>
                <a:endParaRPr lang="en-US" altLang="zh-TW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300"/>
                  </a:spcBef>
                  <a:buSzPct val="75000"/>
                </a:pPr>
                <a:endParaRPr lang="en-US" altLang="zh-TW" sz="16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300"/>
                  </a:spcBef>
                  <a:buSzPct val="75000"/>
                </a:pPr>
                <a:endParaRPr lang="en-US" altLang="zh-TW" sz="16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buSzPct val="75000"/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hlinkClick r:id="rId5"/>
                  </a:rPr>
                  <a:t>https://medium.com/marketingdatascience/%E6%82%A8%E4%BA%86%E8%A7%A3%E5%BB%BA%E6%A7%8B%E6%95%88%E5%BA%A6-constructive-validity-%E5%97%8E-6fe447d7aa19</a:t>
                </a:r>
                <a:endParaRPr lang="en-US" altLang="zh-TW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buSzPct val="75000"/>
                </a:pPr>
                <a:endParaRPr lang="en-US" altLang="zh-TW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9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1344" y="1700808"/>
                <a:ext cx="9505056" cy="4752528"/>
              </a:xfrm>
              <a:blipFill>
                <a:blip r:embed="rId6"/>
                <a:stretch>
                  <a:fillRect l="-385" t="-17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20000">
            <a:off x="6672214" y="534368"/>
            <a:ext cx="2227704" cy="87505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300000">
            <a:off x="9460376" y="3897455"/>
            <a:ext cx="2540280" cy="1200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A846AD7-481C-4D42-B8E8-6DF74FF3754A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4</a:t>
            </a:fld>
            <a:endParaRPr kumimoji="0"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效度的種類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628800"/>
            <a:ext cx="8199512" cy="4824536"/>
          </a:xfrm>
        </p:spPr>
        <p:txBody>
          <a:bodyPr/>
          <a:lstStyle/>
          <a:p>
            <a:pPr eaLnBrk="1" hangingPunct="1"/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構念效度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construct validity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是指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變數操作化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的嚴謹和明確性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有好的構念效度，才可能衡量到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真實現象</a:t>
            </a:r>
            <a:endParaRPr lang="en-US" altLang="zh-TW" sz="2000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內部效度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internal validity</a:t>
            </a:r>
            <a:endParaRPr lang="en-US" altLang="zh-TW" sz="2400" dirty="0"/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是指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變數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研究結果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間的</a:t>
            </a:r>
            <a:r>
              <a:rPr lang="zh-TW" altLang="en-US" sz="20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因果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關係，又稱為邏輯效度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的改變是因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的改變而引發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而不是由其他變數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b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研究結果所顯示的樣態，和預期或過去研究的契合度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en-US" sz="20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Triangulate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外部效度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external validity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又稱為概化或一般化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generalizability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“… theories must be shown to account for phenomena not only 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in the setting in which they are studied, but also </a:t>
            </a:r>
            <a:r>
              <a:rPr lang="en-US" altLang="zh-TW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in other settings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.” 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en-US" altLang="zh-TW" sz="12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Gibbert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2008: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1468】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720587" y="3702513"/>
            <a:ext cx="7608173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sz="16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… establish a clear chain of evidence …</a:t>
            </a:r>
            <a:r>
              <a:rPr lang="zh-TW" altLang="en-US" sz="16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；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日蝕的消除：是因</a:t>
            </a:r>
            <a:r>
              <a:rPr lang="zh-TW" altLang="en-US" sz="16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敲鑼打鼓趕走天狗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所致？</a:t>
            </a:r>
            <a:endParaRPr lang="zh-TW" altLang="en-US" sz="16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5651723" y="1800602"/>
            <a:ext cx="395492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英文程度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en-US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單字記憶多寡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or </a:t>
            </a:r>
            <a:r>
              <a:rPr lang="zh-TW" altLang="en-US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聽說讀寫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98F572-9FC8-4D18-84A5-69EFB32DF9C6}"/>
              </a:ext>
            </a:extLst>
          </p:cNvPr>
          <p:cNvSpPr txBox="1"/>
          <p:nvPr/>
        </p:nvSpPr>
        <p:spPr>
          <a:xfrm>
            <a:off x="8712197" y="3429000"/>
            <a:ext cx="23029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2424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表面效度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Face Validity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algn="l"/>
            <a:r>
              <a:rPr lang="zh-TW" altLang="en-US" b="0" i="0" dirty="0">
                <a:solidFill>
                  <a:srgbClr val="2424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表面效度是對構念的可操作性的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主觀判斷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。表面效度通常被認為是建構效度的一種弱形式。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2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uiExpand="1" build="p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A846AD7-481C-4D42-B8E8-6DF74FF3754A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5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效度的缺失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628800"/>
            <a:ext cx="10363200" cy="4432300"/>
          </a:xfrm>
        </p:spPr>
        <p:txBody>
          <a:bodyPr/>
          <a:lstStyle/>
          <a:p>
            <a:pPr eaLnBrk="1" hangingPunct="1"/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效度污染</a:t>
            </a:r>
            <a:r>
              <a:rPr lang="zh-TW" altLang="zh-TW" sz="2400" dirty="0"/>
              <a:t>：</a:t>
            </a:r>
            <a:br>
              <a:rPr lang="zh-TW" altLang="en-US" sz="2400" dirty="0"/>
            </a:b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除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所欲衡量之概念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，還衡量到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其它概念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GMAT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的效度污染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衡量管理能力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也衡量到英文程度</a:t>
            </a:r>
          </a:p>
          <a:p>
            <a:pPr eaLnBrk="1" hangingPunct="1"/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效度不足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無法完全衡量到所欲衡量的概念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TOEFL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的高效度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完整豐富，持續更新的題庫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每一題都經大樣本的確認，確保具有足夠的效度</a:t>
            </a:r>
          </a:p>
          <a:p>
            <a:pPr lvl="2" eaLnBrk="1" hangingPunct="1"/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舉例：每次考題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150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題，其中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50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題是不算分的</a:t>
            </a:r>
          </a:p>
          <a:p>
            <a:pPr lvl="2" eaLnBrk="1" hangingPunct="1"/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這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50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題的答對比率，與另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100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題得分之間的相關：</a:t>
            </a:r>
            <a:b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若有高度相關，表示有鑑別力，該題將可放入未來的測驗題庫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7473506" y="3875561"/>
            <a:ext cx="4574980" cy="8529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745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BF9FB4E-4D35-4CF4-9184-FB7DC22B8694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6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信度的意義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彈著集中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的趨勢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00213"/>
            <a:ext cx="9361040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信度：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在同樣或類似條件下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重複操作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，可得到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一致或穩定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的結果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目的：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enabling subsequent researchers to arrive at the same insights if they conduct the study along the same steps again</a:t>
            </a:r>
            <a:b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transparency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and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replication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信度：誤差來源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受測者誤差：如疲勞、焦慮或心情煩亂、填答動機低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情境因素：如噪音、溫度、隱私未受保障（訪談者在旁）－所有的考場都不可開冷氣！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衡量者誤差：如衡量者行為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（表情、談吐）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偏差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其它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4970160" y="3222120"/>
            <a:ext cx="2553330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後進學者才可引用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11EFB4-D6E1-4583-AF11-D9C61B410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292" y="116633"/>
            <a:ext cx="1643371" cy="3105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uiExpand="1" build="p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3C37DA-DFB4-44FE-9455-F9C27F9E4EF8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7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</a:rPr>
              <a:t>信度的種類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700213"/>
            <a:ext cx="10225136" cy="4432300"/>
          </a:xfrm>
        </p:spPr>
        <p:txBody>
          <a:bodyPr/>
          <a:lstStyle/>
          <a:p>
            <a:pPr eaLnBrk="1" hangingPunct="1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穩定信度（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stability reliability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在不同時間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，可得到同樣的結果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常用測試與再測試方法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test-retest method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來檢視一個指標的穩定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代表性信度（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representative reliability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橫跨各次母體或群組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時，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可得到同樣結果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對不同年齡層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可得到一致性的資訊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0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同等信度（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equivalence reliability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用多重指標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同一構念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是否能得到一致結果</a:t>
            </a:r>
          </a:p>
          <a:p>
            <a:pPr lvl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折半法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split-half method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是將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同一構念的多重指標隨機分成兩組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，而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後進行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判定是否兩組指標得到相同結果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Cronbach’s 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881</Words>
  <Application>Microsoft Office PowerPoint</Application>
  <PresentationFormat>寬螢幕</PresentationFormat>
  <Paragraphs>80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臺灣科技大學．管研所EMBA 研究方法</vt:lpstr>
      <vt:lpstr>衡量尺度：效度與信度</vt:lpstr>
      <vt:lpstr>衡量尺度：效度與信度</vt:lpstr>
      <vt:lpstr>效度的種類</vt:lpstr>
      <vt:lpstr>效度的缺失</vt:lpstr>
      <vt:lpstr>信度的意義【彈著集中的趨勢】</vt:lpstr>
      <vt:lpstr>信度的種類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臺灣科技大學．管研所EMBA 研究方法</dc:title>
  <dc:creator>Yuqian ZHU</dc:creator>
  <cp:lastModifiedBy>Yuqian ZHU</cp:lastModifiedBy>
  <cp:revision>5</cp:revision>
  <dcterms:created xsi:type="dcterms:W3CDTF">2024-09-26T08:43:17Z</dcterms:created>
  <dcterms:modified xsi:type="dcterms:W3CDTF">2024-09-26T09:35:21Z</dcterms:modified>
</cp:coreProperties>
</file>